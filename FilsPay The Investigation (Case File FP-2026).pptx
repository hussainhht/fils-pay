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embeddedFontLst>
    <p:embeddedFont>
      <p:font typeface="Courier Prime" panose="00000509000000000000" pitchFamily="49" charset="0"/>
      <p:regular r:id="rId21"/>
      <p:bold r:id="rId22"/>
    </p:embeddedFont>
    <p:embeddedFont>
      <p:font typeface="Public Sans" pitchFamily="34" charset="0"/>
      <p:regular r:id="rId23"/>
      <p:bold r:id="rId24"/>
    </p:embeddedFont>
    <p:embeddedFont>
      <p:font typeface="Anton" pitchFamily="34" charset="0"/>
      <p:regular r:id="rId25"/>
    </p:embeddedFont>
    <p:embeddedFont>
      <p:font typeface="Caveat" pitchFamily="18" charset="0"/>
      <p:regular r:id="rId26"/>
      <p:bold r:id="rId2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font" Target="fonts/font1.fntdata"/><Relationship Id="rId22" Type="http://schemas.openxmlformats.org/officeDocument/2006/relationships/font" Target="fonts/font2.fntdata"/><Relationship Id="rId23" Type="http://schemas.openxmlformats.org/officeDocument/2006/relationships/font" Target="fonts/font3.fntdata"/><Relationship Id="rId24" Type="http://schemas.openxmlformats.org/officeDocument/2006/relationships/font" Target="fonts/font4.fntdata"/><Relationship Id="rId25" Type="http://schemas.openxmlformats.org/officeDocument/2006/relationships/font" Target="fonts/font5.fntdata"/><Relationship Id="rId26" Type="http://schemas.openxmlformats.org/officeDocument/2006/relationships/font" Target="fonts/font6.fntdata"/><Relationship Id="rId27" Type="http://schemas.openxmlformats.org/officeDocument/2006/relationships/font" Target="fonts/font7.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stamp: the judges are looking at a confidential case file. Replace the bracketed placeholders with the real team name, member names and what each person owned. Add or remove officer cards to match the team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root cause, several symptoms. State the root cause in a single sentence, then name each symptom card with its ticket ID and evidence reference. The point to land: these were not random bugs, they were connected. All bracketed text is a placeholder until real findings are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the top three or four findings, ranked by impact. Each card needs a finding title, a severity, one line of evidence and a proof reference such as a test, screenshot or log. Severity labels in brackets are placeholders; set them from the real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row left to right: before, fix, proof. Use two or three major fixes. Delete the VERIFIED stamp on any row where real proof (test, log, query result or screenshot) has not been attached yet. Bracketed text and [IMG] frames are placeholders.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during the live demo and tick the boxes as each step passes. If the live run fails, switch to the backup evidence (recorded run or screenshot set) without comment and keep going. Screenshot frames are placeholders for real captures.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 the measured numbers, not the estimates. Replace [X], [Y] and [Z] with real load-test results, replace the layer boxes with the real components, and insert the actual graph in the frame. The BOTTLENECK and RECOVERED annotations must point at the real points on the graph once it is in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humans verified AI output instead of trusting it. Pick one real case where the AI proposed something wrong, show the conclusion it reached, how the team caught it, and what the evidence actually showed. Bracketed text is a placeholder; do not present an example that did not actually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honest answer: the case is stabilized, not finished. For each open risk, say why it was intentionally left alone. End on the final statement. Bracketed text is a placeholder for the real decisions and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Reusable layout for test results. One row per test: what it proves, how to reproduce it, and the actual result. Replace the placeholders with real runs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Reusable layout for a full-size architecture diagram and a full-size load-test graph, each with a source caption so the judges can trace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Reusable layout for a SQL query and a log excerpt. Highlight the one line that matters in red. Paste real queries and log lines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Reusable layout for git evidence (commit details) and security findings (ID, finding, severity, status). Fill in real commits and findings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Reusable before/after layout. Also the place to keep the backup evidence for the live demo (recorded run or screenshot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Reusable layout for an AI transcript: the prompt, the response, the incorrect claim highlighted, and the human correction with a reference. Use only a real transcript.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2B2825"/>
        </a:solidFill>
      </p:bgPr>
    </p:bg>
    <p:spTree>
      <p:nvGrpSpPr>
        <p:cNvPr id="1" name=""/>
        <p:cNvGrpSpPr/>
        <p:nvPr/>
      </p:nvGrpSpPr>
      <p:grpSpPr>
        <a:xfrm>
          <a:off x="0" y="0"/>
          <a:ext cx="0" cy="0"/>
          <a:chOff x="0" y="0"/>
          <a:chExt cx="0" cy="0"/>
        </a:xfrm>
      </p:grpSpPr>
      <p:sp>
        <p:nvSpPr>
          <p:cNvPr id="2" name="Title Placeholder 1"/>
          <p:cNvSpPr/>
          <p:nvPr>
            <p:ph type="title"/>
          </p:nvPr>
        </p:nvSpPr>
        <p:spPr>
          <a:xfrm>
            <a:off x="762000" y="1326147"/>
            <a:ext cx="10668000" cy="666727"/>
          </a:xfrm>
          <a:prstGeom prst="rect">
            <a:avLst/>
          </a:prstGeom>
          <a:noFill/>
          <a:ln/>
        </p:spPr>
        <p:txBody>
          <a:bodyPr wrap="square" lIns="0" tIns="0" rIns="0" bIns="0" rtlCol="0" anchor="t"/>
          <a:lstStyle>
            <a:lvl1pPr algn="l" indent="0" marL="0">
              <a:lnSpc>
                <a:spcPct val="110000"/>
              </a:lnSpc>
              <a:buNone/>
              <a:defRPr lang="en-US" sz="4400" dirty="0">
                <a:solidFill>
                  <a:srgbClr val="FAF9F5"/>
                </a:solidFill>
                <a:latin typeface="Anton" pitchFamily="34" charset="0"/>
                <a:ea typeface="Anton" pitchFamily="34" charset="-122"/>
                <a:cs typeface="Anton" pitchFamily="34" charset="-120"/>
              </a:defRPr>
            </a:lvl1pPr>
          </a:lstStyle>
          <a:p>
            <a:pPr algn="l" indent="0" marL="0">
              <a:lnSpc>
                <a:spcPct val="110000"/>
              </a:lnSpc>
              <a:buNone/>
            </a:pPr>
            <a:endParaRPr lang="en-US" sz="4400" dirty="0"/>
          </a:p>
        </p:txBody>
      </p:sp>
      <p:sp>
        <p:nvSpPr>
          <p:cNvPr id="3" name="Text Placeholder 2"/>
          <p:cNvSpPr/>
          <p:nvPr>
            <p:ph idx="101" type="body"/>
          </p:nvPr>
        </p:nvSpPr>
        <p:spPr>
          <a:xfrm>
            <a:off x="762000" y="2297674"/>
            <a:ext cx="10617200" cy="3747526"/>
          </a:xfrm>
          <a:prstGeom prst="rect">
            <a:avLst/>
          </a:prstGeom>
          <a:noFill/>
          <a:ln/>
        </p:spPr>
        <p:txBody>
          <a:bodyPr wrap="square" lIns="0" tIns="0" rIns="0" bIns="0" rtlCol="0" anchor="t"/>
          <a:lstStyle>
            <a:lvl1pPr algn="l" indent="0" marL="0">
              <a:lnSpc>
                <a:spcPct val="140000"/>
              </a:lnSpc>
              <a:buNone/>
              <a:defRPr lang="en-US" sz="1600" dirty="0">
                <a:solidFill>
                  <a:srgbClr val="FAF9F5"/>
                </a:solidFill>
                <a:latin typeface="Courier Prime" pitchFamily="34" charset="0"/>
                <a:ea typeface="Courier Prime" pitchFamily="34" charset="-122"/>
                <a:cs typeface="Courier Prime"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762000" y="1326147"/>
            <a:ext cx="10668000" cy="666727"/>
          </a:xfrm>
          <a:prstGeom prst="rect">
            <a:avLst/>
          </a:prstGeom>
          <a:noFill/>
          <a:ln/>
        </p:spPr>
        <p:txBody>
          <a:bodyPr wrap="square" lIns="0" tIns="0" rIns="0" bIns="0" rtlCol="0" anchor="t"/>
          <a:lstStyle>
            <a:lvl1pPr algn="l" indent="0" marL="0">
              <a:lnSpc>
                <a:spcPct val="110000"/>
              </a:lnSpc>
              <a:buNone/>
              <a:defRPr lang="en-US" sz="4400" dirty="0">
                <a:solidFill>
                  <a:srgbClr val="FAF9F5"/>
                </a:solidFill>
                <a:latin typeface="Anton" pitchFamily="34" charset="0"/>
                <a:ea typeface="Anton" pitchFamily="34" charset="-122"/>
                <a:cs typeface="Anton" pitchFamily="34" charset="-120"/>
              </a:defRPr>
            </a:lvl1pPr>
          </a:lstStyle>
          <a:p>
            <a:pPr algn="l" indent="0" marL="0">
              <a:lnSpc>
                <a:spcPct val="110000"/>
              </a:lnSpc>
              <a:buNone/>
            </a:pPr>
            <a:endParaRPr lang="en-US" sz="4400" dirty="0"/>
          </a:p>
        </p:txBody>
      </p:sp>
      <p:sp>
        <p:nvSpPr>
          <p:cNvPr id="3" name="Text Placeholder 2"/>
          <p:cNvSpPr/>
          <p:nvPr>
            <p:ph idx="101" type="body"/>
          </p:nvPr>
        </p:nvSpPr>
        <p:spPr>
          <a:xfrm>
            <a:off x="762000" y="2297674"/>
            <a:ext cx="10617200" cy="3747526"/>
          </a:xfrm>
          <a:prstGeom prst="rect">
            <a:avLst/>
          </a:prstGeom>
          <a:noFill/>
          <a:ln/>
        </p:spPr>
        <p:txBody>
          <a:bodyPr wrap="square" lIns="0" tIns="0" rIns="0" bIns="0" rtlCol="0" anchor="t"/>
          <a:lstStyle>
            <a:lvl1pPr algn="l" indent="0" marL="0">
              <a:lnSpc>
                <a:spcPct val="140000"/>
              </a:lnSpc>
              <a:buNone/>
              <a:defRPr lang="en-US" sz="1600" dirty="0">
                <a:solidFill>
                  <a:srgbClr val="FAF9F5"/>
                </a:solidFill>
                <a:latin typeface="Courier Prime" pitchFamily="34" charset="0"/>
                <a:ea typeface="Courier Prime" pitchFamily="34" charset="-122"/>
                <a:cs typeface="Courier Prime"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B2825"/>
        </a:solidFill>
      </p:bgPr>
    </p:bg>
    <p:spTree>
      <p:nvGrpSpPr>
        <p:cNvPr id="1" name=""/>
        <p:cNvGrpSpPr/>
        <p:nvPr/>
      </p:nvGrpSpPr>
      <p:grpSpPr>
        <a:xfrm>
          <a:off x="0" y="0"/>
          <a:ext cx="0" cy="0"/>
          <a:chOff x="0" y="0"/>
          <a:chExt cx="0" cy="0"/>
        </a:xfrm>
      </p:grpSpPr>
      <p:sp>
        <p:nvSpPr>
          <p:cNvPr id="2" name="Title Placeholder 1"/>
          <p:cNvSpPr/>
          <p:nvPr>
            <p:ph type="title"/>
          </p:nvPr>
        </p:nvSpPr>
        <p:spPr>
          <a:xfrm>
            <a:off x="762000" y="1326147"/>
            <a:ext cx="10668000" cy="666727"/>
          </a:xfrm>
          <a:prstGeom prst="rect">
            <a:avLst/>
          </a:prstGeom>
          <a:noFill/>
          <a:ln/>
        </p:spPr>
        <p:txBody>
          <a:bodyPr wrap="square" lIns="0" tIns="0" rIns="0" bIns="0" rtlCol="0" anchor="t"/>
          <a:lstStyle>
            <a:lvl1pPr algn="l" indent="0" marL="0">
              <a:lnSpc>
                <a:spcPct val="110000"/>
              </a:lnSpc>
              <a:buNone/>
              <a:defRPr lang="en-US" sz="4400" dirty="0">
                <a:solidFill>
                  <a:srgbClr val="FAF9F5"/>
                </a:solidFill>
                <a:latin typeface="Anton" pitchFamily="34" charset="0"/>
                <a:ea typeface="Anton" pitchFamily="34" charset="-122"/>
                <a:cs typeface="Anton" pitchFamily="34" charset="-120"/>
              </a:defRPr>
            </a:lvl1pPr>
          </a:lstStyle>
          <a:p>
            <a:pPr algn="l" indent="0" marL="0">
              <a:lnSpc>
                <a:spcPct val="110000"/>
              </a:lnSpc>
              <a:buNone/>
            </a:pPr>
            <a:endParaRPr lang="en-US" sz="4400" dirty="0"/>
          </a:p>
        </p:txBody>
      </p:sp>
      <p:sp>
        <p:nvSpPr>
          <p:cNvPr id="3" name="Text Placeholder 2"/>
          <p:cNvSpPr/>
          <p:nvPr>
            <p:ph idx="101" type="body"/>
          </p:nvPr>
        </p:nvSpPr>
        <p:spPr>
          <a:xfrm>
            <a:off x="762000" y="2297674"/>
            <a:ext cx="10617200" cy="3747526"/>
          </a:xfrm>
          <a:prstGeom prst="rect">
            <a:avLst/>
          </a:prstGeom>
          <a:noFill/>
          <a:ln/>
        </p:spPr>
        <p:txBody>
          <a:bodyPr wrap="square" lIns="0" tIns="0" rIns="0" bIns="0" rtlCol="0" anchor="t"/>
          <a:lstStyle>
            <a:lvl1pPr algn="l" indent="0" marL="0">
              <a:lnSpc>
                <a:spcPct val="140000"/>
              </a:lnSpc>
              <a:buNone/>
              <a:defRPr lang="en-US" sz="1600" dirty="0">
                <a:solidFill>
                  <a:srgbClr val="FAF9F5"/>
                </a:solidFill>
                <a:latin typeface="Courier Prime" pitchFamily="34" charset="0"/>
                <a:ea typeface="Courier Prime" pitchFamily="34" charset="-122"/>
                <a:cs typeface="Courier Prime"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3.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304800" y="304800"/>
            <a:ext cx="11582400" cy="6248400"/>
          </a:xfrm>
          <a:prstGeom prst="rect">
            <a:avLst/>
          </a:prstGeom>
          <a:gradFill rotWithShape="1">
            <a:gsLst>
              <a:gs pos="0">
                <a:srgbClr val="E3D8C3"/>
              </a:gs>
              <a:gs pos="55000">
                <a:srgbClr val="D9CEBA"/>
              </a:gs>
              <a:gs pos="100000">
                <a:srgbClr val="CFC3AC"/>
              </a:gs>
            </a:gsLst>
            <a:path path="circle">
              <a:fillToRect l="30000" t="20000" r="70000" b="80000"/>
            </a:path>
          </a:gradFill>
          <a:ln/>
          <a:effectLst>
            <a:outerShdw sx="100000" sy="100000" kx="0" ky="0" algn="bl" rotWithShape="0" blurRad="381000" dist="127000" dir="5400000">
              <a:srgbClr val="000000">
                <a:alpha val="60000"/>
              </a:srgbClr>
            </a:outerShdw>
          </a:effectLst>
        </p:spPr>
      </p:sp>
      <p:sp>
        <p:nvSpPr>
          <p:cNvPr id="3" name="Shape 1"/>
          <p:cNvSpPr/>
          <p:nvPr/>
        </p:nvSpPr>
        <p:spPr>
          <a:xfrm>
            <a:off x="762000" y="1001666"/>
            <a:ext cx="10668000" cy="0"/>
          </a:xfrm>
          <a:prstGeom prst="line">
            <a:avLst/>
          </a:prstGeom>
          <a:noFill/>
          <a:ln w="19050">
            <a:solidFill>
              <a:srgbClr val="191919"/>
            </a:solidFill>
            <a:prstDash val="solid"/>
          </a:ln>
        </p:spPr>
      </p:sp>
      <p:sp>
        <p:nvSpPr>
          <p:cNvPr id="4" name="Text 2"/>
          <p:cNvSpPr/>
          <p:nvPr/>
        </p:nvSpPr>
        <p:spPr>
          <a:xfrm>
            <a:off x="762000" y="584200"/>
            <a:ext cx="1012218" cy="304800"/>
          </a:xfrm>
          <a:prstGeom prst="rect">
            <a:avLst/>
          </a:prstGeom>
          <a:noFill/>
          <a:ln/>
        </p:spPr>
        <p:txBody>
          <a:bodyPr wrap="square" lIns="0" tIns="0" rIns="0" bIns="0" rtlCol="0" anchor="t">
            <a:normAutofit/>
          </a:bodyPr>
          <a:lstStyle/>
          <a:p>
            <a:pPr algn="l" indent="0" marL="0">
              <a:lnSpc>
                <a:spcPts val="2200"/>
              </a:lnSpc>
              <a:buNone/>
            </a:pPr>
            <a:r>
              <a:rPr lang="en-US" sz="2200" spc="100" kern="0" dirty="0">
                <a:solidFill>
                  <a:srgbClr val="191919"/>
                </a:solidFill>
                <a:latin typeface="Anton" pitchFamily="34" charset="0"/>
                <a:ea typeface="Anton" pitchFamily="34" charset="-122"/>
                <a:cs typeface="Anton" pitchFamily="34" charset="-120"/>
              </a:rPr>
              <a:t>FILSPAY</a:t>
            </a:r>
            <a:endParaRPr lang="en-US" sz="2200" dirty="0"/>
          </a:p>
        </p:txBody>
      </p:sp>
      <p:sp>
        <p:nvSpPr>
          <p:cNvPr id="5" name="Text 3"/>
          <p:cNvSpPr/>
          <p:nvPr/>
        </p:nvSpPr>
        <p:spPr>
          <a:xfrm>
            <a:off x="1774218" y="703729"/>
            <a:ext cx="2631758"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919"/>
                </a:solidFill>
                <a:latin typeface="Courier Prime" pitchFamily="49" charset="0"/>
                <a:ea typeface="Courier Prime" pitchFamily="49" charset="-122"/>
                <a:cs typeface="Courier Prime" pitchFamily="49" charset="-120"/>
              </a:rPr>
              <a:t>THE HANDOVER / CASE FILE</a:t>
            </a:r>
            <a:endParaRPr lang="en-US" sz="1200" dirty="0"/>
          </a:p>
        </p:txBody>
      </p:sp>
      <p:sp>
        <p:nvSpPr>
          <p:cNvPr id="6" name="Text 4"/>
          <p:cNvSpPr/>
          <p:nvPr/>
        </p:nvSpPr>
        <p:spPr>
          <a:xfrm>
            <a:off x="8359588" y="703729"/>
            <a:ext cx="3070412" cy="238732"/>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671A1A"/>
                </a:solidFill>
                <a:latin typeface="Courier Prime" pitchFamily="49" charset="0"/>
                <a:ea typeface="Courier Prime" pitchFamily="49" charset="-122"/>
                <a:cs typeface="Courier Prime" pitchFamily="49" charset="-120"/>
              </a:rPr>
              <a:t>CLASSIFICATION: CONFIDENTIAL</a:t>
            </a:r>
            <a:endParaRPr lang="en-US" sz="1200" dirty="0"/>
          </a:p>
        </p:txBody>
      </p:sp>
      <p:sp>
        <p:nvSpPr>
          <p:cNvPr id="7" name="Text 5"/>
          <p:cNvSpPr/>
          <p:nvPr/>
        </p:nvSpPr>
        <p:spPr>
          <a:xfrm>
            <a:off x="768350" y="1195341"/>
            <a:ext cx="2798482" cy="361717"/>
          </a:xfrm>
          <a:prstGeom prst="rect">
            <a:avLst/>
          </a:prstGeom>
          <a:solidFill>
            <a:srgbClr val="F1EBDF"/>
          </a:solidFill>
          <a:ln w="12700">
            <a:solidFill>
              <a:srgbClr val="191919"/>
            </a:solidFill>
            <a:prstDash val="solid"/>
          </a:ln>
        </p:spPr>
        <p:txBody>
          <a:bodyPr wrap="none" lIns="0" tIns="0" rIns="0" bIns="0" rtlCol="0" anchor="ctr">
            <a:normAutofit/>
          </a:bodyPr>
          <a:lstStyle/>
          <a:p>
            <a:pPr algn="ctr" indent="0" marL="0">
              <a:lnSpc>
                <a:spcPts val="1960"/>
              </a:lnSpc>
              <a:buNone/>
            </a:pPr>
            <a:r>
              <a:rPr lang="en-US" sz="1400" b="1" dirty="0">
                <a:solidFill>
                  <a:srgbClr val="191919"/>
                </a:solidFill>
                <a:latin typeface="Courier Prime" pitchFamily="49" charset="0"/>
                <a:ea typeface="Courier Prime" pitchFamily="49" charset="-122"/>
                <a:cs typeface="Courier Prime" pitchFamily="49" charset="-120"/>
              </a:rPr>
              <a:t>CASE FILE / FINAL REPORT</a:t>
            </a:r>
            <a:endParaRPr lang="en-US" sz="1400" dirty="0"/>
          </a:p>
        </p:txBody>
      </p:sp>
      <p:sp>
        <p:nvSpPr>
          <p:cNvPr id="8" name="Text 6"/>
          <p:cNvSpPr/>
          <p:nvPr>
            <p:ph type="title"/>
          </p:nvPr>
        </p:nvSpPr>
        <p:spPr>
          <a:xfrm>
            <a:off x="762000" y="2085975"/>
            <a:ext cx="6540500" cy="1892300"/>
          </a:xfrm>
          <a:prstGeom prst="rect">
            <a:avLst/>
          </a:prstGeom>
          <a:noFill/>
          <a:ln/>
        </p:spPr>
        <p:txBody>
          <a:bodyPr wrap="square" lIns="0" tIns="0" rIns="0" bIns="0" rtlCol="0" anchor="t">
            <a:normAutofit/>
          </a:bodyPr>
          <a:lstStyle/>
          <a:p>
            <a:pPr algn="l" indent="0" marL="0">
              <a:lnSpc>
                <a:spcPts val="7350"/>
              </a:lnSpc>
              <a:buNone/>
            </a:pPr>
            <a:r>
              <a:rPr lang="en-US" sz="7500" b="0" i="0" dirty="0">
                <a:solidFill>
                  <a:srgbClr val="191919"/>
                </a:solidFill>
                <a:latin typeface="Anton" pitchFamily="34" charset="0"/>
                <a:ea typeface="Anton" pitchFamily="34" charset="-122"/>
                <a:cs typeface="Anton" pitchFamily="34" charset="-120"/>
              </a:rPr>
              <a:t>THE FILSPAY</a:t>
            </a:r>
            <a:endParaRPr lang="en-US" sz="7500" dirty="0"/>
          </a:p>
          <a:p>
            <a:pPr algn="l" indent="0" marL="0">
              <a:lnSpc>
                <a:spcPts val="7350"/>
              </a:lnSpc>
              <a:buNone/>
            </a:pPr>
            <a:r>
              <a:rPr lang="en-US" sz="7500" b="0" i="0" dirty="0">
                <a:solidFill>
                  <a:srgbClr val="191919"/>
                </a:solidFill>
                <a:latin typeface="Anton" pitchFamily="34" charset="0"/>
                <a:ea typeface="Anton" pitchFamily="34" charset="-122"/>
                <a:cs typeface="Anton" pitchFamily="34" charset="-120"/>
              </a:rPr>
              <a:t>INVESTIGATION</a:t>
            </a:r>
            <a:endParaRPr lang="en-US" sz="7500" dirty="0"/>
          </a:p>
        </p:txBody>
      </p:sp>
      <p:sp>
        <p:nvSpPr>
          <p:cNvPr id="9" name="Text 7"/>
          <p:cNvSpPr/>
          <p:nvPr/>
        </p:nvSpPr>
        <p:spPr>
          <a:xfrm rot="21480000">
            <a:off x="762385" y="4063189"/>
            <a:ext cx="6540500" cy="48895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A72626"/>
                </a:solidFill>
                <a:latin typeface="Caveat" pitchFamily="18" charset="0"/>
                <a:ea typeface="Caveat" pitchFamily="18" charset="-122"/>
                <a:cs typeface="Caveat" pitchFamily="18" charset="-120"/>
              </a:rPr>
              <a:t>Everything in this file is evidence.</a:t>
            </a:r>
            <a:endParaRPr lang="en-US" sz="2600" dirty="0"/>
          </a:p>
        </p:txBody>
      </p:sp>
      <p:sp>
        <p:nvSpPr>
          <p:cNvPr id="10" name="Shape 8"/>
          <p:cNvSpPr/>
          <p:nvPr/>
        </p:nvSpPr>
        <p:spPr>
          <a:xfrm>
            <a:off x="762000" y="5061510"/>
            <a:ext cx="6350000" cy="0"/>
          </a:xfrm>
          <a:prstGeom prst="line">
            <a:avLst/>
          </a:prstGeom>
          <a:noFill/>
          <a:ln w="19050">
            <a:solidFill>
              <a:srgbClr val="191919"/>
            </a:solidFill>
            <a:prstDash val="solid"/>
          </a:ln>
        </p:spPr>
      </p:sp>
      <p:sp>
        <p:nvSpPr>
          <p:cNvPr id="11" name="Text 9"/>
          <p:cNvSpPr/>
          <p:nvPr/>
        </p:nvSpPr>
        <p:spPr>
          <a:xfrm>
            <a:off x="762000" y="5158815"/>
            <a:ext cx="6540500" cy="25652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TEAM: [TEAM NAME]</a:t>
            </a:r>
            <a:endParaRPr lang="en-US" sz="1300" dirty="0"/>
          </a:p>
        </p:txBody>
      </p:sp>
      <p:sp>
        <p:nvSpPr>
          <p:cNvPr id="12" name="Text 10"/>
          <p:cNvSpPr/>
          <p:nvPr/>
        </p:nvSpPr>
        <p:spPr>
          <a:xfrm>
            <a:off x="762000" y="5428036"/>
            <a:ext cx="6540500" cy="25652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CASE NO. FP-2026</a:t>
            </a:r>
            <a:endParaRPr lang="en-US" sz="1300" dirty="0"/>
          </a:p>
        </p:txBody>
      </p:sp>
      <p:sp>
        <p:nvSpPr>
          <p:cNvPr id="13" name="Text 11"/>
          <p:cNvSpPr/>
          <p:nvPr/>
        </p:nvSpPr>
        <p:spPr>
          <a:xfrm>
            <a:off x="762000" y="5697257"/>
            <a:ext cx="6540500" cy="25652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OPENED: 30.10.2026</a:t>
            </a:r>
            <a:endParaRPr lang="en-US" sz="1300" dirty="0"/>
          </a:p>
        </p:txBody>
      </p:sp>
      <p:sp>
        <p:nvSpPr>
          <p:cNvPr id="14" name="Text 12"/>
          <p:cNvSpPr/>
          <p:nvPr/>
        </p:nvSpPr>
        <p:spPr>
          <a:xfrm>
            <a:off x="762000" y="5966479"/>
            <a:ext cx="6540500" cy="25652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STATUS: INVESTIGATION COMPLETE</a:t>
            </a:r>
            <a:endParaRPr lang="en-US" sz="1300" dirty="0"/>
          </a:p>
        </p:txBody>
      </p:sp>
      <p:sp>
        <p:nvSpPr>
          <p:cNvPr id="15" name="Shape 13"/>
          <p:cNvSpPr/>
          <p:nvPr/>
        </p:nvSpPr>
        <p:spPr>
          <a:xfrm>
            <a:off x="7467600" y="2381017"/>
            <a:ext cx="3962400" cy="0"/>
          </a:xfrm>
          <a:prstGeom prst="line">
            <a:avLst/>
          </a:prstGeom>
          <a:noFill/>
          <a:ln w="19050">
            <a:solidFill>
              <a:srgbClr val="191919"/>
            </a:solidFill>
            <a:prstDash val="solid"/>
          </a:ln>
        </p:spPr>
      </p:sp>
      <p:sp>
        <p:nvSpPr>
          <p:cNvPr id="16" name="Text 14"/>
          <p:cNvSpPr/>
          <p:nvPr/>
        </p:nvSpPr>
        <p:spPr>
          <a:xfrm>
            <a:off x="7467600" y="2103391"/>
            <a:ext cx="4081272" cy="25652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919"/>
                </a:solidFill>
                <a:latin typeface="Courier Prime" pitchFamily="49" charset="0"/>
                <a:ea typeface="Courier Prime" pitchFamily="49" charset="-122"/>
                <a:cs typeface="Courier Prime" pitchFamily="49" charset="-120"/>
              </a:rPr>
              <a:t>ASSIGNED OFFICERS</a:t>
            </a:r>
            <a:endParaRPr lang="en-US" sz="1300" dirty="0"/>
          </a:p>
        </p:txBody>
      </p:sp>
      <p:sp>
        <p:nvSpPr>
          <p:cNvPr id="17" name="Shape 15"/>
          <p:cNvSpPr/>
          <p:nvPr/>
        </p:nvSpPr>
        <p:spPr>
          <a:xfrm>
            <a:off x="7473950" y="2485791"/>
            <a:ext cx="3949700" cy="681738"/>
          </a:xfrm>
          <a:prstGeom prst="rect">
            <a:avLst/>
          </a:prstGeom>
          <a:solidFill>
            <a:srgbClr val="F7F2E8"/>
          </a:solidFill>
          <a:ln w="12700">
            <a:solidFill>
              <a:srgbClr val="191919"/>
            </a:solidFill>
            <a:prstDash val="solid"/>
          </a:ln>
          <a:effectLst>
            <a:outerShdw sx="100000" sy="100000" kx="0" ky="0" algn="bl" rotWithShape="0" blurRad="63500" dist="25400" dir="5400000">
              <a:srgbClr val="000000">
                <a:alpha val="25000"/>
              </a:srgbClr>
            </a:outerShdw>
          </a:effectLst>
        </p:spPr>
      </p:sp>
      <p:sp>
        <p:nvSpPr>
          <p:cNvPr id="18" name="Text 16"/>
          <p:cNvSpPr/>
          <p:nvPr/>
        </p:nvSpPr>
        <p:spPr>
          <a:xfrm>
            <a:off x="7606553" y="2648837"/>
            <a:ext cx="351921"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A72626"/>
                </a:solidFill>
                <a:latin typeface="Anton" pitchFamily="34" charset="0"/>
                <a:ea typeface="Anton" pitchFamily="34" charset="-122"/>
                <a:cs typeface="Anton" pitchFamily="34" charset="-120"/>
              </a:rPr>
              <a:t>01</a:t>
            </a:r>
            <a:endParaRPr lang="en-US" sz="2800" dirty="0"/>
          </a:p>
        </p:txBody>
      </p:sp>
      <p:sp>
        <p:nvSpPr>
          <p:cNvPr id="19" name="Text 17"/>
          <p:cNvSpPr/>
          <p:nvPr/>
        </p:nvSpPr>
        <p:spPr>
          <a:xfrm>
            <a:off x="8026820" y="2580294"/>
            <a:ext cx="244720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91919"/>
                </a:solidFill>
                <a:latin typeface="Public Sans" pitchFamily="34" charset="0"/>
                <a:ea typeface="Public Sans" pitchFamily="34" charset="-122"/>
                <a:cs typeface="Public Sans" pitchFamily="34" charset="-120"/>
              </a:rPr>
              <a:t>[MEMBER NAME]</a:t>
            </a:r>
            <a:endParaRPr lang="en-US" sz="1500" dirty="0"/>
          </a:p>
        </p:txBody>
      </p:sp>
      <p:sp>
        <p:nvSpPr>
          <p:cNvPr id="20" name="Text 18"/>
          <p:cNvSpPr/>
          <p:nvPr/>
        </p:nvSpPr>
        <p:spPr>
          <a:xfrm>
            <a:off x="8026820" y="2859694"/>
            <a:ext cx="2768180"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919"/>
                </a:solidFill>
                <a:latin typeface="Courier Prime" pitchFamily="49" charset="0"/>
                <a:ea typeface="Courier Prime" pitchFamily="49" charset="-122"/>
                <a:cs typeface="Courier Prime" pitchFamily="49" charset="-120"/>
              </a:rPr>
              <a:t>OWNED: [AREA OF OWNERSHIP]</a:t>
            </a:r>
            <a:endParaRPr lang="en-US" sz="1200" dirty="0"/>
          </a:p>
        </p:txBody>
      </p:sp>
      <p:sp>
        <p:nvSpPr>
          <p:cNvPr id="21" name="Shape 19"/>
          <p:cNvSpPr/>
          <p:nvPr/>
        </p:nvSpPr>
        <p:spPr>
          <a:xfrm>
            <a:off x="7473950" y="3269130"/>
            <a:ext cx="3949700" cy="681738"/>
          </a:xfrm>
          <a:prstGeom prst="rect">
            <a:avLst/>
          </a:prstGeom>
          <a:solidFill>
            <a:srgbClr val="F7F2E8"/>
          </a:solidFill>
          <a:ln w="12700">
            <a:solidFill>
              <a:srgbClr val="191919"/>
            </a:solidFill>
            <a:prstDash val="solid"/>
          </a:ln>
          <a:effectLst>
            <a:outerShdw sx="100000" sy="100000" kx="0" ky="0" algn="bl" rotWithShape="0" blurRad="63500" dist="25400" dir="5400000">
              <a:srgbClr val="000000">
                <a:alpha val="25000"/>
              </a:srgbClr>
            </a:outerShdw>
          </a:effectLst>
        </p:spPr>
      </p:sp>
      <p:sp>
        <p:nvSpPr>
          <p:cNvPr id="22" name="Text 20"/>
          <p:cNvSpPr/>
          <p:nvPr/>
        </p:nvSpPr>
        <p:spPr>
          <a:xfrm>
            <a:off x="7606553" y="3432175"/>
            <a:ext cx="421733"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A72626"/>
                </a:solidFill>
                <a:latin typeface="Anton" pitchFamily="34" charset="0"/>
                <a:ea typeface="Anton" pitchFamily="34" charset="-122"/>
                <a:cs typeface="Anton" pitchFamily="34" charset="-120"/>
              </a:rPr>
              <a:t>02</a:t>
            </a:r>
            <a:endParaRPr lang="en-US" sz="2800" dirty="0"/>
          </a:p>
        </p:txBody>
      </p:sp>
      <p:sp>
        <p:nvSpPr>
          <p:cNvPr id="23" name="Text 21"/>
          <p:cNvSpPr/>
          <p:nvPr/>
        </p:nvSpPr>
        <p:spPr>
          <a:xfrm>
            <a:off x="8084997" y="3363632"/>
            <a:ext cx="244720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91919"/>
                </a:solidFill>
                <a:latin typeface="Public Sans" pitchFamily="34" charset="0"/>
                <a:ea typeface="Public Sans" pitchFamily="34" charset="-122"/>
                <a:cs typeface="Public Sans" pitchFamily="34" charset="-120"/>
              </a:rPr>
              <a:t>[MEMBER NAME]</a:t>
            </a:r>
            <a:endParaRPr lang="en-US" sz="1500" dirty="0"/>
          </a:p>
        </p:txBody>
      </p:sp>
      <p:sp>
        <p:nvSpPr>
          <p:cNvPr id="24" name="Text 22"/>
          <p:cNvSpPr/>
          <p:nvPr/>
        </p:nvSpPr>
        <p:spPr>
          <a:xfrm>
            <a:off x="8084997" y="3643032"/>
            <a:ext cx="2851113"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919"/>
                </a:solidFill>
                <a:latin typeface="Courier Prime" pitchFamily="49" charset="0"/>
                <a:ea typeface="Courier Prime" pitchFamily="49" charset="-122"/>
                <a:cs typeface="Courier Prime" pitchFamily="49" charset="-120"/>
              </a:rPr>
              <a:t>OWNED: [AREA OF OWNERSHIP]</a:t>
            </a:r>
            <a:endParaRPr lang="en-US" sz="1200" dirty="0"/>
          </a:p>
        </p:txBody>
      </p:sp>
      <p:sp>
        <p:nvSpPr>
          <p:cNvPr id="25" name="Shape 23"/>
          <p:cNvSpPr/>
          <p:nvPr/>
        </p:nvSpPr>
        <p:spPr>
          <a:xfrm>
            <a:off x="7473950" y="4052467"/>
            <a:ext cx="3949700" cy="681738"/>
          </a:xfrm>
          <a:prstGeom prst="rect">
            <a:avLst/>
          </a:prstGeom>
          <a:solidFill>
            <a:srgbClr val="F7F2E8"/>
          </a:solidFill>
          <a:ln w="12700">
            <a:solidFill>
              <a:srgbClr val="191919"/>
            </a:solidFill>
            <a:prstDash val="solid"/>
          </a:ln>
          <a:effectLst>
            <a:outerShdw sx="100000" sy="100000" kx="0" ky="0" algn="bl" rotWithShape="0" blurRad="63500" dist="25400" dir="5400000">
              <a:srgbClr val="000000">
                <a:alpha val="25000"/>
              </a:srgbClr>
            </a:outerShdw>
          </a:effectLst>
        </p:spPr>
      </p:sp>
      <p:sp>
        <p:nvSpPr>
          <p:cNvPr id="26" name="Text 24"/>
          <p:cNvSpPr/>
          <p:nvPr/>
        </p:nvSpPr>
        <p:spPr>
          <a:xfrm>
            <a:off x="7606553" y="4215513"/>
            <a:ext cx="421733"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A72626"/>
                </a:solidFill>
                <a:latin typeface="Anton" pitchFamily="34" charset="0"/>
                <a:ea typeface="Anton" pitchFamily="34" charset="-122"/>
                <a:cs typeface="Anton" pitchFamily="34" charset="-120"/>
              </a:rPr>
              <a:t>03</a:t>
            </a:r>
            <a:endParaRPr lang="en-US" sz="2800" dirty="0"/>
          </a:p>
        </p:txBody>
      </p:sp>
      <p:sp>
        <p:nvSpPr>
          <p:cNvPr id="27" name="Text 25"/>
          <p:cNvSpPr/>
          <p:nvPr/>
        </p:nvSpPr>
        <p:spPr>
          <a:xfrm>
            <a:off x="8084997" y="4146970"/>
            <a:ext cx="244720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91919"/>
                </a:solidFill>
                <a:latin typeface="Public Sans" pitchFamily="34" charset="0"/>
                <a:ea typeface="Public Sans" pitchFamily="34" charset="-122"/>
                <a:cs typeface="Public Sans" pitchFamily="34" charset="-120"/>
              </a:rPr>
              <a:t>[MEMBER NAME]</a:t>
            </a:r>
            <a:endParaRPr lang="en-US" sz="1500" dirty="0"/>
          </a:p>
        </p:txBody>
      </p:sp>
      <p:sp>
        <p:nvSpPr>
          <p:cNvPr id="28" name="Text 26"/>
          <p:cNvSpPr/>
          <p:nvPr/>
        </p:nvSpPr>
        <p:spPr>
          <a:xfrm>
            <a:off x="8084997" y="4426370"/>
            <a:ext cx="2851113"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919"/>
                </a:solidFill>
                <a:latin typeface="Courier Prime" pitchFamily="49" charset="0"/>
                <a:ea typeface="Courier Prime" pitchFamily="49" charset="-122"/>
                <a:cs typeface="Courier Prime" pitchFamily="49" charset="-120"/>
              </a:rPr>
              <a:t>OWNED: [AREA OF OWNERSHIP]</a:t>
            </a:r>
            <a:endParaRPr lang="en-US" sz="1200" dirty="0"/>
          </a:p>
        </p:txBody>
      </p:sp>
      <p:sp>
        <p:nvSpPr>
          <p:cNvPr id="29" name="Shape 27"/>
          <p:cNvSpPr/>
          <p:nvPr/>
        </p:nvSpPr>
        <p:spPr>
          <a:xfrm>
            <a:off x="7473950" y="4835805"/>
            <a:ext cx="3949700" cy="681738"/>
          </a:xfrm>
          <a:prstGeom prst="rect">
            <a:avLst/>
          </a:prstGeom>
          <a:solidFill>
            <a:srgbClr val="F7F2E8"/>
          </a:solidFill>
          <a:ln w="12700">
            <a:solidFill>
              <a:srgbClr val="191919"/>
            </a:solidFill>
            <a:prstDash val="solid"/>
          </a:ln>
          <a:effectLst>
            <a:outerShdw sx="100000" sy="100000" kx="0" ky="0" algn="bl" rotWithShape="0" blurRad="63500" dist="25400" dir="5400000">
              <a:srgbClr val="000000">
                <a:alpha val="25000"/>
              </a:srgbClr>
            </a:outerShdw>
          </a:effectLst>
        </p:spPr>
      </p:sp>
      <p:sp>
        <p:nvSpPr>
          <p:cNvPr id="30" name="Text 28"/>
          <p:cNvSpPr/>
          <p:nvPr/>
        </p:nvSpPr>
        <p:spPr>
          <a:xfrm>
            <a:off x="7606553" y="4998851"/>
            <a:ext cx="421733"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A72626"/>
                </a:solidFill>
                <a:latin typeface="Anton" pitchFamily="34" charset="0"/>
                <a:ea typeface="Anton" pitchFamily="34" charset="-122"/>
                <a:cs typeface="Anton" pitchFamily="34" charset="-120"/>
              </a:rPr>
              <a:t>04</a:t>
            </a:r>
            <a:endParaRPr lang="en-US" sz="2800" dirty="0"/>
          </a:p>
        </p:txBody>
      </p:sp>
      <p:sp>
        <p:nvSpPr>
          <p:cNvPr id="31" name="Text 29"/>
          <p:cNvSpPr/>
          <p:nvPr/>
        </p:nvSpPr>
        <p:spPr>
          <a:xfrm>
            <a:off x="8084997" y="4930308"/>
            <a:ext cx="244720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91919"/>
                </a:solidFill>
                <a:latin typeface="Public Sans" pitchFamily="34" charset="0"/>
                <a:ea typeface="Public Sans" pitchFamily="34" charset="-122"/>
                <a:cs typeface="Public Sans" pitchFamily="34" charset="-120"/>
              </a:rPr>
              <a:t>[MEMBER NAME]</a:t>
            </a:r>
            <a:endParaRPr lang="en-US" sz="1500" dirty="0"/>
          </a:p>
        </p:txBody>
      </p:sp>
      <p:sp>
        <p:nvSpPr>
          <p:cNvPr id="32" name="Text 30"/>
          <p:cNvSpPr/>
          <p:nvPr/>
        </p:nvSpPr>
        <p:spPr>
          <a:xfrm>
            <a:off x="8084997" y="5209708"/>
            <a:ext cx="2851113"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919"/>
                </a:solidFill>
                <a:latin typeface="Courier Prime" pitchFamily="49" charset="0"/>
                <a:ea typeface="Courier Prime" pitchFamily="49" charset="-122"/>
                <a:cs typeface="Courier Prime" pitchFamily="49" charset="-120"/>
              </a:rPr>
              <a:t>OWNED: [AREA OF OWNERSHIP]</a:t>
            </a:r>
            <a:endParaRPr lang="en-US" sz="1200" dirty="0"/>
          </a:p>
        </p:txBody>
      </p:sp>
      <p:sp>
        <p:nvSpPr>
          <p:cNvPr id="33" name="Text 31"/>
          <p:cNvSpPr/>
          <p:nvPr/>
        </p:nvSpPr>
        <p:spPr>
          <a:xfrm>
            <a:off x="609600" y="88900"/>
            <a:ext cx="2540000" cy="266700"/>
          </a:xfrm>
          <a:custGeom>
            <a:avLst/>
            <a:gdLst/>
            <a:ahLst/>
            <a:cxnLst/>
            <a:rect l="l" t="t" r="r" b="b"/>
            <a:pathLst>
              <a:path w="2540000" h="266700">
                <a:moveTo>
                  <a:pt x="50800" y="0"/>
                </a:moveTo>
                <a:lnTo>
                  <a:pt x="2489200" y="0"/>
                </a:lnTo>
                <a:arcTo hR="50800" wR="50800" stAng="16200000" swAng="5400000"/>
                <a:lnTo>
                  <a:pt x="2540000" y="266700"/>
                </a:lnTo>
                <a:lnTo>
                  <a:pt x="0" y="266700"/>
                </a:lnTo>
                <a:lnTo>
                  <a:pt x="0" y="50800"/>
                </a:lnTo>
                <a:arcTo hR="50800" wR="50800" stAng="10800000" swAng="5400000"/>
                <a:close/>
              </a:path>
            </a:pathLst>
          </a:custGeom>
          <a:solidFill>
            <a:srgbClr val="D9CEBA"/>
          </a:solidFill>
          <a:ln/>
        </p:spPr>
        <p:txBody>
          <a:bodyPr wrap="square" lIns="127000" tIns="38100" rIns="58420" bIns="20357" rtlCol="0" anchor="t">
            <a:normAutofit/>
          </a:bodyPr>
          <a:lstStyle/>
          <a:p>
            <a:pPr algn="l" indent="0" marL="0">
              <a:lnSpc>
                <a:spcPts val="1440"/>
              </a:lnSpc>
              <a:buNone/>
            </a:pPr>
            <a:r>
              <a:rPr lang="en-US" sz="1200" b="1" dirty="0">
                <a:solidFill>
                  <a:srgbClr val="671A1A"/>
                </a:solidFill>
                <a:latin typeface="Courier Prime" pitchFamily="49" charset="0"/>
                <a:ea typeface="Courier Prime" pitchFamily="49" charset="-122"/>
                <a:cs typeface="Courier Prime" pitchFamily="49" charset="-120"/>
              </a:rPr>
              <a:t>CASE FP-2026 / FILE 01</a:t>
            </a:r>
            <a:endParaRPr lang="en-US" sz="1200" dirty="0"/>
          </a:p>
        </p:txBody>
      </p:sp>
      <p:sp>
        <p:nvSpPr>
          <p:cNvPr id="34" name="Text 32"/>
          <p:cNvSpPr/>
          <p:nvPr/>
        </p:nvSpPr>
        <p:spPr>
          <a:xfrm rot="21240000">
            <a:off x="7620000" y="1270000"/>
            <a:ext cx="3505200" cy="711200"/>
          </a:xfrm>
          <a:prstGeom prst="rect">
            <a:avLst/>
          </a:prstGeom>
          <a:noFill/>
          <a:ln w="50800">
            <a:solidFill>
              <a:srgbClr val="A72626">
                <a:alpha val="90000"/>
              </a:srgbClr>
            </a:solidFill>
            <a:prstDash val="solid"/>
          </a:ln>
        </p:spPr>
        <p:txBody>
          <a:bodyPr wrap="square" lIns="0" tIns="88900" rIns="0" bIns="63500" rtlCol="0" anchor="t">
            <a:normAutofit/>
          </a:bodyPr>
          <a:lstStyle/>
          <a:p>
            <a:pPr algn="ctr" indent="0" marL="0">
              <a:lnSpc>
                <a:spcPts val="4200"/>
              </a:lnSpc>
              <a:buNone/>
            </a:pPr>
            <a:r>
              <a:rPr lang="en-US" sz="4200" dirty="0">
                <a:solidFill>
                  <a:srgbClr val="A72626">
                    <a:alpha val="90000"/>
                  </a:srgbClr>
                </a:solidFill>
                <a:latin typeface="Anton" pitchFamily="34" charset="0"/>
                <a:ea typeface="Anton" pitchFamily="34" charset="-122"/>
                <a:cs typeface="Anton" pitchFamily="34" charset="-120"/>
              </a:rPr>
              <a:t>CONFIDENTIAL</a:t>
            </a:r>
            <a:endParaRPr lang="en-US" sz="4200" dirty="0"/>
          </a:p>
        </p:txBody>
      </p:sp>
      <p:pic>
        <p:nvPicPr>
          <p:cNvPr id="35" name="Image 0" descr="Paper clip">    </p:cNvPr>
          <p:cNvPicPr>
            <a:picLocks noChangeAspect="1"/>
          </p:cNvPicPr>
          <p:nvPr/>
        </p:nvPicPr>
        <p:blipFill>
          <a:blip r:embed="rId1"/>
          <a:srcRect l="0" r="0" t="0" b="0"/>
          <a:stretch/>
        </p:blipFill>
        <p:spPr>
          <a:xfrm>
            <a:off x="10795000" y="2133600"/>
            <a:ext cx="406400" cy="952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304800" y="304800"/>
            <a:ext cx="11582400" cy="6248400"/>
          </a:xfrm>
          <a:prstGeom prst="rect">
            <a:avLst/>
          </a:prstGeom>
          <a:gradFill rotWithShape="1">
            <a:gsLst>
              <a:gs pos="0">
                <a:srgbClr val="F5F0E5"/>
              </a:gs>
              <a:gs pos="50000">
                <a:srgbClr val="F1EBDF"/>
              </a:gs>
              <a:gs pos="100000">
                <a:srgbClr val="E8E0D3"/>
              </a:gs>
            </a:gsLst>
            <a:path path="circle">
              <a:fillToRect l="30000" t="20000" r="70000" b="80000"/>
            </a:path>
          </a:gradFill>
          <a:ln/>
          <a:effectLst>
            <a:outerShdw sx="100000" sy="100000" kx="0" ky="0" algn="bl" rotWithShape="0" blurRad="381000" dist="127000" dir="5400000">
              <a:srgbClr val="000000">
                <a:alpha val="60000"/>
              </a:srgbClr>
            </a:outerShdw>
          </a:effectLst>
        </p:spPr>
      </p:sp>
      <p:sp>
        <p:nvSpPr>
          <p:cNvPr id="3" name="Shape 1"/>
          <p:cNvSpPr/>
          <p:nvPr/>
        </p:nvSpPr>
        <p:spPr>
          <a:xfrm>
            <a:off x="762000" y="1001666"/>
            <a:ext cx="10668000" cy="0"/>
          </a:xfrm>
          <a:prstGeom prst="line">
            <a:avLst/>
          </a:prstGeom>
          <a:noFill/>
          <a:ln w="19050">
            <a:solidFill>
              <a:srgbClr val="191919"/>
            </a:solidFill>
            <a:prstDash val="solid"/>
          </a:ln>
        </p:spPr>
      </p:sp>
      <p:sp>
        <p:nvSpPr>
          <p:cNvPr id="4" name="Text 2"/>
          <p:cNvSpPr/>
          <p:nvPr/>
        </p:nvSpPr>
        <p:spPr>
          <a:xfrm>
            <a:off x="762000" y="584200"/>
            <a:ext cx="1012218" cy="304800"/>
          </a:xfrm>
          <a:prstGeom prst="rect">
            <a:avLst/>
          </a:prstGeom>
          <a:noFill/>
          <a:ln/>
        </p:spPr>
        <p:txBody>
          <a:bodyPr wrap="square" lIns="0" tIns="0" rIns="0" bIns="0" rtlCol="0" anchor="t">
            <a:normAutofit/>
          </a:bodyPr>
          <a:lstStyle/>
          <a:p>
            <a:pPr algn="l" indent="0" marL="0">
              <a:lnSpc>
                <a:spcPts val="2200"/>
              </a:lnSpc>
              <a:buNone/>
            </a:pPr>
            <a:r>
              <a:rPr lang="en-US" sz="2200" spc="100" kern="0" dirty="0">
                <a:solidFill>
                  <a:srgbClr val="191919"/>
                </a:solidFill>
                <a:latin typeface="Anton" pitchFamily="34" charset="0"/>
                <a:ea typeface="Anton" pitchFamily="34" charset="-122"/>
                <a:cs typeface="Anton" pitchFamily="34" charset="-120"/>
              </a:rPr>
              <a:t>FILSPAY</a:t>
            </a:r>
            <a:endParaRPr lang="en-US" sz="2200" dirty="0"/>
          </a:p>
        </p:txBody>
      </p:sp>
      <p:sp>
        <p:nvSpPr>
          <p:cNvPr id="5" name="Text 3"/>
          <p:cNvSpPr/>
          <p:nvPr/>
        </p:nvSpPr>
        <p:spPr>
          <a:xfrm>
            <a:off x="1774218" y="703729"/>
            <a:ext cx="2631758"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919"/>
                </a:solidFill>
                <a:latin typeface="Courier Prime" pitchFamily="49" charset="0"/>
                <a:ea typeface="Courier Prime" pitchFamily="49" charset="-122"/>
                <a:cs typeface="Courier Prime" pitchFamily="49" charset="-120"/>
              </a:rPr>
              <a:t>THE HANDOVER / CASE FILE</a:t>
            </a:r>
            <a:endParaRPr lang="en-US" sz="1200" dirty="0"/>
          </a:p>
        </p:txBody>
      </p:sp>
      <p:sp>
        <p:nvSpPr>
          <p:cNvPr id="6" name="Text 4"/>
          <p:cNvSpPr/>
          <p:nvPr/>
        </p:nvSpPr>
        <p:spPr>
          <a:xfrm>
            <a:off x="6714733" y="703729"/>
            <a:ext cx="4715267" cy="238732"/>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A72626"/>
                </a:solidFill>
                <a:latin typeface="Courier Prime" pitchFamily="49" charset="0"/>
                <a:ea typeface="Courier Prime" pitchFamily="49" charset="-122"/>
                <a:cs typeface="Courier Prime" pitchFamily="49" charset="-120"/>
              </a:rPr>
              <a:t>CASE NO. FP-2026 · EVIDENCE 02 · 30.10.2026</a:t>
            </a:r>
            <a:endParaRPr lang="en-US" sz="1200" dirty="0"/>
          </a:p>
        </p:txBody>
      </p:sp>
      <p:sp>
        <p:nvSpPr>
          <p:cNvPr id="7" name="Text 5"/>
          <p:cNvSpPr/>
          <p:nvPr>
            <p:ph type="title"/>
          </p:nvPr>
        </p:nvSpPr>
        <p:spPr>
          <a:xfrm>
            <a:off x="762000" y="1188991"/>
            <a:ext cx="10988040" cy="718811"/>
          </a:xfrm>
          <a:prstGeom prst="rect">
            <a:avLst/>
          </a:prstGeom>
          <a:noFill/>
          <a:ln/>
        </p:spPr>
        <p:txBody>
          <a:bodyPr wrap="square" lIns="0" tIns="0" rIns="0" bIns="0" rtlCol="0" anchor="t">
            <a:normAutofit/>
          </a:bodyPr>
          <a:lstStyle/>
          <a:p>
            <a:pPr algn="l" indent="0" marL="0">
              <a:lnSpc>
                <a:spcPts val="5460"/>
              </a:lnSpc>
              <a:buNone/>
            </a:pPr>
            <a:r>
              <a:rPr lang="en-US" sz="5200" b="0" i="0" dirty="0">
                <a:solidFill>
                  <a:srgbClr val="191919"/>
                </a:solidFill>
                <a:latin typeface="Anton" pitchFamily="34" charset="0"/>
                <a:ea typeface="Anton" pitchFamily="34" charset="-122"/>
                <a:cs typeface="Anton" pitchFamily="34" charset="-120"/>
              </a:rPr>
              <a:t>THE ROOT CAUSE</a:t>
            </a:r>
            <a:endParaRPr lang="en-US" sz="5200" dirty="0"/>
          </a:p>
        </p:txBody>
      </p:sp>
      <p:sp>
        <p:nvSpPr>
          <p:cNvPr id="8" name="Text 6"/>
          <p:cNvSpPr/>
          <p:nvPr/>
        </p:nvSpPr>
        <p:spPr>
          <a:xfrm>
            <a:off x="762000" y="1907801"/>
            <a:ext cx="10988040" cy="309843"/>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3633"/>
                </a:solidFill>
                <a:latin typeface="Public Sans" pitchFamily="34" charset="0"/>
                <a:ea typeface="Public Sans" pitchFamily="34" charset="-122"/>
                <a:cs typeface="Public Sans" pitchFamily="34" charset="-120"/>
              </a:rPr>
              <a:t>What was actually going wrong?</a:t>
            </a:r>
            <a:endParaRPr lang="en-US" sz="1600" dirty="0"/>
          </a:p>
        </p:txBody>
      </p:sp>
      <p:sp>
        <p:nvSpPr>
          <p:cNvPr id="9" name="Text 7"/>
          <p:cNvSpPr/>
          <p:nvPr/>
        </p:nvSpPr>
        <p:spPr>
          <a:xfrm rot="21420000">
            <a:off x="6350563" y="1177194"/>
            <a:ext cx="5101590" cy="8636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91919"/>
                </a:solidFill>
                <a:latin typeface="Caveat" pitchFamily="18" charset="0"/>
                <a:ea typeface="Caveat" pitchFamily="18" charset="-122"/>
                <a:cs typeface="Caveat" pitchFamily="18" charset="-120"/>
              </a:rPr>
              <a:t>THESE WERE NOT RANDOM BUGS.</a:t>
            </a:r>
            <a:endParaRPr lang="en-US" sz="3000" dirty="0"/>
          </a:p>
          <a:p>
            <a:pPr algn="l" indent="0" marL="0">
              <a:lnSpc>
                <a:spcPts val="3300"/>
              </a:lnSpc>
              <a:buNone/>
            </a:pPr>
            <a:r>
              <a:rPr lang="en-US" sz="3000" b="1" u="sng" dirty="0">
                <a:solidFill>
                  <a:srgbClr val="A72626"/>
                </a:solidFill>
                <a:latin typeface="Caveat" pitchFamily="18" charset="0"/>
                <a:ea typeface="Caveat" pitchFamily="18" charset="-122"/>
                <a:cs typeface="Caveat" pitchFamily="18" charset="-120"/>
              </a:rPr>
              <a:t>THEY WERE CONNECTED.</a:t>
            </a:r>
            <a:endParaRPr lang="en-US" sz="3000" dirty="0"/>
          </a:p>
        </p:txBody>
      </p:sp>
      <p:pic>
        <p:nvPicPr>
          <p:cNvPr id="10" name="Image 0" descr="connector">    </p:cNvPr>
          <p:cNvPicPr>
            <a:picLocks noChangeAspect="1"/>
          </p:cNvPicPr>
          <p:nvPr/>
        </p:nvPicPr>
        <p:blipFill>
          <a:blip r:embed="rId1"/>
          <a:srcRect l="0" r="0" t="0" b="0"/>
          <a:stretch/>
        </p:blipFill>
        <p:spPr>
          <a:xfrm>
            <a:off x="6350000" y="2082800"/>
            <a:ext cx="889000" cy="914400"/>
          </a:xfrm>
          <a:prstGeom prst="rect">
            <a:avLst/>
          </a:prstGeom>
        </p:spPr>
      </p:pic>
      <p:pic>
        <p:nvPicPr>
          <p:cNvPr id="11" name="Image 1" descr="connector">    </p:cNvPr>
          <p:cNvPicPr>
            <a:picLocks noChangeAspect="1"/>
          </p:cNvPicPr>
          <p:nvPr/>
        </p:nvPicPr>
        <p:blipFill>
          <a:blip r:embed="rId2"/>
          <a:srcRect l="0" r="0" t="0" b="0"/>
          <a:stretch/>
        </p:blipFill>
        <p:spPr>
          <a:xfrm>
            <a:off x="3048000" y="3016250"/>
            <a:ext cx="1206500" cy="476250"/>
          </a:xfrm>
          <a:prstGeom prst="rect">
            <a:avLst/>
          </a:prstGeom>
        </p:spPr>
      </p:pic>
      <p:pic>
        <p:nvPicPr>
          <p:cNvPr id="12" name="Image 2" descr="connector">    </p:cNvPr>
          <p:cNvPicPr>
            <a:picLocks noChangeAspect="1"/>
          </p:cNvPicPr>
          <p:nvPr/>
        </p:nvPicPr>
        <p:blipFill>
          <a:blip r:embed="rId3"/>
          <a:srcRect l="0" r="0" t="0" b="0"/>
          <a:stretch/>
        </p:blipFill>
        <p:spPr>
          <a:xfrm>
            <a:off x="7937500" y="3016250"/>
            <a:ext cx="1206500" cy="476250"/>
          </a:xfrm>
          <a:prstGeom prst="rect">
            <a:avLst/>
          </a:prstGeom>
        </p:spPr>
      </p:pic>
      <p:pic>
        <p:nvPicPr>
          <p:cNvPr id="13" name="Image 3" descr="connector">    </p:cNvPr>
          <p:cNvPicPr>
            <a:picLocks noChangeAspect="1"/>
          </p:cNvPicPr>
          <p:nvPr/>
        </p:nvPicPr>
        <p:blipFill>
          <a:blip r:embed="rId4"/>
          <a:srcRect l="0" r="0" t="0" b="0"/>
          <a:stretch/>
        </p:blipFill>
        <p:spPr>
          <a:xfrm>
            <a:off x="3048000" y="4762500"/>
            <a:ext cx="1206500" cy="666750"/>
          </a:xfrm>
          <a:prstGeom prst="rect">
            <a:avLst/>
          </a:prstGeom>
        </p:spPr>
      </p:pic>
      <p:pic>
        <p:nvPicPr>
          <p:cNvPr id="14" name="Image 4" descr="connector">    </p:cNvPr>
          <p:cNvPicPr>
            <a:picLocks noChangeAspect="1"/>
          </p:cNvPicPr>
          <p:nvPr/>
        </p:nvPicPr>
        <p:blipFill>
          <a:blip r:embed="rId5"/>
          <a:srcRect l="0" r="0" t="0" b="0"/>
          <a:stretch/>
        </p:blipFill>
        <p:spPr>
          <a:xfrm>
            <a:off x="7937500" y="4762500"/>
            <a:ext cx="1206500" cy="666750"/>
          </a:xfrm>
          <a:prstGeom prst="rect">
            <a:avLst/>
          </a:prstGeom>
        </p:spPr>
      </p:pic>
      <p:sp>
        <p:nvSpPr>
          <p:cNvPr id="15" name="Shape 8"/>
          <p:cNvSpPr/>
          <p:nvPr/>
        </p:nvSpPr>
        <p:spPr>
          <a:xfrm>
            <a:off x="4191000" y="2984500"/>
            <a:ext cx="3810000" cy="2286000"/>
          </a:xfrm>
          <a:prstGeom prst="rect">
            <a:avLst/>
          </a:prstGeom>
          <a:solidFill>
            <a:srgbClr val="FBF7EE"/>
          </a:solidFill>
          <a:ln/>
          <a:effectLst>
            <a:outerShdw sx="100000" sy="100000" kx="0" ky="0" algn="bl" rotWithShape="0" blurRad="152400" dist="63500" dir="5400000">
              <a:srgbClr val="000000">
                <a:alpha val="35000"/>
              </a:srgbClr>
            </a:outerShdw>
          </a:effectLst>
        </p:spPr>
      </p:sp>
      <p:sp>
        <p:nvSpPr>
          <p:cNvPr id="16" name="Shape 9"/>
          <p:cNvSpPr/>
          <p:nvPr/>
        </p:nvSpPr>
        <p:spPr>
          <a:xfrm>
            <a:off x="4229100" y="2984500"/>
            <a:ext cx="0" cy="2286000"/>
          </a:xfrm>
          <a:prstGeom prst="line">
            <a:avLst/>
          </a:prstGeom>
          <a:noFill/>
          <a:ln w="76200">
            <a:solidFill>
              <a:srgbClr val="A72626"/>
            </a:solidFill>
            <a:prstDash val="solid"/>
          </a:ln>
        </p:spPr>
      </p:sp>
      <p:sp>
        <p:nvSpPr>
          <p:cNvPr id="17" name="Text 10"/>
          <p:cNvSpPr/>
          <p:nvPr/>
        </p:nvSpPr>
        <p:spPr>
          <a:xfrm>
            <a:off x="4468906" y="3418261"/>
            <a:ext cx="3428761"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72626"/>
                </a:solidFill>
                <a:latin typeface="Courier Prime" pitchFamily="49" charset="0"/>
                <a:ea typeface="Courier Prime" pitchFamily="49" charset="-122"/>
                <a:cs typeface="Courier Prime" pitchFamily="49" charset="-120"/>
              </a:rPr>
              <a:t>ROOT CAUSE / FINDING 00</a:t>
            </a:r>
            <a:endParaRPr lang="en-US" sz="1200" dirty="0"/>
          </a:p>
        </p:txBody>
      </p:sp>
      <p:sp>
        <p:nvSpPr>
          <p:cNvPr id="18" name="Text 11"/>
          <p:cNvSpPr/>
          <p:nvPr/>
        </p:nvSpPr>
        <p:spPr>
          <a:xfrm>
            <a:off x="4468906" y="3733193"/>
            <a:ext cx="3428761" cy="814014"/>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191919"/>
                </a:solidFill>
                <a:latin typeface="Public Sans" pitchFamily="34" charset="0"/>
                <a:ea typeface="Public Sans" pitchFamily="34" charset="-122"/>
                <a:cs typeface="Public Sans" pitchFamily="34" charset="-120"/>
              </a:rPr>
              <a:t>[ONE-SENTENCE ROOT CAUSE: the single underlying technical problem]</a:t>
            </a:r>
            <a:endParaRPr lang="en-US" sz="1800" dirty="0"/>
          </a:p>
        </p:txBody>
      </p:sp>
      <p:sp>
        <p:nvSpPr>
          <p:cNvPr id="19" name="Text 12"/>
          <p:cNvSpPr/>
          <p:nvPr/>
        </p:nvSpPr>
        <p:spPr>
          <a:xfrm>
            <a:off x="4468906" y="4623407"/>
            <a:ext cx="3428761"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919"/>
                </a:solidFill>
                <a:latin typeface="Courier Prime" pitchFamily="49" charset="0"/>
                <a:ea typeface="Courier Prime" pitchFamily="49" charset="-122"/>
                <a:cs typeface="Courier Prime" pitchFamily="49" charset="-120"/>
              </a:rPr>
              <a:t>SOURCE: [COMMIT / LOG REF]</a:t>
            </a:r>
            <a:endParaRPr lang="en-US" sz="1200" dirty="0"/>
          </a:p>
        </p:txBody>
      </p:sp>
      <p:sp>
        <p:nvSpPr>
          <p:cNvPr id="20" name="Shape 13"/>
          <p:cNvSpPr/>
          <p:nvPr/>
        </p:nvSpPr>
        <p:spPr>
          <a:xfrm>
            <a:off x="831850" y="2546350"/>
            <a:ext cx="2273300" cy="1066800"/>
          </a:xfrm>
          <a:prstGeom prst="rect">
            <a:avLst/>
          </a:prstGeom>
          <a:solidFill>
            <a:srgbClr val="FBF7EE"/>
          </a:solidFill>
          <a:ln w="12700">
            <a:solidFill>
              <a:srgbClr val="191919"/>
            </a:solidFill>
            <a:prstDash val="solid"/>
          </a:ln>
          <a:effectLst>
            <a:outerShdw sx="100000" sy="100000" kx="0" ky="0" algn="bl" rotWithShape="0" blurRad="88900" dist="38100" dir="5400000">
              <a:srgbClr val="000000">
                <a:alpha val="30000"/>
              </a:srgbClr>
            </a:outerShdw>
          </a:effectLst>
        </p:spPr>
      </p:sp>
      <p:sp>
        <p:nvSpPr>
          <p:cNvPr id="21" name="Text 14"/>
          <p:cNvSpPr/>
          <p:nvPr/>
        </p:nvSpPr>
        <p:spPr>
          <a:xfrm>
            <a:off x="977153" y="2678953"/>
            <a:ext cx="2042175"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72626"/>
                </a:solidFill>
                <a:latin typeface="Courier Prime" pitchFamily="49" charset="0"/>
                <a:ea typeface="Courier Prime" pitchFamily="49" charset="-122"/>
                <a:cs typeface="Courier Prime" pitchFamily="49" charset="-120"/>
              </a:rPr>
              <a:t>FP-[___]</a:t>
            </a:r>
            <a:endParaRPr lang="en-US" sz="1200" dirty="0"/>
          </a:p>
        </p:txBody>
      </p:sp>
      <p:sp>
        <p:nvSpPr>
          <p:cNvPr id="22" name="Text 15"/>
          <p:cNvSpPr/>
          <p:nvPr/>
        </p:nvSpPr>
        <p:spPr>
          <a:xfrm>
            <a:off x="977153" y="2930385"/>
            <a:ext cx="2042175"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919"/>
                </a:solidFill>
                <a:latin typeface="Public Sans" pitchFamily="34" charset="0"/>
                <a:ea typeface="Public Sans" pitchFamily="34" charset="-122"/>
                <a:cs typeface="Public Sans" pitchFamily="34" charset="-120"/>
              </a:rPr>
              <a:t>[SYMPTOM TITLE]</a:t>
            </a:r>
            <a:endParaRPr lang="en-US" sz="1500" dirty="0"/>
          </a:p>
        </p:txBody>
      </p:sp>
      <p:sp>
        <p:nvSpPr>
          <p:cNvPr id="23" name="Text 16"/>
          <p:cNvSpPr/>
          <p:nvPr/>
        </p:nvSpPr>
        <p:spPr>
          <a:xfrm>
            <a:off x="977153" y="3187560"/>
            <a:ext cx="2042175"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919"/>
                </a:solidFill>
                <a:latin typeface="Courier Prime" pitchFamily="49" charset="0"/>
                <a:ea typeface="Courier Prime" pitchFamily="49" charset="-122"/>
                <a:cs typeface="Courier Prime" pitchFamily="49" charset="-120"/>
              </a:rPr>
              <a:t>EVIDENCE: [REF]</a:t>
            </a:r>
            <a:endParaRPr lang="en-US" sz="1200" dirty="0"/>
          </a:p>
        </p:txBody>
      </p:sp>
      <p:sp>
        <p:nvSpPr>
          <p:cNvPr id="24" name="Shape 17"/>
          <p:cNvSpPr/>
          <p:nvPr/>
        </p:nvSpPr>
        <p:spPr>
          <a:xfrm>
            <a:off x="9086850" y="2546350"/>
            <a:ext cx="2273300" cy="1066800"/>
          </a:xfrm>
          <a:prstGeom prst="rect">
            <a:avLst/>
          </a:prstGeom>
          <a:solidFill>
            <a:srgbClr val="FBF7EE"/>
          </a:solidFill>
          <a:ln w="12700">
            <a:solidFill>
              <a:srgbClr val="191919"/>
            </a:solidFill>
            <a:prstDash val="solid"/>
          </a:ln>
          <a:effectLst>
            <a:outerShdw sx="100000" sy="100000" kx="0" ky="0" algn="bl" rotWithShape="0" blurRad="88900" dist="38100" dir="5400000">
              <a:srgbClr val="000000">
                <a:alpha val="30000"/>
              </a:srgbClr>
            </a:outerShdw>
          </a:effectLst>
        </p:spPr>
      </p:sp>
      <p:sp>
        <p:nvSpPr>
          <p:cNvPr id="25" name="Text 18"/>
          <p:cNvSpPr/>
          <p:nvPr/>
        </p:nvSpPr>
        <p:spPr>
          <a:xfrm>
            <a:off x="9232153" y="2678953"/>
            <a:ext cx="2042175"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72626"/>
                </a:solidFill>
                <a:latin typeface="Courier Prime" pitchFamily="49" charset="0"/>
                <a:ea typeface="Courier Prime" pitchFamily="49" charset="-122"/>
                <a:cs typeface="Courier Prime" pitchFamily="49" charset="-120"/>
              </a:rPr>
              <a:t>FP-[___]</a:t>
            </a:r>
            <a:endParaRPr lang="en-US" sz="1200" dirty="0"/>
          </a:p>
        </p:txBody>
      </p:sp>
      <p:sp>
        <p:nvSpPr>
          <p:cNvPr id="26" name="Text 19"/>
          <p:cNvSpPr/>
          <p:nvPr/>
        </p:nvSpPr>
        <p:spPr>
          <a:xfrm>
            <a:off x="9232153" y="2930385"/>
            <a:ext cx="2042175"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919"/>
                </a:solidFill>
                <a:latin typeface="Public Sans" pitchFamily="34" charset="0"/>
                <a:ea typeface="Public Sans" pitchFamily="34" charset="-122"/>
                <a:cs typeface="Public Sans" pitchFamily="34" charset="-120"/>
              </a:rPr>
              <a:t>[SYMPTOM TITLE]</a:t>
            </a:r>
            <a:endParaRPr lang="en-US" sz="1500" dirty="0"/>
          </a:p>
        </p:txBody>
      </p:sp>
      <p:sp>
        <p:nvSpPr>
          <p:cNvPr id="27" name="Text 20"/>
          <p:cNvSpPr/>
          <p:nvPr/>
        </p:nvSpPr>
        <p:spPr>
          <a:xfrm>
            <a:off x="9232153" y="3187560"/>
            <a:ext cx="2042175"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919"/>
                </a:solidFill>
                <a:latin typeface="Courier Prime" pitchFamily="49" charset="0"/>
                <a:ea typeface="Courier Prime" pitchFamily="49" charset="-122"/>
                <a:cs typeface="Courier Prime" pitchFamily="49" charset="-120"/>
              </a:rPr>
              <a:t>EVIDENCE: [REF]</a:t>
            </a:r>
            <a:endParaRPr lang="en-US" sz="1200" dirty="0"/>
          </a:p>
        </p:txBody>
      </p:sp>
      <p:sp>
        <p:nvSpPr>
          <p:cNvPr id="28" name="Shape 21"/>
          <p:cNvSpPr/>
          <p:nvPr/>
        </p:nvSpPr>
        <p:spPr>
          <a:xfrm>
            <a:off x="831850" y="4832350"/>
            <a:ext cx="2273300" cy="1066800"/>
          </a:xfrm>
          <a:prstGeom prst="rect">
            <a:avLst/>
          </a:prstGeom>
          <a:solidFill>
            <a:srgbClr val="FBF7EE"/>
          </a:solidFill>
          <a:ln w="12700">
            <a:solidFill>
              <a:srgbClr val="191919"/>
            </a:solidFill>
            <a:prstDash val="solid"/>
          </a:ln>
          <a:effectLst>
            <a:outerShdw sx="100000" sy="100000" kx="0" ky="0" algn="bl" rotWithShape="0" blurRad="88900" dist="38100" dir="5400000">
              <a:srgbClr val="000000">
                <a:alpha val="30000"/>
              </a:srgbClr>
            </a:outerShdw>
          </a:effectLst>
        </p:spPr>
      </p:sp>
      <p:sp>
        <p:nvSpPr>
          <p:cNvPr id="29" name="Text 22"/>
          <p:cNvSpPr/>
          <p:nvPr/>
        </p:nvSpPr>
        <p:spPr>
          <a:xfrm>
            <a:off x="977153" y="4964953"/>
            <a:ext cx="2042175"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72626"/>
                </a:solidFill>
                <a:latin typeface="Courier Prime" pitchFamily="49" charset="0"/>
                <a:ea typeface="Courier Prime" pitchFamily="49" charset="-122"/>
                <a:cs typeface="Courier Prime" pitchFamily="49" charset="-120"/>
              </a:rPr>
              <a:t>FP-[___]</a:t>
            </a:r>
            <a:endParaRPr lang="en-US" sz="1200" dirty="0"/>
          </a:p>
        </p:txBody>
      </p:sp>
      <p:sp>
        <p:nvSpPr>
          <p:cNvPr id="30" name="Text 23"/>
          <p:cNvSpPr/>
          <p:nvPr/>
        </p:nvSpPr>
        <p:spPr>
          <a:xfrm>
            <a:off x="977153" y="5216385"/>
            <a:ext cx="2042175"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919"/>
                </a:solidFill>
                <a:latin typeface="Public Sans" pitchFamily="34" charset="0"/>
                <a:ea typeface="Public Sans" pitchFamily="34" charset="-122"/>
                <a:cs typeface="Public Sans" pitchFamily="34" charset="-120"/>
              </a:rPr>
              <a:t>[SYMPTOM TITLE]</a:t>
            </a:r>
            <a:endParaRPr lang="en-US" sz="1500" dirty="0"/>
          </a:p>
        </p:txBody>
      </p:sp>
      <p:sp>
        <p:nvSpPr>
          <p:cNvPr id="31" name="Text 24"/>
          <p:cNvSpPr/>
          <p:nvPr/>
        </p:nvSpPr>
        <p:spPr>
          <a:xfrm>
            <a:off x="977153" y="5473560"/>
            <a:ext cx="2042175"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919"/>
                </a:solidFill>
                <a:latin typeface="Courier Prime" pitchFamily="49" charset="0"/>
                <a:ea typeface="Courier Prime" pitchFamily="49" charset="-122"/>
                <a:cs typeface="Courier Prime" pitchFamily="49" charset="-120"/>
              </a:rPr>
              <a:t>EVIDENCE: [REF]</a:t>
            </a:r>
            <a:endParaRPr lang="en-US" sz="1200" dirty="0"/>
          </a:p>
        </p:txBody>
      </p:sp>
      <p:sp>
        <p:nvSpPr>
          <p:cNvPr id="32" name="Shape 25"/>
          <p:cNvSpPr/>
          <p:nvPr/>
        </p:nvSpPr>
        <p:spPr>
          <a:xfrm>
            <a:off x="9086850" y="4832350"/>
            <a:ext cx="2273300" cy="1066800"/>
          </a:xfrm>
          <a:prstGeom prst="rect">
            <a:avLst/>
          </a:prstGeom>
          <a:solidFill>
            <a:srgbClr val="FBF7EE"/>
          </a:solidFill>
          <a:ln w="12700">
            <a:solidFill>
              <a:srgbClr val="191919"/>
            </a:solidFill>
            <a:prstDash val="solid"/>
          </a:ln>
          <a:effectLst>
            <a:outerShdw sx="100000" sy="100000" kx="0" ky="0" algn="bl" rotWithShape="0" blurRad="88900" dist="38100" dir="5400000">
              <a:srgbClr val="000000">
                <a:alpha val="30000"/>
              </a:srgbClr>
            </a:outerShdw>
          </a:effectLst>
        </p:spPr>
      </p:sp>
      <p:sp>
        <p:nvSpPr>
          <p:cNvPr id="33" name="Text 26"/>
          <p:cNvSpPr/>
          <p:nvPr/>
        </p:nvSpPr>
        <p:spPr>
          <a:xfrm>
            <a:off x="9232153" y="4964953"/>
            <a:ext cx="2042175"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72626"/>
                </a:solidFill>
                <a:latin typeface="Courier Prime" pitchFamily="49" charset="0"/>
                <a:ea typeface="Courier Prime" pitchFamily="49" charset="-122"/>
                <a:cs typeface="Courier Prime" pitchFamily="49" charset="-120"/>
              </a:rPr>
              <a:t>FP-[___]</a:t>
            </a:r>
            <a:endParaRPr lang="en-US" sz="1200" dirty="0"/>
          </a:p>
        </p:txBody>
      </p:sp>
      <p:sp>
        <p:nvSpPr>
          <p:cNvPr id="34" name="Text 27"/>
          <p:cNvSpPr/>
          <p:nvPr/>
        </p:nvSpPr>
        <p:spPr>
          <a:xfrm>
            <a:off x="9232153" y="5216385"/>
            <a:ext cx="2042175"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919"/>
                </a:solidFill>
                <a:latin typeface="Public Sans" pitchFamily="34" charset="0"/>
                <a:ea typeface="Public Sans" pitchFamily="34" charset="-122"/>
                <a:cs typeface="Public Sans" pitchFamily="34" charset="-120"/>
              </a:rPr>
              <a:t>[SYMPTOM TITLE]</a:t>
            </a:r>
            <a:endParaRPr lang="en-US" sz="1500" dirty="0"/>
          </a:p>
        </p:txBody>
      </p:sp>
      <p:sp>
        <p:nvSpPr>
          <p:cNvPr id="35" name="Text 28"/>
          <p:cNvSpPr/>
          <p:nvPr/>
        </p:nvSpPr>
        <p:spPr>
          <a:xfrm>
            <a:off x="9232153" y="5473560"/>
            <a:ext cx="2042175"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919"/>
                </a:solidFill>
                <a:latin typeface="Courier Prime" pitchFamily="49" charset="0"/>
                <a:ea typeface="Courier Prime" pitchFamily="49" charset="-122"/>
                <a:cs typeface="Courier Prime" pitchFamily="49" charset="-120"/>
              </a:rPr>
              <a:t>EVIDENCE: [REF]</a:t>
            </a:r>
            <a:endParaRPr lang="en-US" sz="1200" dirty="0"/>
          </a:p>
        </p:txBody>
      </p:sp>
      <p:sp>
        <p:nvSpPr>
          <p:cNvPr id="36" name="Shape 29"/>
          <p:cNvSpPr/>
          <p:nvPr/>
        </p:nvSpPr>
        <p:spPr>
          <a:xfrm rot="21360000">
            <a:off x="1682750" y="2463800"/>
            <a:ext cx="571500" cy="177800"/>
          </a:xfrm>
          <a:prstGeom prst="rect">
            <a:avLst/>
          </a:prstGeom>
          <a:solidFill>
            <a:srgbClr val="D9CBA3">
              <a:alpha val="85000"/>
            </a:srgbClr>
          </a:solidFill>
          <a:ln/>
        </p:spPr>
      </p:sp>
      <p:sp>
        <p:nvSpPr>
          <p:cNvPr id="37" name="Shape 30"/>
          <p:cNvSpPr/>
          <p:nvPr/>
        </p:nvSpPr>
        <p:spPr>
          <a:xfrm rot="180000">
            <a:off x="9937750" y="2463800"/>
            <a:ext cx="571500" cy="177800"/>
          </a:xfrm>
          <a:prstGeom prst="rect">
            <a:avLst/>
          </a:prstGeom>
          <a:solidFill>
            <a:srgbClr val="D9CBA3">
              <a:alpha val="85000"/>
            </a:srgbClr>
          </a:solidFill>
          <a:ln/>
        </p:spPr>
      </p:sp>
      <p:sp>
        <p:nvSpPr>
          <p:cNvPr id="38" name="Shape 31"/>
          <p:cNvSpPr/>
          <p:nvPr/>
        </p:nvSpPr>
        <p:spPr>
          <a:xfrm rot="180000">
            <a:off x="1682750" y="4749800"/>
            <a:ext cx="571500" cy="177800"/>
          </a:xfrm>
          <a:prstGeom prst="rect">
            <a:avLst/>
          </a:prstGeom>
          <a:solidFill>
            <a:srgbClr val="D9CBA3">
              <a:alpha val="85000"/>
            </a:srgbClr>
          </a:solidFill>
          <a:ln/>
        </p:spPr>
      </p:sp>
      <p:sp>
        <p:nvSpPr>
          <p:cNvPr id="39" name="Shape 32"/>
          <p:cNvSpPr/>
          <p:nvPr/>
        </p:nvSpPr>
        <p:spPr>
          <a:xfrm rot="21360000">
            <a:off x="9937750" y="4749800"/>
            <a:ext cx="571500" cy="177800"/>
          </a:xfrm>
          <a:prstGeom prst="rect">
            <a:avLst/>
          </a:prstGeom>
          <a:solidFill>
            <a:srgbClr val="D9CBA3">
              <a:alpha val="85000"/>
            </a:srgbClr>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304800" y="304800"/>
            <a:ext cx="11582400" cy="6248400"/>
          </a:xfrm>
          <a:prstGeom prst="rect">
            <a:avLst/>
          </a:prstGeom>
          <a:gradFill rotWithShape="1">
            <a:gsLst>
              <a:gs pos="0">
                <a:srgbClr val="F5F0E5"/>
              </a:gs>
              <a:gs pos="50000">
                <a:srgbClr val="F1EBDF"/>
              </a:gs>
              <a:gs pos="100000">
                <a:srgbClr val="E8E0D3"/>
              </a:gs>
            </a:gsLst>
            <a:path path="circle">
              <a:fillToRect l="30000" t="20000" r="70000" b="80000"/>
            </a:path>
          </a:gradFill>
          <a:ln/>
          <a:effectLst>
            <a:outerShdw sx="100000" sy="100000" kx="0" ky="0" algn="bl" rotWithShape="0" blurRad="381000" dist="127000" dir="5400000">
              <a:srgbClr val="000000">
                <a:alpha val="60000"/>
              </a:srgbClr>
            </a:outerShdw>
          </a:effectLst>
        </p:spPr>
      </p:sp>
      <p:sp>
        <p:nvSpPr>
          <p:cNvPr id="3" name="Shape 1"/>
          <p:cNvSpPr/>
          <p:nvPr/>
        </p:nvSpPr>
        <p:spPr>
          <a:xfrm>
            <a:off x="762000" y="1001666"/>
            <a:ext cx="10668000" cy="0"/>
          </a:xfrm>
          <a:prstGeom prst="line">
            <a:avLst/>
          </a:prstGeom>
          <a:noFill/>
          <a:ln w="19050">
            <a:solidFill>
              <a:srgbClr val="191919"/>
            </a:solidFill>
            <a:prstDash val="solid"/>
          </a:ln>
        </p:spPr>
      </p:sp>
      <p:sp>
        <p:nvSpPr>
          <p:cNvPr id="4" name="Text 2"/>
          <p:cNvSpPr/>
          <p:nvPr/>
        </p:nvSpPr>
        <p:spPr>
          <a:xfrm>
            <a:off x="762000" y="584200"/>
            <a:ext cx="1012218" cy="304800"/>
          </a:xfrm>
          <a:prstGeom prst="rect">
            <a:avLst/>
          </a:prstGeom>
          <a:noFill/>
          <a:ln/>
        </p:spPr>
        <p:txBody>
          <a:bodyPr wrap="square" lIns="0" tIns="0" rIns="0" bIns="0" rtlCol="0" anchor="t">
            <a:normAutofit/>
          </a:bodyPr>
          <a:lstStyle/>
          <a:p>
            <a:pPr algn="l" indent="0" marL="0">
              <a:lnSpc>
                <a:spcPts val="2200"/>
              </a:lnSpc>
              <a:buNone/>
            </a:pPr>
            <a:r>
              <a:rPr lang="en-US" sz="2200" spc="100" kern="0" dirty="0">
                <a:solidFill>
                  <a:srgbClr val="191919"/>
                </a:solidFill>
                <a:latin typeface="Anton" pitchFamily="34" charset="0"/>
                <a:ea typeface="Anton" pitchFamily="34" charset="-122"/>
                <a:cs typeface="Anton" pitchFamily="34" charset="-120"/>
              </a:rPr>
              <a:t>FILSPAY</a:t>
            </a:r>
            <a:endParaRPr lang="en-US" sz="2200" dirty="0"/>
          </a:p>
        </p:txBody>
      </p:sp>
      <p:sp>
        <p:nvSpPr>
          <p:cNvPr id="5" name="Text 3"/>
          <p:cNvSpPr/>
          <p:nvPr/>
        </p:nvSpPr>
        <p:spPr>
          <a:xfrm>
            <a:off x="1774218" y="703729"/>
            <a:ext cx="2631758"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919"/>
                </a:solidFill>
                <a:latin typeface="Courier Prime" pitchFamily="49" charset="0"/>
                <a:ea typeface="Courier Prime" pitchFamily="49" charset="-122"/>
                <a:cs typeface="Courier Prime" pitchFamily="49" charset="-120"/>
              </a:rPr>
              <a:t>THE HANDOVER / CASE FILE</a:t>
            </a:r>
            <a:endParaRPr lang="en-US" sz="1200" dirty="0"/>
          </a:p>
        </p:txBody>
      </p:sp>
      <p:sp>
        <p:nvSpPr>
          <p:cNvPr id="6" name="Text 4"/>
          <p:cNvSpPr/>
          <p:nvPr>
            <p:ph type="title"/>
          </p:nvPr>
        </p:nvSpPr>
        <p:spPr>
          <a:xfrm>
            <a:off x="762000" y="1188991"/>
            <a:ext cx="4771913" cy="718811"/>
          </a:xfrm>
          <a:prstGeom prst="rect">
            <a:avLst/>
          </a:prstGeom>
          <a:noFill/>
          <a:ln/>
        </p:spPr>
        <p:txBody>
          <a:bodyPr wrap="square" lIns="0" tIns="0" rIns="0" bIns="0" rtlCol="0" anchor="t">
            <a:normAutofit/>
          </a:bodyPr>
          <a:lstStyle/>
          <a:p>
            <a:pPr algn="l" indent="0" marL="0">
              <a:lnSpc>
                <a:spcPts val="5460"/>
              </a:lnSpc>
              <a:buNone/>
            </a:pPr>
            <a:r>
              <a:rPr lang="en-US" sz="5200" b="0" i="0" dirty="0">
                <a:solidFill>
                  <a:srgbClr val="191919"/>
                </a:solidFill>
                <a:latin typeface="Anton" pitchFamily="34" charset="0"/>
                <a:ea typeface="Anton" pitchFamily="34" charset="-122"/>
                <a:cs typeface="Anton" pitchFamily="34" charset="-120"/>
              </a:rPr>
              <a:t>WHAT WE FOUND</a:t>
            </a:r>
            <a:endParaRPr lang="en-US" sz="5200" dirty="0"/>
          </a:p>
        </p:txBody>
      </p:sp>
      <p:sp>
        <p:nvSpPr>
          <p:cNvPr id="7" name="Text 5"/>
          <p:cNvSpPr/>
          <p:nvPr/>
        </p:nvSpPr>
        <p:spPr>
          <a:xfrm rot="21420000">
            <a:off x="8190720" y="1453762"/>
            <a:ext cx="3335655" cy="45085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A72626"/>
                </a:solidFill>
                <a:latin typeface="Caveat" pitchFamily="18" charset="0"/>
                <a:ea typeface="Caveat" pitchFamily="18" charset="-122"/>
                <a:cs typeface="Caveat" pitchFamily="18" charset="-120"/>
              </a:rPr>
              <a:t>ranked by impact, highest first</a:t>
            </a:r>
            <a:endParaRPr lang="en-US" sz="2400" dirty="0"/>
          </a:p>
        </p:txBody>
      </p:sp>
      <p:sp>
        <p:nvSpPr>
          <p:cNvPr id="8" name="Shape 6"/>
          <p:cNvSpPr/>
          <p:nvPr/>
        </p:nvSpPr>
        <p:spPr>
          <a:xfrm>
            <a:off x="762000" y="2060201"/>
            <a:ext cx="4953000" cy="4086599"/>
          </a:xfrm>
          <a:prstGeom prst="rect">
            <a:avLst/>
          </a:prstGeom>
          <a:solidFill>
            <a:srgbClr val="FBF7EE"/>
          </a:solidFill>
          <a:ln/>
          <a:effectLst>
            <a:outerShdw sx="100000" sy="100000" kx="0" ky="0" algn="bl" rotWithShape="0" blurRad="127000" dist="50800" dir="5400000">
              <a:srgbClr val="000000">
                <a:alpha val="30000"/>
              </a:srgbClr>
            </a:outerShdw>
          </a:effectLst>
        </p:spPr>
      </p:sp>
      <p:sp>
        <p:nvSpPr>
          <p:cNvPr id="9" name="Shape 7"/>
          <p:cNvSpPr/>
          <p:nvPr/>
        </p:nvSpPr>
        <p:spPr>
          <a:xfrm>
            <a:off x="806450" y="2060201"/>
            <a:ext cx="0" cy="4086599"/>
          </a:xfrm>
          <a:prstGeom prst="line">
            <a:avLst/>
          </a:prstGeom>
          <a:noFill/>
          <a:ln w="88900">
            <a:solidFill>
              <a:srgbClr val="A72626"/>
            </a:solidFill>
            <a:prstDash val="solid"/>
          </a:ln>
        </p:spPr>
      </p:sp>
      <p:sp>
        <p:nvSpPr>
          <p:cNvPr id="10" name="Text 8"/>
          <p:cNvSpPr/>
          <p:nvPr/>
        </p:nvSpPr>
        <p:spPr>
          <a:xfrm>
            <a:off x="1077259" y="2263401"/>
            <a:ext cx="4541416" cy="27431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72626"/>
                </a:solidFill>
                <a:latin typeface="Courier Prime" pitchFamily="49" charset="0"/>
                <a:ea typeface="Courier Prime" pitchFamily="49" charset="-122"/>
                <a:cs typeface="Courier Prime" pitchFamily="49" charset="-120"/>
              </a:rPr>
              <a:t>EVIDENCE 01</a:t>
            </a:r>
            <a:endParaRPr lang="en-US" sz="1400" dirty="0"/>
          </a:p>
        </p:txBody>
      </p:sp>
      <p:sp>
        <p:nvSpPr>
          <p:cNvPr id="11" name="Text 9"/>
          <p:cNvSpPr/>
          <p:nvPr/>
        </p:nvSpPr>
        <p:spPr>
          <a:xfrm>
            <a:off x="1077259" y="2601212"/>
            <a:ext cx="4541416" cy="452111"/>
          </a:xfrm>
          <a:prstGeom prst="rect">
            <a:avLst/>
          </a:prstGeom>
          <a:noFill/>
          <a:ln/>
        </p:spPr>
        <p:txBody>
          <a:bodyPr wrap="square" lIns="0" tIns="0" rIns="0" bIns="0" rtlCol="0" anchor="t">
            <a:normAutofit/>
          </a:bodyPr>
          <a:lstStyle/>
          <a:p>
            <a:pPr algn="l" indent="0" marL="0">
              <a:lnSpc>
                <a:spcPts val="3360"/>
              </a:lnSpc>
              <a:buNone/>
            </a:pPr>
            <a:r>
              <a:rPr lang="en-US" sz="3200" dirty="0">
                <a:solidFill>
                  <a:srgbClr val="191919"/>
                </a:solidFill>
                <a:latin typeface="Anton" pitchFamily="34" charset="0"/>
                <a:ea typeface="Anton" pitchFamily="34" charset="-122"/>
                <a:cs typeface="Anton" pitchFamily="34" charset="-120"/>
              </a:rPr>
              <a:t>[FINDING TITLE]</a:t>
            </a:r>
            <a:endParaRPr lang="en-US" sz="3200" dirty="0"/>
          </a:p>
        </p:txBody>
      </p:sp>
      <p:sp>
        <p:nvSpPr>
          <p:cNvPr id="12" name="Text 10"/>
          <p:cNvSpPr/>
          <p:nvPr/>
        </p:nvSpPr>
        <p:spPr>
          <a:xfrm>
            <a:off x="1077259" y="3116822"/>
            <a:ext cx="4541416" cy="327632"/>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91919"/>
                </a:solidFill>
                <a:latin typeface="Public Sans" pitchFamily="34" charset="0"/>
                <a:ea typeface="Public Sans" pitchFamily="34" charset="-122"/>
                <a:cs typeface="Public Sans" pitchFamily="34" charset="-120"/>
              </a:rPr>
              <a:t>Impact: [CRITICAL]</a:t>
            </a:r>
            <a:endParaRPr lang="en-US" sz="1700" dirty="0"/>
          </a:p>
        </p:txBody>
      </p:sp>
      <p:sp>
        <p:nvSpPr>
          <p:cNvPr id="13" name="Text 11"/>
          <p:cNvSpPr/>
          <p:nvPr/>
        </p:nvSpPr>
        <p:spPr>
          <a:xfrm>
            <a:off x="1077259" y="3507955"/>
            <a:ext cx="4541416"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91919"/>
                </a:solidFill>
                <a:latin typeface="Public Sans" pitchFamily="34" charset="0"/>
                <a:ea typeface="Public Sans" pitchFamily="34" charset="-122"/>
                <a:cs typeface="Public Sans" pitchFamily="34" charset="-120"/>
              </a:rPr>
              <a:t>[One-line evidence: what the system did that it should not have.]</a:t>
            </a:r>
            <a:endParaRPr lang="en-US" sz="1500" dirty="0"/>
          </a:p>
        </p:txBody>
      </p:sp>
      <p:sp>
        <p:nvSpPr>
          <p:cNvPr id="14" name="Text 12"/>
          <p:cNvSpPr/>
          <p:nvPr/>
        </p:nvSpPr>
        <p:spPr>
          <a:xfrm>
            <a:off x="1077259" y="4092155"/>
            <a:ext cx="4541416"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919"/>
                </a:solidFill>
                <a:latin typeface="Courier Prime" pitchFamily="49" charset="0"/>
                <a:ea typeface="Courier Prime" pitchFamily="49" charset="-122"/>
                <a:cs typeface="Courier Prime" pitchFamily="49" charset="-120"/>
              </a:rPr>
              <a:t>PROOF:</a:t>
            </a:r>
            <a:endParaRPr lang="en-US" sz="1200" dirty="0"/>
          </a:p>
        </p:txBody>
      </p:sp>
      <p:sp>
        <p:nvSpPr>
          <p:cNvPr id="15" name="Text 13"/>
          <p:cNvSpPr/>
          <p:nvPr/>
        </p:nvSpPr>
        <p:spPr>
          <a:xfrm>
            <a:off x="1086784" y="4403913"/>
            <a:ext cx="4390091" cy="1530163"/>
          </a:xfrm>
          <a:prstGeom prst="rect">
            <a:avLst/>
          </a:prstGeom>
          <a:solidFill>
            <a:srgbClr val="E3DACB"/>
          </a:solidFill>
          <a:ln w="19050">
            <a:solidFill>
              <a:srgbClr val="8A8173"/>
            </a:solidFill>
            <a:prstDash val="dash"/>
          </a:ln>
        </p:spPr>
        <p:txBody>
          <a:bodyPr wrap="square" lIns="53753" tIns="110004" rIns="53753" bIns="110004" rtlCol="0" anchor="ctr">
            <a:normAutofit/>
          </a:bodyPr>
          <a:lstStyle/>
          <a:p>
            <a:pPr algn="ctr"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[PROOF: TEST / SCREENSHOT / LOG REFERENCE]</a:t>
            </a:r>
            <a:endParaRPr lang="en-US" sz="1300" dirty="0"/>
          </a:p>
        </p:txBody>
      </p:sp>
      <p:sp>
        <p:nvSpPr>
          <p:cNvPr id="16" name="Shape 14"/>
          <p:cNvSpPr/>
          <p:nvPr/>
        </p:nvSpPr>
        <p:spPr>
          <a:xfrm>
            <a:off x="5969000" y="2060201"/>
            <a:ext cx="5461000" cy="1277517"/>
          </a:xfrm>
          <a:prstGeom prst="rect">
            <a:avLst/>
          </a:prstGeom>
          <a:solidFill>
            <a:srgbClr val="FBF7EE"/>
          </a:solidFill>
          <a:ln/>
          <a:effectLst>
            <a:outerShdw sx="100000" sy="100000" kx="0" ky="0" algn="bl" rotWithShape="0" blurRad="88900" dist="38100" dir="5400000">
              <a:srgbClr val="000000">
                <a:alpha val="25000"/>
              </a:srgbClr>
            </a:outerShdw>
          </a:effectLst>
        </p:spPr>
      </p:sp>
      <p:sp>
        <p:nvSpPr>
          <p:cNvPr id="17" name="Shape 15"/>
          <p:cNvSpPr/>
          <p:nvPr/>
        </p:nvSpPr>
        <p:spPr>
          <a:xfrm>
            <a:off x="6000750" y="2060201"/>
            <a:ext cx="0" cy="1277517"/>
          </a:xfrm>
          <a:prstGeom prst="line">
            <a:avLst/>
          </a:prstGeom>
          <a:noFill/>
          <a:ln w="63500">
            <a:solidFill>
              <a:srgbClr val="A72626"/>
            </a:solidFill>
            <a:prstDash val="solid"/>
          </a:ln>
        </p:spPr>
      </p:sp>
      <p:sp>
        <p:nvSpPr>
          <p:cNvPr id="18" name="Text 16"/>
          <p:cNvSpPr/>
          <p:nvPr/>
        </p:nvSpPr>
        <p:spPr>
          <a:xfrm>
            <a:off x="6209553" y="2319897"/>
            <a:ext cx="1795463"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72626"/>
                </a:solidFill>
                <a:latin typeface="Courier Prime" pitchFamily="49" charset="0"/>
                <a:ea typeface="Courier Prime" pitchFamily="49" charset="-122"/>
                <a:cs typeface="Courier Prime" pitchFamily="49" charset="-120"/>
              </a:rPr>
              <a:t>EVIDENCE 02</a:t>
            </a:r>
            <a:endParaRPr lang="en-US" sz="1200" dirty="0"/>
          </a:p>
        </p:txBody>
      </p:sp>
      <p:sp>
        <p:nvSpPr>
          <p:cNvPr id="19" name="Text 17"/>
          <p:cNvSpPr/>
          <p:nvPr/>
        </p:nvSpPr>
        <p:spPr>
          <a:xfrm>
            <a:off x="6209553" y="2571330"/>
            <a:ext cx="2091802" cy="262871"/>
          </a:xfrm>
          <a:prstGeom prst="rect">
            <a:avLst/>
          </a:prstGeom>
          <a:noFill/>
          <a:ln/>
        </p:spPr>
        <p:txBody>
          <a:bodyPr wrap="square" lIns="0" tIns="0" rIns="0" bIns="0" rtlCol="0" anchor="t">
            <a:normAutofit/>
          </a:bodyPr>
          <a:lstStyle/>
          <a:p>
            <a:pPr algn="l" indent="0" marL="0">
              <a:lnSpc>
                <a:spcPts val="1870"/>
              </a:lnSpc>
              <a:buNone/>
            </a:pPr>
            <a:r>
              <a:rPr lang="en-US" sz="1700" b="1" dirty="0">
                <a:solidFill>
                  <a:srgbClr val="191919"/>
                </a:solidFill>
                <a:latin typeface="Public Sans" pitchFamily="34" charset="0"/>
                <a:ea typeface="Public Sans" pitchFamily="34" charset="-122"/>
                <a:cs typeface="Public Sans" pitchFamily="34" charset="-120"/>
              </a:rPr>
              <a:t>[FINDING TITLE]</a:t>
            </a:r>
            <a:endParaRPr lang="en-US" sz="1700" dirty="0"/>
          </a:p>
        </p:txBody>
      </p:sp>
      <p:sp>
        <p:nvSpPr>
          <p:cNvPr id="20" name="Text 18"/>
          <p:cNvSpPr/>
          <p:nvPr/>
        </p:nvSpPr>
        <p:spPr>
          <a:xfrm>
            <a:off x="6209553" y="2846901"/>
            <a:ext cx="1795463" cy="25652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919"/>
                </a:solidFill>
                <a:latin typeface="Public Sans" pitchFamily="34" charset="0"/>
                <a:ea typeface="Public Sans" pitchFamily="34" charset="-122"/>
                <a:cs typeface="Public Sans" pitchFamily="34" charset="-120"/>
              </a:rPr>
              <a:t>[One-line evidence.]</a:t>
            </a:r>
            <a:endParaRPr lang="en-US" sz="1300" dirty="0"/>
          </a:p>
        </p:txBody>
      </p:sp>
      <p:sp>
        <p:nvSpPr>
          <p:cNvPr id="21" name="Text 19"/>
          <p:cNvSpPr/>
          <p:nvPr/>
        </p:nvSpPr>
        <p:spPr>
          <a:xfrm>
            <a:off x="10525172" y="2420051"/>
            <a:ext cx="717503" cy="280941"/>
          </a:xfrm>
          <a:prstGeom prst="rect">
            <a:avLst/>
          </a:prstGeom>
          <a:noFill/>
          <a:ln w="19050">
            <a:solidFill>
              <a:srgbClr val="A72626"/>
            </a:solidFill>
            <a:prstDash val="solid"/>
          </a:ln>
        </p:spPr>
        <p:txBody>
          <a:bodyPr wrap="none" lIns="0" tIns="0" rIns="0" bIns="0" rtlCol="0" anchor="ctr">
            <a:normAutofit/>
          </a:bodyPr>
          <a:lstStyle/>
          <a:p>
            <a:pPr algn="ctr" indent="0" marL="0">
              <a:lnSpc>
                <a:spcPts val="1680"/>
              </a:lnSpc>
              <a:buNone/>
            </a:pPr>
            <a:r>
              <a:rPr lang="en-US" sz="1200" b="1" dirty="0">
                <a:solidFill>
                  <a:srgbClr val="A72626"/>
                </a:solidFill>
                <a:latin typeface="Courier Prime" pitchFamily="49" charset="0"/>
                <a:ea typeface="Courier Prime" pitchFamily="49" charset="-122"/>
                <a:cs typeface="Courier Prime" pitchFamily="49" charset="-120"/>
              </a:rPr>
              <a:t>[HIGH]</a:t>
            </a:r>
            <a:endParaRPr lang="en-US" sz="1200" dirty="0"/>
          </a:p>
        </p:txBody>
      </p:sp>
      <p:sp>
        <p:nvSpPr>
          <p:cNvPr id="22" name="Text 20"/>
          <p:cNvSpPr/>
          <p:nvPr/>
        </p:nvSpPr>
        <p:spPr>
          <a:xfrm>
            <a:off x="10155611" y="2774017"/>
            <a:ext cx="1274389"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919"/>
                </a:solidFill>
                <a:latin typeface="Courier Prime" pitchFamily="49" charset="0"/>
                <a:ea typeface="Courier Prime" pitchFamily="49" charset="-122"/>
                <a:cs typeface="Courier Prime" pitchFamily="49" charset="-120"/>
              </a:rPr>
              <a:t>PROOF: [REF]</a:t>
            </a:r>
            <a:endParaRPr lang="en-US" sz="1200" dirty="0"/>
          </a:p>
        </p:txBody>
      </p:sp>
      <p:sp>
        <p:nvSpPr>
          <p:cNvPr id="23" name="Shape 21"/>
          <p:cNvSpPr/>
          <p:nvPr/>
        </p:nvSpPr>
        <p:spPr>
          <a:xfrm>
            <a:off x="5969000" y="3464719"/>
            <a:ext cx="5461000" cy="1277564"/>
          </a:xfrm>
          <a:prstGeom prst="rect">
            <a:avLst/>
          </a:prstGeom>
          <a:solidFill>
            <a:srgbClr val="FBF7EE"/>
          </a:solidFill>
          <a:ln/>
          <a:effectLst>
            <a:outerShdw sx="100000" sy="100000" kx="0" ky="0" algn="bl" rotWithShape="0" blurRad="88900" dist="38100" dir="5400000">
              <a:srgbClr val="000000">
                <a:alpha val="25000"/>
              </a:srgbClr>
            </a:outerShdw>
          </a:effectLst>
        </p:spPr>
      </p:sp>
      <p:sp>
        <p:nvSpPr>
          <p:cNvPr id="24" name="Shape 22"/>
          <p:cNvSpPr/>
          <p:nvPr/>
        </p:nvSpPr>
        <p:spPr>
          <a:xfrm>
            <a:off x="5988050" y="3464719"/>
            <a:ext cx="0" cy="1277564"/>
          </a:xfrm>
          <a:prstGeom prst="line">
            <a:avLst/>
          </a:prstGeom>
          <a:noFill/>
          <a:ln w="38100">
            <a:solidFill>
              <a:srgbClr val="A72626"/>
            </a:solidFill>
            <a:prstDash val="solid"/>
          </a:ln>
        </p:spPr>
      </p:sp>
      <p:sp>
        <p:nvSpPr>
          <p:cNvPr id="25" name="Text 23"/>
          <p:cNvSpPr/>
          <p:nvPr/>
        </p:nvSpPr>
        <p:spPr>
          <a:xfrm>
            <a:off x="6182659" y="3724415"/>
            <a:ext cx="1795463"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72626"/>
                </a:solidFill>
                <a:latin typeface="Courier Prime" pitchFamily="49" charset="0"/>
                <a:ea typeface="Courier Prime" pitchFamily="49" charset="-122"/>
                <a:cs typeface="Courier Prime" pitchFamily="49" charset="-120"/>
              </a:rPr>
              <a:t>EVIDENCE 03</a:t>
            </a:r>
            <a:endParaRPr lang="en-US" sz="1200" dirty="0"/>
          </a:p>
        </p:txBody>
      </p:sp>
      <p:sp>
        <p:nvSpPr>
          <p:cNvPr id="26" name="Text 24"/>
          <p:cNvSpPr/>
          <p:nvPr/>
        </p:nvSpPr>
        <p:spPr>
          <a:xfrm>
            <a:off x="6182659" y="3975847"/>
            <a:ext cx="2091802" cy="262871"/>
          </a:xfrm>
          <a:prstGeom prst="rect">
            <a:avLst/>
          </a:prstGeom>
          <a:noFill/>
          <a:ln/>
        </p:spPr>
        <p:txBody>
          <a:bodyPr wrap="square" lIns="0" tIns="0" rIns="0" bIns="0" rtlCol="0" anchor="t">
            <a:normAutofit/>
          </a:bodyPr>
          <a:lstStyle/>
          <a:p>
            <a:pPr algn="l" indent="0" marL="0">
              <a:lnSpc>
                <a:spcPts val="1870"/>
              </a:lnSpc>
              <a:buNone/>
            </a:pPr>
            <a:r>
              <a:rPr lang="en-US" sz="1700" b="1" dirty="0">
                <a:solidFill>
                  <a:srgbClr val="191919"/>
                </a:solidFill>
                <a:latin typeface="Public Sans" pitchFamily="34" charset="0"/>
                <a:ea typeface="Public Sans" pitchFamily="34" charset="-122"/>
                <a:cs typeface="Public Sans" pitchFamily="34" charset="-120"/>
              </a:rPr>
              <a:t>[FINDING TITLE]</a:t>
            </a:r>
            <a:endParaRPr lang="en-US" sz="1700" dirty="0"/>
          </a:p>
        </p:txBody>
      </p:sp>
      <p:sp>
        <p:nvSpPr>
          <p:cNvPr id="27" name="Text 25"/>
          <p:cNvSpPr/>
          <p:nvPr/>
        </p:nvSpPr>
        <p:spPr>
          <a:xfrm>
            <a:off x="6182659" y="4251418"/>
            <a:ext cx="1795463" cy="25652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919"/>
                </a:solidFill>
                <a:latin typeface="Public Sans" pitchFamily="34" charset="0"/>
                <a:ea typeface="Public Sans" pitchFamily="34" charset="-122"/>
                <a:cs typeface="Public Sans" pitchFamily="34" charset="-120"/>
              </a:rPr>
              <a:t>[One-line evidence.]</a:t>
            </a:r>
            <a:endParaRPr lang="en-US" sz="1300" dirty="0"/>
          </a:p>
        </p:txBody>
      </p:sp>
      <p:sp>
        <p:nvSpPr>
          <p:cNvPr id="28" name="Text 26"/>
          <p:cNvSpPr/>
          <p:nvPr/>
        </p:nvSpPr>
        <p:spPr>
          <a:xfrm>
            <a:off x="10525172" y="3824615"/>
            <a:ext cx="717503" cy="280941"/>
          </a:xfrm>
          <a:prstGeom prst="rect">
            <a:avLst/>
          </a:prstGeom>
          <a:noFill/>
          <a:ln w="19050">
            <a:solidFill>
              <a:srgbClr val="A72626"/>
            </a:solidFill>
            <a:prstDash val="solid"/>
          </a:ln>
        </p:spPr>
        <p:txBody>
          <a:bodyPr wrap="none" lIns="0" tIns="0" rIns="0" bIns="0" rtlCol="0" anchor="ctr">
            <a:normAutofit/>
          </a:bodyPr>
          <a:lstStyle/>
          <a:p>
            <a:pPr algn="ctr" indent="0" marL="0">
              <a:lnSpc>
                <a:spcPts val="1680"/>
              </a:lnSpc>
              <a:buNone/>
            </a:pPr>
            <a:r>
              <a:rPr lang="en-US" sz="1200" b="1" dirty="0">
                <a:solidFill>
                  <a:srgbClr val="A72626"/>
                </a:solidFill>
                <a:latin typeface="Courier Prime" pitchFamily="49" charset="0"/>
                <a:ea typeface="Courier Prime" pitchFamily="49" charset="-122"/>
                <a:cs typeface="Courier Prime" pitchFamily="49" charset="-120"/>
              </a:rPr>
              <a:t>[HIGH]</a:t>
            </a:r>
            <a:endParaRPr lang="en-US" sz="1200" dirty="0"/>
          </a:p>
        </p:txBody>
      </p:sp>
      <p:sp>
        <p:nvSpPr>
          <p:cNvPr id="29" name="Text 27"/>
          <p:cNvSpPr/>
          <p:nvPr/>
        </p:nvSpPr>
        <p:spPr>
          <a:xfrm>
            <a:off x="10155611" y="4178581"/>
            <a:ext cx="1274389"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919"/>
                </a:solidFill>
                <a:latin typeface="Courier Prime" pitchFamily="49" charset="0"/>
                <a:ea typeface="Courier Prime" pitchFamily="49" charset="-122"/>
                <a:cs typeface="Courier Prime" pitchFamily="49" charset="-120"/>
              </a:rPr>
              <a:t>PROOF: [REF]</a:t>
            </a:r>
            <a:endParaRPr lang="en-US" sz="1200" dirty="0"/>
          </a:p>
        </p:txBody>
      </p:sp>
      <p:sp>
        <p:nvSpPr>
          <p:cNvPr id="30" name="Shape 28"/>
          <p:cNvSpPr/>
          <p:nvPr/>
        </p:nvSpPr>
        <p:spPr>
          <a:xfrm>
            <a:off x="5969000" y="4869283"/>
            <a:ext cx="5461000" cy="1277517"/>
          </a:xfrm>
          <a:prstGeom prst="rect">
            <a:avLst/>
          </a:prstGeom>
          <a:solidFill>
            <a:srgbClr val="FBF7EE"/>
          </a:solidFill>
          <a:ln/>
          <a:effectLst>
            <a:outerShdw sx="100000" sy="100000" kx="0" ky="0" algn="bl" rotWithShape="0" blurRad="88900" dist="38100" dir="5400000">
              <a:srgbClr val="000000">
                <a:alpha val="25000"/>
              </a:srgbClr>
            </a:outerShdw>
          </a:effectLst>
        </p:spPr>
      </p:sp>
      <p:sp>
        <p:nvSpPr>
          <p:cNvPr id="31" name="Shape 29"/>
          <p:cNvSpPr/>
          <p:nvPr/>
        </p:nvSpPr>
        <p:spPr>
          <a:xfrm>
            <a:off x="5978525" y="4869283"/>
            <a:ext cx="0" cy="1277517"/>
          </a:xfrm>
          <a:prstGeom prst="line">
            <a:avLst/>
          </a:prstGeom>
          <a:noFill/>
          <a:ln w="19050">
            <a:solidFill>
              <a:srgbClr val="A72626"/>
            </a:solidFill>
            <a:prstDash val="solid"/>
          </a:ln>
        </p:spPr>
      </p:sp>
      <p:sp>
        <p:nvSpPr>
          <p:cNvPr id="32" name="Text 30"/>
          <p:cNvSpPr/>
          <p:nvPr/>
        </p:nvSpPr>
        <p:spPr>
          <a:xfrm>
            <a:off x="6164730" y="5128978"/>
            <a:ext cx="1795463"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72626"/>
                </a:solidFill>
                <a:latin typeface="Courier Prime" pitchFamily="49" charset="0"/>
                <a:ea typeface="Courier Prime" pitchFamily="49" charset="-122"/>
                <a:cs typeface="Courier Prime" pitchFamily="49" charset="-120"/>
              </a:rPr>
              <a:t>EVIDENCE 04</a:t>
            </a:r>
            <a:endParaRPr lang="en-US" sz="1200" dirty="0"/>
          </a:p>
        </p:txBody>
      </p:sp>
      <p:sp>
        <p:nvSpPr>
          <p:cNvPr id="33" name="Text 31"/>
          <p:cNvSpPr/>
          <p:nvPr/>
        </p:nvSpPr>
        <p:spPr>
          <a:xfrm>
            <a:off x="6164730" y="5380411"/>
            <a:ext cx="2091802" cy="262871"/>
          </a:xfrm>
          <a:prstGeom prst="rect">
            <a:avLst/>
          </a:prstGeom>
          <a:noFill/>
          <a:ln/>
        </p:spPr>
        <p:txBody>
          <a:bodyPr wrap="square" lIns="0" tIns="0" rIns="0" bIns="0" rtlCol="0" anchor="t">
            <a:normAutofit/>
          </a:bodyPr>
          <a:lstStyle/>
          <a:p>
            <a:pPr algn="l" indent="0" marL="0">
              <a:lnSpc>
                <a:spcPts val="1870"/>
              </a:lnSpc>
              <a:buNone/>
            </a:pPr>
            <a:r>
              <a:rPr lang="en-US" sz="1700" b="1" dirty="0">
                <a:solidFill>
                  <a:srgbClr val="191919"/>
                </a:solidFill>
                <a:latin typeface="Public Sans" pitchFamily="34" charset="0"/>
                <a:ea typeface="Public Sans" pitchFamily="34" charset="-122"/>
                <a:cs typeface="Public Sans" pitchFamily="34" charset="-120"/>
              </a:rPr>
              <a:t>[FINDING TITLE]</a:t>
            </a:r>
            <a:endParaRPr lang="en-US" sz="1700" dirty="0"/>
          </a:p>
        </p:txBody>
      </p:sp>
      <p:sp>
        <p:nvSpPr>
          <p:cNvPr id="34" name="Text 32"/>
          <p:cNvSpPr/>
          <p:nvPr/>
        </p:nvSpPr>
        <p:spPr>
          <a:xfrm>
            <a:off x="6164730" y="5655982"/>
            <a:ext cx="1795463" cy="25652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919"/>
                </a:solidFill>
                <a:latin typeface="Public Sans" pitchFamily="34" charset="0"/>
                <a:ea typeface="Public Sans" pitchFamily="34" charset="-122"/>
                <a:cs typeface="Public Sans" pitchFamily="34" charset="-120"/>
              </a:rPr>
              <a:t>[One-line evidence.]</a:t>
            </a:r>
            <a:endParaRPr lang="en-US" sz="1300" dirty="0"/>
          </a:p>
        </p:txBody>
      </p:sp>
      <p:sp>
        <p:nvSpPr>
          <p:cNvPr id="35" name="Text 33"/>
          <p:cNvSpPr/>
          <p:nvPr/>
        </p:nvSpPr>
        <p:spPr>
          <a:xfrm>
            <a:off x="10342422" y="5229132"/>
            <a:ext cx="900253" cy="280941"/>
          </a:xfrm>
          <a:prstGeom prst="rect">
            <a:avLst/>
          </a:prstGeom>
          <a:noFill/>
          <a:ln w="19050">
            <a:solidFill>
              <a:srgbClr val="A72626"/>
            </a:solidFill>
            <a:prstDash val="solid"/>
          </a:ln>
        </p:spPr>
        <p:txBody>
          <a:bodyPr wrap="none" lIns="0" tIns="0" rIns="0" bIns="0" rtlCol="0" anchor="ctr">
            <a:normAutofit/>
          </a:bodyPr>
          <a:lstStyle/>
          <a:p>
            <a:pPr algn="ctr" indent="0" marL="0">
              <a:lnSpc>
                <a:spcPts val="1680"/>
              </a:lnSpc>
              <a:buNone/>
            </a:pPr>
            <a:r>
              <a:rPr lang="en-US" sz="1200" b="1" dirty="0">
                <a:solidFill>
                  <a:srgbClr val="A72626"/>
                </a:solidFill>
                <a:latin typeface="Courier Prime" pitchFamily="49" charset="0"/>
                <a:ea typeface="Courier Prime" pitchFamily="49" charset="-122"/>
                <a:cs typeface="Courier Prime" pitchFamily="49" charset="-120"/>
              </a:rPr>
              <a:t>[MEDIUM]</a:t>
            </a:r>
            <a:endParaRPr lang="en-US" sz="1200" dirty="0"/>
          </a:p>
        </p:txBody>
      </p:sp>
      <p:sp>
        <p:nvSpPr>
          <p:cNvPr id="36" name="Text 34"/>
          <p:cNvSpPr/>
          <p:nvPr/>
        </p:nvSpPr>
        <p:spPr>
          <a:xfrm>
            <a:off x="10155611" y="5583098"/>
            <a:ext cx="1274389"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919"/>
                </a:solidFill>
                <a:latin typeface="Courier Prime" pitchFamily="49" charset="0"/>
                <a:ea typeface="Courier Prime" pitchFamily="49" charset="-122"/>
                <a:cs typeface="Courier Prime" pitchFamily="49" charset="-120"/>
              </a:rPr>
              <a:t>PROOF: [REF]</a:t>
            </a:r>
            <a:endParaRPr lang="en-US" sz="1200" dirty="0"/>
          </a:p>
        </p:txBody>
      </p:sp>
      <p:sp>
        <p:nvSpPr>
          <p:cNvPr id="37" name="Text 35"/>
          <p:cNvSpPr/>
          <p:nvPr/>
        </p:nvSpPr>
        <p:spPr>
          <a:xfrm>
            <a:off x="7620000" y="88900"/>
            <a:ext cx="3937000" cy="266700"/>
          </a:xfrm>
          <a:custGeom>
            <a:avLst/>
            <a:gdLst/>
            <a:ahLst/>
            <a:cxnLst/>
            <a:rect l="l" t="t" r="r" b="b"/>
            <a:pathLst>
              <a:path w="3937000" h="266700">
                <a:moveTo>
                  <a:pt x="50800" y="0"/>
                </a:moveTo>
                <a:lnTo>
                  <a:pt x="3886200" y="0"/>
                </a:lnTo>
                <a:arcTo hR="50800" wR="50800" stAng="16200000" swAng="5400000"/>
                <a:lnTo>
                  <a:pt x="3937000" y="266700"/>
                </a:lnTo>
                <a:lnTo>
                  <a:pt x="0" y="266700"/>
                </a:lnTo>
                <a:lnTo>
                  <a:pt x="0" y="50800"/>
                </a:lnTo>
                <a:arcTo hR="50800" wR="50800" stAng="10800000" swAng="5400000"/>
                <a:close/>
              </a:path>
            </a:pathLst>
          </a:custGeom>
          <a:solidFill>
            <a:srgbClr val="E8E0D3"/>
          </a:solidFill>
          <a:ln/>
        </p:spPr>
        <p:txBody>
          <a:bodyPr wrap="square" lIns="127000" tIns="38100" rIns="16510" bIns="20357" rtlCol="0" anchor="t">
            <a:normAutofit/>
          </a:bodyPr>
          <a:lstStyle/>
          <a:p>
            <a:pPr algn="l" indent="0" marL="0">
              <a:lnSpc>
                <a:spcPts val="1440"/>
              </a:lnSpc>
              <a:buNone/>
            </a:pPr>
            <a:r>
              <a:rPr lang="en-US" sz="1200" b="1" dirty="0">
                <a:solidFill>
                  <a:srgbClr val="A72626"/>
                </a:solidFill>
                <a:latin typeface="Courier Prime" pitchFamily="49" charset="0"/>
                <a:ea typeface="Courier Prime" pitchFamily="49" charset="-122"/>
                <a:cs typeface="Courier Prime" pitchFamily="49" charset="-120"/>
              </a:rPr>
              <a:t>CASE FP-2026 · EVIDENCE 03 · 30.10.2026</a:t>
            </a:r>
            <a:endParaRPr lang="en-US" sz="1200" dirty="0"/>
          </a:p>
        </p:txBody>
      </p:sp>
      <p:sp>
        <p:nvSpPr>
          <p:cNvPr id="38" name="Text 36"/>
          <p:cNvSpPr/>
          <p:nvPr/>
        </p:nvSpPr>
        <p:spPr>
          <a:xfrm rot="360000">
            <a:off x="4019550" y="2210734"/>
            <a:ext cx="1739900" cy="463550"/>
          </a:xfrm>
          <a:prstGeom prst="rect">
            <a:avLst/>
          </a:prstGeom>
          <a:noFill/>
          <a:ln w="38100">
            <a:solidFill>
              <a:srgbClr val="A72626">
                <a:alpha val="90000"/>
              </a:srgbClr>
            </a:solidFill>
            <a:prstDash val="solid"/>
          </a:ln>
        </p:spPr>
        <p:txBody>
          <a:bodyPr wrap="square" lIns="0" tIns="67609" rIns="0" bIns="42209" rtlCol="0" anchor="t">
            <a:normAutofit/>
          </a:bodyPr>
          <a:lstStyle/>
          <a:p>
            <a:pPr algn="ctr" indent="0" marL="0">
              <a:lnSpc>
                <a:spcPts val="2600"/>
              </a:lnSpc>
              <a:buNone/>
            </a:pPr>
            <a:r>
              <a:rPr lang="en-US" sz="2600" dirty="0">
                <a:solidFill>
                  <a:srgbClr val="A72626">
                    <a:alpha val="90000"/>
                  </a:srgbClr>
                </a:solidFill>
                <a:latin typeface="Anton" pitchFamily="34" charset="0"/>
                <a:ea typeface="Anton" pitchFamily="34" charset="-122"/>
                <a:cs typeface="Anton" pitchFamily="34" charset="-120"/>
              </a:rPr>
              <a:t>[CRITICAL]</a:t>
            </a:r>
            <a:endParaRPr lang="en-US" sz="2600" dirty="0"/>
          </a:p>
        </p:txBody>
      </p:sp>
      <p:pic>
        <p:nvPicPr>
          <p:cNvPr id="39" name="Image 0" descr="Paper clip">    </p:cNvPr>
          <p:cNvPicPr>
            <a:picLocks noChangeAspect="1"/>
          </p:cNvPicPr>
          <p:nvPr/>
        </p:nvPicPr>
        <p:blipFill>
          <a:blip r:embed="rId1"/>
          <a:srcRect l="0" r="0" t="0" b="0"/>
          <a:stretch/>
        </p:blipFill>
        <p:spPr>
          <a:xfrm>
            <a:off x="952500" y="1905000"/>
            <a:ext cx="406400" cy="952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304800" y="304800"/>
            <a:ext cx="11582400" cy="6248400"/>
          </a:xfrm>
          <a:prstGeom prst="rect">
            <a:avLst/>
          </a:prstGeom>
          <a:gradFill rotWithShape="1">
            <a:gsLst>
              <a:gs pos="0">
                <a:srgbClr val="F5F0E5"/>
              </a:gs>
              <a:gs pos="50000">
                <a:srgbClr val="F1EBDF"/>
              </a:gs>
              <a:gs pos="100000">
                <a:srgbClr val="E8E0D3"/>
              </a:gs>
            </a:gsLst>
            <a:path path="circle">
              <a:fillToRect l="30000" t="20000" r="70000" b="80000"/>
            </a:path>
          </a:gradFill>
          <a:ln/>
          <a:effectLst>
            <a:outerShdw sx="100000" sy="100000" kx="0" ky="0" algn="bl" rotWithShape="0" blurRad="381000" dist="127000" dir="5400000">
              <a:srgbClr val="000000">
                <a:alpha val="60000"/>
              </a:srgbClr>
            </a:outerShdw>
          </a:effectLst>
        </p:spPr>
      </p:sp>
      <p:sp>
        <p:nvSpPr>
          <p:cNvPr id="3" name="Shape 1"/>
          <p:cNvSpPr/>
          <p:nvPr/>
        </p:nvSpPr>
        <p:spPr>
          <a:xfrm>
            <a:off x="762000" y="998304"/>
            <a:ext cx="10668000" cy="0"/>
          </a:xfrm>
          <a:prstGeom prst="line">
            <a:avLst/>
          </a:prstGeom>
          <a:noFill/>
          <a:ln w="19050">
            <a:solidFill>
              <a:srgbClr val="191919"/>
            </a:solidFill>
            <a:prstDash val="solid"/>
          </a:ln>
        </p:spPr>
      </p:sp>
      <p:sp>
        <p:nvSpPr>
          <p:cNvPr id="4" name="Text 2"/>
          <p:cNvSpPr/>
          <p:nvPr/>
        </p:nvSpPr>
        <p:spPr>
          <a:xfrm>
            <a:off x="762000" y="580839"/>
            <a:ext cx="1012218" cy="304800"/>
          </a:xfrm>
          <a:prstGeom prst="rect">
            <a:avLst/>
          </a:prstGeom>
          <a:noFill/>
          <a:ln/>
        </p:spPr>
        <p:txBody>
          <a:bodyPr wrap="square" lIns="0" tIns="0" rIns="0" bIns="0" rtlCol="0" anchor="t">
            <a:normAutofit/>
          </a:bodyPr>
          <a:lstStyle/>
          <a:p>
            <a:pPr algn="l" indent="0" marL="0">
              <a:lnSpc>
                <a:spcPts val="2200"/>
              </a:lnSpc>
              <a:buNone/>
            </a:pPr>
            <a:r>
              <a:rPr lang="en-US" sz="2200" spc="100" kern="0" dirty="0">
                <a:solidFill>
                  <a:srgbClr val="191919"/>
                </a:solidFill>
                <a:latin typeface="Anton" pitchFamily="34" charset="0"/>
                <a:ea typeface="Anton" pitchFamily="34" charset="-122"/>
                <a:cs typeface="Anton" pitchFamily="34" charset="-120"/>
              </a:rPr>
              <a:t>FILSPAY</a:t>
            </a:r>
            <a:endParaRPr lang="en-US" sz="2200" dirty="0"/>
          </a:p>
        </p:txBody>
      </p:sp>
      <p:sp>
        <p:nvSpPr>
          <p:cNvPr id="5" name="Text 3"/>
          <p:cNvSpPr/>
          <p:nvPr/>
        </p:nvSpPr>
        <p:spPr>
          <a:xfrm>
            <a:off x="1774218" y="700368"/>
            <a:ext cx="2631758"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919"/>
                </a:solidFill>
                <a:latin typeface="Courier Prime" pitchFamily="49" charset="0"/>
                <a:ea typeface="Courier Prime" pitchFamily="49" charset="-122"/>
                <a:cs typeface="Courier Prime" pitchFamily="49" charset="-120"/>
              </a:rPr>
              <a:t>THE HANDOVER / CASE FILE</a:t>
            </a:r>
            <a:endParaRPr lang="en-US" sz="1200" dirty="0"/>
          </a:p>
        </p:txBody>
      </p:sp>
      <p:sp>
        <p:nvSpPr>
          <p:cNvPr id="6" name="Text 4"/>
          <p:cNvSpPr/>
          <p:nvPr/>
        </p:nvSpPr>
        <p:spPr>
          <a:xfrm>
            <a:off x="6714733" y="700368"/>
            <a:ext cx="4715267" cy="238732"/>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A72626"/>
                </a:solidFill>
                <a:latin typeface="Courier Prime" pitchFamily="49" charset="0"/>
                <a:ea typeface="Courier Prime" pitchFamily="49" charset="-122"/>
                <a:cs typeface="Courier Prime" pitchFamily="49" charset="-120"/>
              </a:rPr>
              <a:t>CASE NO. FP-2026 · EVIDENCE 04 · 30.10.2026</a:t>
            </a:r>
            <a:endParaRPr lang="en-US" sz="1200" dirty="0"/>
          </a:p>
        </p:txBody>
      </p:sp>
      <p:sp>
        <p:nvSpPr>
          <p:cNvPr id="7" name="Text 5"/>
          <p:cNvSpPr/>
          <p:nvPr>
            <p:ph type="title"/>
          </p:nvPr>
        </p:nvSpPr>
        <p:spPr>
          <a:xfrm>
            <a:off x="762000" y="1185628"/>
            <a:ext cx="10988040" cy="1131654"/>
          </a:xfrm>
          <a:prstGeom prst="rect">
            <a:avLst/>
          </a:prstGeom>
          <a:noFill/>
          <a:ln/>
        </p:spPr>
        <p:txBody>
          <a:bodyPr wrap="square" lIns="0" tIns="0" rIns="0" bIns="0" rtlCol="0" anchor="t">
            <a:normAutofit/>
          </a:bodyPr>
          <a:lstStyle/>
          <a:p>
            <a:pPr algn="l" indent="0" marL="0">
              <a:lnSpc>
                <a:spcPts val="4359"/>
              </a:lnSpc>
              <a:buNone/>
            </a:pPr>
            <a:r>
              <a:rPr lang="en-US" sz="4359" b="0" i="0" dirty="0">
                <a:solidFill>
                  <a:srgbClr val="191919"/>
                </a:solidFill>
                <a:latin typeface="Anton" pitchFamily="34" charset="0"/>
                <a:ea typeface="Anton" pitchFamily="34" charset="-122"/>
                <a:cs typeface="Anton" pitchFamily="34" charset="-120"/>
              </a:rPr>
              <a:t>WE DIDN’T JUST FIND IT.</a:t>
            </a:r>
            <a:endParaRPr lang="en-US" sz="4359" dirty="0"/>
          </a:p>
          <a:p>
            <a:pPr algn="l" indent="0" marL="0">
              <a:lnSpc>
                <a:spcPts val="4359"/>
              </a:lnSpc>
              <a:buNone/>
            </a:pPr>
            <a:r>
              <a:rPr lang="en-US" sz="4359" b="0" i="0" dirty="0">
                <a:solidFill>
                  <a:srgbClr val="A72626"/>
                </a:solidFill>
                <a:latin typeface="Anton" pitchFamily="34" charset="0"/>
                <a:ea typeface="Anton" pitchFamily="34" charset="-122"/>
                <a:cs typeface="Anton" pitchFamily="34" charset="-120"/>
              </a:rPr>
              <a:t>WE FIXED IT.</a:t>
            </a:r>
            <a:endParaRPr lang="en-US" sz="4359" dirty="0"/>
          </a:p>
        </p:txBody>
      </p:sp>
      <p:sp>
        <p:nvSpPr>
          <p:cNvPr id="8" name="Shape 6"/>
          <p:cNvSpPr/>
          <p:nvPr/>
        </p:nvSpPr>
        <p:spPr>
          <a:xfrm>
            <a:off x="768350" y="2476033"/>
            <a:ext cx="2400300" cy="1149350"/>
          </a:xfrm>
          <a:prstGeom prst="rect">
            <a:avLst/>
          </a:prstGeom>
          <a:solidFill>
            <a:srgbClr val="E8E0D3"/>
          </a:solidFill>
          <a:ln w="12700">
            <a:solidFill>
              <a:srgbClr val="191919"/>
            </a:solidFill>
            <a:prstDash val="solid"/>
          </a:ln>
        </p:spPr>
      </p:sp>
      <p:sp>
        <p:nvSpPr>
          <p:cNvPr id="9" name="Text 7"/>
          <p:cNvSpPr/>
          <p:nvPr/>
        </p:nvSpPr>
        <p:spPr>
          <a:xfrm>
            <a:off x="913653" y="2702719"/>
            <a:ext cx="2172985"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72626"/>
                </a:solidFill>
                <a:latin typeface="Courier Prime" pitchFamily="49" charset="0"/>
                <a:ea typeface="Courier Prime" pitchFamily="49" charset="-122"/>
                <a:cs typeface="Courier Prime" pitchFamily="49" charset="-120"/>
              </a:rPr>
              <a:t>BEFORE 01</a:t>
            </a:r>
            <a:endParaRPr lang="en-US" sz="1200" dirty="0"/>
          </a:p>
        </p:txBody>
      </p:sp>
      <p:sp>
        <p:nvSpPr>
          <p:cNvPr id="10" name="Text 8"/>
          <p:cNvSpPr/>
          <p:nvPr/>
        </p:nvSpPr>
        <p:spPr>
          <a:xfrm>
            <a:off x="913653" y="2954151"/>
            <a:ext cx="2172985"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91919"/>
                </a:solidFill>
                <a:latin typeface="Public Sans" pitchFamily="34" charset="0"/>
                <a:ea typeface="Public Sans" pitchFamily="34" charset="-122"/>
                <a:cs typeface="Public Sans" pitchFamily="34" charset="-120"/>
              </a:rPr>
              <a:t>[What was broken: observed behavior]</a:t>
            </a:r>
            <a:endParaRPr lang="en-US" sz="1400" dirty="0"/>
          </a:p>
        </p:txBody>
      </p:sp>
      <p:pic>
        <p:nvPicPr>
          <p:cNvPr id="11" name="Image 0" descr="arrow-right">    </p:cNvPr>
          <p:cNvPicPr>
            <a:picLocks noChangeAspect="1"/>
          </p:cNvPicPr>
          <p:nvPr/>
        </p:nvPicPr>
        <p:blipFill>
          <a:blip r:embed="rId1"/>
          <a:srcRect l="0" r="0" t="0" b="0"/>
          <a:stretch/>
        </p:blipFill>
        <p:spPr>
          <a:xfrm>
            <a:off x="3213100" y="2961808"/>
            <a:ext cx="279400" cy="177800"/>
          </a:xfrm>
          <a:prstGeom prst="rect">
            <a:avLst/>
          </a:prstGeom>
        </p:spPr>
      </p:pic>
      <p:sp>
        <p:nvSpPr>
          <p:cNvPr id="12" name="Shape 9"/>
          <p:cNvSpPr/>
          <p:nvPr/>
        </p:nvSpPr>
        <p:spPr>
          <a:xfrm>
            <a:off x="3536950" y="2476033"/>
            <a:ext cx="2400300" cy="1149350"/>
          </a:xfrm>
          <a:prstGeom prst="rect">
            <a:avLst/>
          </a:prstGeom>
          <a:solidFill>
            <a:srgbClr val="FBF7EE"/>
          </a:solidFill>
          <a:ln w="12700">
            <a:solidFill>
              <a:srgbClr val="191919"/>
            </a:solidFill>
            <a:prstDash val="solid"/>
          </a:ln>
        </p:spPr>
      </p:sp>
      <p:sp>
        <p:nvSpPr>
          <p:cNvPr id="13" name="Text 10"/>
          <p:cNvSpPr/>
          <p:nvPr/>
        </p:nvSpPr>
        <p:spPr>
          <a:xfrm>
            <a:off x="3682253" y="2702719"/>
            <a:ext cx="2172985"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919"/>
                </a:solidFill>
                <a:latin typeface="Courier Prime" pitchFamily="49" charset="0"/>
                <a:ea typeface="Courier Prime" pitchFamily="49" charset="-122"/>
                <a:cs typeface="Courier Prime" pitchFamily="49" charset="-120"/>
              </a:rPr>
              <a:t>FIX 01</a:t>
            </a:r>
            <a:endParaRPr lang="en-US" sz="1200" dirty="0"/>
          </a:p>
        </p:txBody>
      </p:sp>
      <p:sp>
        <p:nvSpPr>
          <p:cNvPr id="14" name="Text 11"/>
          <p:cNvSpPr/>
          <p:nvPr/>
        </p:nvSpPr>
        <p:spPr>
          <a:xfrm>
            <a:off x="3682253" y="2954151"/>
            <a:ext cx="2172985"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91919"/>
                </a:solidFill>
                <a:latin typeface="Public Sans" pitchFamily="34" charset="0"/>
                <a:ea typeface="Public Sans" pitchFamily="34" charset="-122"/>
                <a:cs typeface="Public Sans" pitchFamily="34" charset="-120"/>
              </a:rPr>
              <a:t>[What changed: the fix made]</a:t>
            </a:r>
            <a:endParaRPr lang="en-US" sz="1400" dirty="0"/>
          </a:p>
        </p:txBody>
      </p:sp>
      <p:pic>
        <p:nvPicPr>
          <p:cNvPr id="15" name="Image 1" descr="arrow-right">    </p:cNvPr>
          <p:cNvPicPr>
            <a:picLocks noChangeAspect="1"/>
          </p:cNvPicPr>
          <p:nvPr/>
        </p:nvPicPr>
        <p:blipFill>
          <a:blip r:embed="rId2"/>
          <a:srcRect l="0" r="0" t="0" b="0"/>
          <a:stretch/>
        </p:blipFill>
        <p:spPr>
          <a:xfrm>
            <a:off x="5981700" y="2961808"/>
            <a:ext cx="279400" cy="177800"/>
          </a:xfrm>
          <a:prstGeom prst="rect">
            <a:avLst/>
          </a:prstGeom>
        </p:spPr>
      </p:pic>
      <p:sp>
        <p:nvSpPr>
          <p:cNvPr id="16" name="Shape 12"/>
          <p:cNvSpPr/>
          <p:nvPr/>
        </p:nvSpPr>
        <p:spPr>
          <a:xfrm>
            <a:off x="6308725" y="2479208"/>
            <a:ext cx="5111750" cy="1143000"/>
          </a:xfrm>
          <a:prstGeom prst="rect">
            <a:avLst/>
          </a:prstGeom>
          <a:solidFill>
            <a:srgbClr val="FBF7EE"/>
          </a:solidFill>
          <a:ln w="19050">
            <a:solidFill>
              <a:srgbClr val="A72626"/>
            </a:solidFill>
            <a:prstDash val="solid"/>
          </a:ln>
        </p:spPr>
      </p:sp>
      <p:sp>
        <p:nvSpPr>
          <p:cNvPr id="17" name="Text 13"/>
          <p:cNvSpPr/>
          <p:nvPr/>
        </p:nvSpPr>
        <p:spPr>
          <a:xfrm>
            <a:off x="6463180" y="2676058"/>
            <a:ext cx="1066800" cy="749300"/>
          </a:xfrm>
          <a:prstGeom prst="rect">
            <a:avLst/>
          </a:prstGeom>
          <a:solidFill>
            <a:srgbClr val="E3DACB"/>
          </a:solidFill>
          <a:ln w="12700">
            <a:solidFill>
              <a:srgbClr val="8A8173"/>
            </a:solidFill>
            <a:prstDash val="dash"/>
          </a:ln>
        </p:spPr>
        <p:txBody>
          <a:bodyPr wrap="square" lIns="5603" tIns="5603" rIns="5603" bIns="5603" rtlCol="0" anchor="ctr">
            <a:normAutofit/>
          </a:bodyPr>
          <a:lstStyle/>
          <a:p>
            <a:pPr algn="ctr" indent="0" marL="0">
              <a:lnSpc>
                <a:spcPts val="1680"/>
              </a:lnSpc>
              <a:buNone/>
            </a:pPr>
            <a:r>
              <a:rPr lang="en-US" sz="1200" dirty="0">
                <a:solidFill>
                  <a:srgbClr val="191919"/>
                </a:solidFill>
                <a:latin typeface="Courier Prime" pitchFamily="49" charset="0"/>
                <a:ea typeface="Courier Prime" pitchFamily="49" charset="-122"/>
                <a:cs typeface="Courier Prime" pitchFamily="49" charset="-120"/>
              </a:rPr>
              <a:t>[IMG]</a:t>
            </a:r>
            <a:endParaRPr lang="en-US" sz="1200" dirty="0"/>
          </a:p>
        </p:txBody>
      </p:sp>
      <p:sp>
        <p:nvSpPr>
          <p:cNvPr id="18" name="Text 14"/>
          <p:cNvSpPr/>
          <p:nvPr/>
        </p:nvSpPr>
        <p:spPr>
          <a:xfrm>
            <a:off x="7663329" y="2702719"/>
            <a:ext cx="2082187"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72626"/>
                </a:solidFill>
                <a:latin typeface="Courier Prime" pitchFamily="49" charset="0"/>
                <a:ea typeface="Courier Prime" pitchFamily="49" charset="-122"/>
                <a:cs typeface="Courier Prime" pitchFamily="49" charset="-120"/>
              </a:rPr>
              <a:t>PROOF 01</a:t>
            </a:r>
            <a:endParaRPr lang="en-US" sz="1200" dirty="0"/>
          </a:p>
        </p:txBody>
      </p:sp>
      <p:sp>
        <p:nvSpPr>
          <p:cNvPr id="19" name="Text 15"/>
          <p:cNvSpPr/>
          <p:nvPr/>
        </p:nvSpPr>
        <p:spPr>
          <a:xfrm>
            <a:off x="7663329" y="2954151"/>
            <a:ext cx="2082187"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91919"/>
                </a:solidFill>
                <a:latin typeface="Public Sans" pitchFamily="34" charset="0"/>
                <a:ea typeface="Public Sans" pitchFamily="34" charset="-122"/>
                <a:cs typeface="Public Sans" pitchFamily="34" charset="-120"/>
              </a:rPr>
              <a:t>[Test / log / query result]</a:t>
            </a:r>
            <a:endParaRPr lang="en-US" sz="1400" dirty="0"/>
          </a:p>
        </p:txBody>
      </p:sp>
      <p:sp>
        <p:nvSpPr>
          <p:cNvPr id="20" name="Shape 16"/>
          <p:cNvSpPr/>
          <p:nvPr/>
        </p:nvSpPr>
        <p:spPr>
          <a:xfrm>
            <a:off x="768350" y="3752383"/>
            <a:ext cx="2400300" cy="1149350"/>
          </a:xfrm>
          <a:prstGeom prst="rect">
            <a:avLst/>
          </a:prstGeom>
          <a:solidFill>
            <a:srgbClr val="E8E0D3"/>
          </a:solidFill>
          <a:ln w="12700">
            <a:solidFill>
              <a:srgbClr val="191919"/>
            </a:solidFill>
            <a:prstDash val="solid"/>
          </a:ln>
        </p:spPr>
      </p:sp>
      <p:sp>
        <p:nvSpPr>
          <p:cNvPr id="21" name="Text 17"/>
          <p:cNvSpPr/>
          <p:nvPr/>
        </p:nvSpPr>
        <p:spPr>
          <a:xfrm>
            <a:off x="913653" y="3979069"/>
            <a:ext cx="2172985"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72626"/>
                </a:solidFill>
                <a:latin typeface="Courier Prime" pitchFamily="49" charset="0"/>
                <a:ea typeface="Courier Prime" pitchFamily="49" charset="-122"/>
                <a:cs typeface="Courier Prime" pitchFamily="49" charset="-120"/>
              </a:rPr>
              <a:t>BEFORE 02</a:t>
            </a:r>
            <a:endParaRPr lang="en-US" sz="1200" dirty="0"/>
          </a:p>
        </p:txBody>
      </p:sp>
      <p:sp>
        <p:nvSpPr>
          <p:cNvPr id="22" name="Text 18"/>
          <p:cNvSpPr/>
          <p:nvPr/>
        </p:nvSpPr>
        <p:spPr>
          <a:xfrm>
            <a:off x="913653" y="4230501"/>
            <a:ext cx="2172985"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91919"/>
                </a:solidFill>
                <a:latin typeface="Public Sans" pitchFamily="34" charset="0"/>
                <a:ea typeface="Public Sans" pitchFamily="34" charset="-122"/>
                <a:cs typeface="Public Sans" pitchFamily="34" charset="-120"/>
              </a:rPr>
              <a:t>[What was broken: observed behavior]</a:t>
            </a:r>
            <a:endParaRPr lang="en-US" sz="1400" dirty="0"/>
          </a:p>
        </p:txBody>
      </p:sp>
      <p:pic>
        <p:nvPicPr>
          <p:cNvPr id="23" name="Image 2" descr="arrow-right">    </p:cNvPr>
          <p:cNvPicPr>
            <a:picLocks noChangeAspect="1"/>
          </p:cNvPicPr>
          <p:nvPr/>
        </p:nvPicPr>
        <p:blipFill>
          <a:blip r:embed="rId3"/>
          <a:srcRect l="0" r="0" t="0" b="0"/>
          <a:stretch/>
        </p:blipFill>
        <p:spPr>
          <a:xfrm>
            <a:off x="3213100" y="4238158"/>
            <a:ext cx="279400" cy="177800"/>
          </a:xfrm>
          <a:prstGeom prst="rect">
            <a:avLst/>
          </a:prstGeom>
        </p:spPr>
      </p:pic>
      <p:sp>
        <p:nvSpPr>
          <p:cNvPr id="24" name="Shape 19"/>
          <p:cNvSpPr/>
          <p:nvPr/>
        </p:nvSpPr>
        <p:spPr>
          <a:xfrm>
            <a:off x="3536950" y="3752383"/>
            <a:ext cx="2400300" cy="1149350"/>
          </a:xfrm>
          <a:prstGeom prst="rect">
            <a:avLst/>
          </a:prstGeom>
          <a:solidFill>
            <a:srgbClr val="FBF7EE"/>
          </a:solidFill>
          <a:ln w="12700">
            <a:solidFill>
              <a:srgbClr val="191919"/>
            </a:solidFill>
            <a:prstDash val="solid"/>
          </a:ln>
        </p:spPr>
      </p:sp>
      <p:sp>
        <p:nvSpPr>
          <p:cNvPr id="25" name="Text 20"/>
          <p:cNvSpPr/>
          <p:nvPr/>
        </p:nvSpPr>
        <p:spPr>
          <a:xfrm>
            <a:off x="3682253" y="3979069"/>
            <a:ext cx="2172985"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919"/>
                </a:solidFill>
                <a:latin typeface="Courier Prime" pitchFamily="49" charset="0"/>
                <a:ea typeface="Courier Prime" pitchFamily="49" charset="-122"/>
                <a:cs typeface="Courier Prime" pitchFamily="49" charset="-120"/>
              </a:rPr>
              <a:t>FIX 02</a:t>
            </a:r>
            <a:endParaRPr lang="en-US" sz="1200" dirty="0"/>
          </a:p>
        </p:txBody>
      </p:sp>
      <p:sp>
        <p:nvSpPr>
          <p:cNvPr id="26" name="Text 21"/>
          <p:cNvSpPr/>
          <p:nvPr/>
        </p:nvSpPr>
        <p:spPr>
          <a:xfrm>
            <a:off x="3682253" y="4230501"/>
            <a:ext cx="2172985"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91919"/>
                </a:solidFill>
                <a:latin typeface="Public Sans" pitchFamily="34" charset="0"/>
                <a:ea typeface="Public Sans" pitchFamily="34" charset="-122"/>
                <a:cs typeface="Public Sans" pitchFamily="34" charset="-120"/>
              </a:rPr>
              <a:t>[What changed: the fix made]</a:t>
            </a:r>
            <a:endParaRPr lang="en-US" sz="1400" dirty="0"/>
          </a:p>
        </p:txBody>
      </p:sp>
      <p:pic>
        <p:nvPicPr>
          <p:cNvPr id="27" name="Image 3" descr="arrow-right">    </p:cNvPr>
          <p:cNvPicPr>
            <a:picLocks noChangeAspect="1"/>
          </p:cNvPicPr>
          <p:nvPr/>
        </p:nvPicPr>
        <p:blipFill>
          <a:blip r:embed="rId4"/>
          <a:srcRect l="0" r="0" t="0" b="0"/>
          <a:stretch/>
        </p:blipFill>
        <p:spPr>
          <a:xfrm>
            <a:off x="5981700" y="4238158"/>
            <a:ext cx="279400" cy="177800"/>
          </a:xfrm>
          <a:prstGeom prst="rect">
            <a:avLst/>
          </a:prstGeom>
        </p:spPr>
      </p:pic>
      <p:sp>
        <p:nvSpPr>
          <p:cNvPr id="28" name="Shape 22"/>
          <p:cNvSpPr/>
          <p:nvPr/>
        </p:nvSpPr>
        <p:spPr>
          <a:xfrm>
            <a:off x="6308725" y="3755558"/>
            <a:ext cx="5111750" cy="1143000"/>
          </a:xfrm>
          <a:prstGeom prst="rect">
            <a:avLst/>
          </a:prstGeom>
          <a:solidFill>
            <a:srgbClr val="FBF7EE"/>
          </a:solidFill>
          <a:ln w="19050">
            <a:solidFill>
              <a:srgbClr val="A72626"/>
            </a:solidFill>
            <a:prstDash val="solid"/>
          </a:ln>
        </p:spPr>
      </p:sp>
      <p:sp>
        <p:nvSpPr>
          <p:cNvPr id="29" name="Text 23"/>
          <p:cNvSpPr/>
          <p:nvPr/>
        </p:nvSpPr>
        <p:spPr>
          <a:xfrm>
            <a:off x="6463180" y="3952408"/>
            <a:ext cx="1066800" cy="749300"/>
          </a:xfrm>
          <a:prstGeom prst="rect">
            <a:avLst/>
          </a:prstGeom>
          <a:solidFill>
            <a:srgbClr val="E3DACB"/>
          </a:solidFill>
          <a:ln w="12700">
            <a:solidFill>
              <a:srgbClr val="8A8173"/>
            </a:solidFill>
            <a:prstDash val="dash"/>
          </a:ln>
        </p:spPr>
        <p:txBody>
          <a:bodyPr wrap="square" lIns="5603" tIns="5603" rIns="5603" bIns="5603" rtlCol="0" anchor="ctr">
            <a:normAutofit/>
          </a:bodyPr>
          <a:lstStyle/>
          <a:p>
            <a:pPr algn="ctr" indent="0" marL="0">
              <a:lnSpc>
                <a:spcPts val="1680"/>
              </a:lnSpc>
              <a:buNone/>
            </a:pPr>
            <a:r>
              <a:rPr lang="en-US" sz="1200" dirty="0">
                <a:solidFill>
                  <a:srgbClr val="191919"/>
                </a:solidFill>
                <a:latin typeface="Courier Prime" pitchFamily="49" charset="0"/>
                <a:ea typeface="Courier Prime" pitchFamily="49" charset="-122"/>
                <a:cs typeface="Courier Prime" pitchFamily="49" charset="-120"/>
              </a:rPr>
              <a:t>[IMG]</a:t>
            </a:r>
            <a:endParaRPr lang="en-US" sz="1200" dirty="0"/>
          </a:p>
        </p:txBody>
      </p:sp>
      <p:sp>
        <p:nvSpPr>
          <p:cNvPr id="30" name="Text 24"/>
          <p:cNvSpPr/>
          <p:nvPr/>
        </p:nvSpPr>
        <p:spPr>
          <a:xfrm>
            <a:off x="7663329" y="3979069"/>
            <a:ext cx="2082187"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72626"/>
                </a:solidFill>
                <a:latin typeface="Courier Prime" pitchFamily="49" charset="0"/>
                <a:ea typeface="Courier Prime" pitchFamily="49" charset="-122"/>
                <a:cs typeface="Courier Prime" pitchFamily="49" charset="-120"/>
              </a:rPr>
              <a:t>PROOF 02</a:t>
            </a:r>
            <a:endParaRPr lang="en-US" sz="1200" dirty="0"/>
          </a:p>
        </p:txBody>
      </p:sp>
      <p:sp>
        <p:nvSpPr>
          <p:cNvPr id="31" name="Text 25"/>
          <p:cNvSpPr/>
          <p:nvPr/>
        </p:nvSpPr>
        <p:spPr>
          <a:xfrm>
            <a:off x="7663329" y="4230501"/>
            <a:ext cx="2082187"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91919"/>
                </a:solidFill>
                <a:latin typeface="Public Sans" pitchFamily="34" charset="0"/>
                <a:ea typeface="Public Sans" pitchFamily="34" charset="-122"/>
                <a:cs typeface="Public Sans" pitchFamily="34" charset="-120"/>
              </a:rPr>
              <a:t>[Test / log / query result]</a:t>
            </a:r>
            <a:endParaRPr lang="en-US" sz="1400" dirty="0"/>
          </a:p>
        </p:txBody>
      </p:sp>
      <p:sp>
        <p:nvSpPr>
          <p:cNvPr id="32" name="Shape 26"/>
          <p:cNvSpPr/>
          <p:nvPr/>
        </p:nvSpPr>
        <p:spPr>
          <a:xfrm>
            <a:off x="768350" y="5028733"/>
            <a:ext cx="2400300" cy="1149350"/>
          </a:xfrm>
          <a:prstGeom prst="rect">
            <a:avLst/>
          </a:prstGeom>
          <a:solidFill>
            <a:srgbClr val="E8E0D3"/>
          </a:solidFill>
          <a:ln w="12700">
            <a:solidFill>
              <a:srgbClr val="191919"/>
            </a:solidFill>
            <a:prstDash val="solid"/>
          </a:ln>
        </p:spPr>
      </p:sp>
      <p:sp>
        <p:nvSpPr>
          <p:cNvPr id="33" name="Text 27"/>
          <p:cNvSpPr/>
          <p:nvPr/>
        </p:nvSpPr>
        <p:spPr>
          <a:xfrm>
            <a:off x="913653" y="5255419"/>
            <a:ext cx="2172985"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72626"/>
                </a:solidFill>
                <a:latin typeface="Courier Prime" pitchFamily="49" charset="0"/>
                <a:ea typeface="Courier Prime" pitchFamily="49" charset="-122"/>
                <a:cs typeface="Courier Prime" pitchFamily="49" charset="-120"/>
              </a:rPr>
              <a:t>BEFORE 03</a:t>
            </a:r>
            <a:endParaRPr lang="en-US" sz="1200" dirty="0"/>
          </a:p>
        </p:txBody>
      </p:sp>
      <p:sp>
        <p:nvSpPr>
          <p:cNvPr id="34" name="Text 28"/>
          <p:cNvSpPr/>
          <p:nvPr/>
        </p:nvSpPr>
        <p:spPr>
          <a:xfrm>
            <a:off x="913653" y="5506851"/>
            <a:ext cx="2172985"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91919"/>
                </a:solidFill>
                <a:latin typeface="Public Sans" pitchFamily="34" charset="0"/>
                <a:ea typeface="Public Sans" pitchFamily="34" charset="-122"/>
                <a:cs typeface="Public Sans" pitchFamily="34" charset="-120"/>
              </a:rPr>
              <a:t>[What was broken: observed behavior]</a:t>
            </a:r>
            <a:endParaRPr lang="en-US" sz="1400" dirty="0"/>
          </a:p>
        </p:txBody>
      </p:sp>
      <p:pic>
        <p:nvPicPr>
          <p:cNvPr id="35" name="Image 4" descr="arrow-right">    </p:cNvPr>
          <p:cNvPicPr>
            <a:picLocks noChangeAspect="1"/>
          </p:cNvPicPr>
          <p:nvPr/>
        </p:nvPicPr>
        <p:blipFill>
          <a:blip r:embed="rId5"/>
          <a:srcRect l="0" r="0" t="0" b="0"/>
          <a:stretch/>
        </p:blipFill>
        <p:spPr>
          <a:xfrm>
            <a:off x="3213100" y="5514507"/>
            <a:ext cx="279400" cy="177800"/>
          </a:xfrm>
          <a:prstGeom prst="rect">
            <a:avLst/>
          </a:prstGeom>
        </p:spPr>
      </p:pic>
      <p:sp>
        <p:nvSpPr>
          <p:cNvPr id="36" name="Shape 29"/>
          <p:cNvSpPr/>
          <p:nvPr/>
        </p:nvSpPr>
        <p:spPr>
          <a:xfrm>
            <a:off x="3536950" y="5028733"/>
            <a:ext cx="2400300" cy="1149350"/>
          </a:xfrm>
          <a:prstGeom prst="rect">
            <a:avLst/>
          </a:prstGeom>
          <a:solidFill>
            <a:srgbClr val="FBF7EE"/>
          </a:solidFill>
          <a:ln w="12700">
            <a:solidFill>
              <a:srgbClr val="191919"/>
            </a:solidFill>
            <a:prstDash val="solid"/>
          </a:ln>
        </p:spPr>
      </p:sp>
      <p:sp>
        <p:nvSpPr>
          <p:cNvPr id="37" name="Text 30"/>
          <p:cNvSpPr/>
          <p:nvPr/>
        </p:nvSpPr>
        <p:spPr>
          <a:xfrm>
            <a:off x="3682253" y="5255419"/>
            <a:ext cx="2172985"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919"/>
                </a:solidFill>
                <a:latin typeface="Courier Prime" pitchFamily="49" charset="0"/>
                <a:ea typeface="Courier Prime" pitchFamily="49" charset="-122"/>
                <a:cs typeface="Courier Prime" pitchFamily="49" charset="-120"/>
              </a:rPr>
              <a:t>FIX 03</a:t>
            </a:r>
            <a:endParaRPr lang="en-US" sz="1200" dirty="0"/>
          </a:p>
        </p:txBody>
      </p:sp>
      <p:sp>
        <p:nvSpPr>
          <p:cNvPr id="38" name="Text 31"/>
          <p:cNvSpPr/>
          <p:nvPr/>
        </p:nvSpPr>
        <p:spPr>
          <a:xfrm>
            <a:off x="3682253" y="5506851"/>
            <a:ext cx="2172985"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91919"/>
                </a:solidFill>
                <a:latin typeface="Public Sans" pitchFamily="34" charset="0"/>
                <a:ea typeface="Public Sans" pitchFamily="34" charset="-122"/>
                <a:cs typeface="Public Sans" pitchFamily="34" charset="-120"/>
              </a:rPr>
              <a:t>[What changed: the fix made]</a:t>
            </a:r>
            <a:endParaRPr lang="en-US" sz="1400" dirty="0"/>
          </a:p>
        </p:txBody>
      </p:sp>
      <p:pic>
        <p:nvPicPr>
          <p:cNvPr id="39" name="Image 5" descr="arrow-right">    </p:cNvPr>
          <p:cNvPicPr>
            <a:picLocks noChangeAspect="1"/>
          </p:cNvPicPr>
          <p:nvPr/>
        </p:nvPicPr>
        <p:blipFill>
          <a:blip r:embed="rId6"/>
          <a:srcRect l="0" r="0" t="0" b="0"/>
          <a:stretch/>
        </p:blipFill>
        <p:spPr>
          <a:xfrm>
            <a:off x="5981700" y="5514507"/>
            <a:ext cx="279400" cy="177800"/>
          </a:xfrm>
          <a:prstGeom prst="rect">
            <a:avLst/>
          </a:prstGeom>
        </p:spPr>
      </p:pic>
      <p:sp>
        <p:nvSpPr>
          <p:cNvPr id="40" name="Shape 32"/>
          <p:cNvSpPr/>
          <p:nvPr/>
        </p:nvSpPr>
        <p:spPr>
          <a:xfrm>
            <a:off x="6308725" y="5031908"/>
            <a:ext cx="5111750" cy="1143000"/>
          </a:xfrm>
          <a:prstGeom prst="rect">
            <a:avLst/>
          </a:prstGeom>
          <a:solidFill>
            <a:srgbClr val="FBF7EE"/>
          </a:solidFill>
          <a:ln w="19050">
            <a:solidFill>
              <a:srgbClr val="A72626"/>
            </a:solidFill>
            <a:prstDash val="solid"/>
          </a:ln>
        </p:spPr>
      </p:sp>
      <p:sp>
        <p:nvSpPr>
          <p:cNvPr id="41" name="Text 33"/>
          <p:cNvSpPr/>
          <p:nvPr/>
        </p:nvSpPr>
        <p:spPr>
          <a:xfrm>
            <a:off x="6463180" y="5228758"/>
            <a:ext cx="1066800" cy="749300"/>
          </a:xfrm>
          <a:prstGeom prst="rect">
            <a:avLst/>
          </a:prstGeom>
          <a:solidFill>
            <a:srgbClr val="E3DACB"/>
          </a:solidFill>
          <a:ln w="12700">
            <a:solidFill>
              <a:srgbClr val="8A8173"/>
            </a:solidFill>
            <a:prstDash val="dash"/>
          </a:ln>
        </p:spPr>
        <p:txBody>
          <a:bodyPr wrap="square" lIns="5603" tIns="5603" rIns="5603" bIns="5603" rtlCol="0" anchor="ctr">
            <a:normAutofit/>
          </a:bodyPr>
          <a:lstStyle/>
          <a:p>
            <a:pPr algn="ctr" indent="0" marL="0">
              <a:lnSpc>
                <a:spcPts val="1680"/>
              </a:lnSpc>
              <a:buNone/>
            </a:pPr>
            <a:r>
              <a:rPr lang="en-US" sz="1200" dirty="0">
                <a:solidFill>
                  <a:srgbClr val="191919"/>
                </a:solidFill>
                <a:latin typeface="Courier Prime" pitchFamily="49" charset="0"/>
                <a:ea typeface="Courier Prime" pitchFamily="49" charset="-122"/>
                <a:cs typeface="Courier Prime" pitchFamily="49" charset="-120"/>
              </a:rPr>
              <a:t>[IMG]</a:t>
            </a:r>
            <a:endParaRPr lang="en-US" sz="1200" dirty="0"/>
          </a:p>
        </p:txBody>
      </p:sp>
      <p:sp>
        <p:nvSpPr>
          <p:cNvPr id="42" name="Text 34"/>
          <p:cNvSpPr/>
          <p:nvPr/>
        </p:nvSpPr>
        <p:spPr>
          <a:xfrm>
            <a:off x="7663329" y="5255419"/>
            <a:ext cx="2082187"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72626"/>
                </a:solidFill>
                <a:latin typeface="Courier Prime" pitchFamily="49" charset="0"/>
                <a:ea typeface="Courier Prime" pitchFamily="49" charset="-122"/>
                <a:cs typeface="Courier Prime" pitchFamily="49" charset="-120"/>
              </a:rPr>
              <a:t>PROOF 03</a:t>
            </a:r>
            <a:endParaRPr lang="en-US" sz="1200" dirty="0"/>
          </a:p>
        </p:txBody>
      </p:sp>
      <p:sp>
        <p:nvSpPr>
          <p:cNvPr id="43" name="Text 35"/>
          <p:cNvSpPr/>
          <p:nvPr/>
        </p:nvSpPr>
        <p:spPr>
          <a:xfrm>
            <a:off x="7663329" y="5506851"/>
            <a:ext cx="2082187"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91919"/>
                </a:solidFill>
                <a:latin typeface="Public Sans" pitchFamily="34" charset="0"/>
                <a:ea typeface="Public Sans" pitchFamily="34" charset="-122"/>
                <a:cs typeface="Public Sans" pitchFamily="34" charset="-120"/>
              </a:rPr>
              <a:t>[Test / log / query result]</a:t>
            </a:r>
            <a:endParaRPr lang="en-US" sz="1400" dirty="0"/>
          </a:p>
        </p:txBody>
      </p:sp>
      <p:sp>
        <p:nvSpPr>
          <p:cNvPr id="44" name="Text 36"/>
          <p:cNvSpPr/>
          <p:nvPr/>
        </p:nvSpPr>
        <p:spPr>
          <a:xfrm rot="21120000">
            <a:off x="9921875" y="2607983"/>
            <a:ext cx="1428750" cy="406400"/>
          </a:xfrm>
          <a:prstGeom prst="rect">
            <a:avLst/>
          </a:prstGeom>
          <a:noFill/>
          <a:ln w="31750">
            <a:solidFill>
              <a:srgbClr val="A72626">
                <a:alpha val="90000"/>
              </a:srgbClr>
            </a:solidFill>
            <a:prstDash val="solid"/>
          </a:ln>
        </p:spPr>
        <p:txBody>
          <a:bodyPr wrap="square" lIns="0" tIns="64807" rIns="0" bIns="39407" rtlCol="0" anchor="t">
            <a:normAutofit/>
          </a:bodyPr>
          <a:lstStyle/>
          <a:p>
            <a:pPr algn="ctr" indent="0" marL="0">
              <a:lnSpc>
                <a:spcPts val="2200"/>
              </a:lnSpc>
              <a:buNone/>
            </a:pPr>
            <a:r>
              <a:rPr lang="en-US" sz="2200" dirty="0">
                <a:solidFill>
                  <a:srgbClr val="A72626">
                    <a:alpha val="90000"/>
                  </a:srgbClr>
                </a:solidFill>
                <a:latin typeface="Anton" pitchFamily="34" charset="0"/>
                <a:ea typeface="Anton" pitchFamily="34" charset="-122"/>
                <a:cs typeface="Anton" pitchFamily="34" charset="-120"/>
              </a:rPr>
              <a:t>VERIFIED</a:t>
            </a:r>
            <a:endParaRPr lang="en-US" sz="2200" dirty="0"/>
          </a:p>
        </p:txBody>
      </p:sp>
      <p:sp>
        <p:nvSpPr>
          <p:cNvPr id="45" name="Text 37"/>
          <p:cNvSpPr/>
          <p:nvPr/>
        </p:nvSpPr>
        <p:spPr>
          <a:xfrm rot="21120000">
            <a:off x="9921875" y="3884333"/>
            <a:ext cx="1428750" cy="406400"/>
          </a:xfrm>
          <a:prstGeom prst="rect">
            <a:avLst/>
          </a:prstGeom>
          <a:noFill/>
          <a:ln w="31750">
            <a:solidFill>
              <a:srgbClr val="A72626">
                <a:alpha val="90000"/>
              </a:srgbClr>
            </a:solidFill>
            <a:prstDash val="solid"/>
          </a:ln>
        </p:spPr>
        <p:txBody>
          <a:bodyPr wrap="square" lIns="0" tIns="64807" rIns="0" bIns="39407" rtlCol="0" anchor="t">
            <a:normAutofit/>
          </a:bodyPr>
          <a:lstStyle/>
          <a:p>
            <a:pPr algn="ctr" indent="0" marL="0">
              <a:lnSpc>
                <a:spcPts val="2200"/>
              </a:lnSpc>
              <a:buNone/>
            </a:pPr>
            <a:r>
              <a:rPr lang="en-US" sz="2200" dirty="0">
                <a:solidFill>
                  <a:srgbClr val="A72626">
                    <a:alpha val="90000"/>
                  </a:srgbClr>
                </a:solidFill>
                <a:latin typeface="Anton" pitchFamily="34" charset="0"/>
                <a:ea typeface="Anton" pitchFamily="34" charset="-122"/>
                <a:cs typeface="Anton" pitchFamily="34" charset="-120"/>
              </a:rPr>
              <a:t>VERIFIED</a:t>
            </a:r>
            <a:endParaRPr lang="en-US" sz="2200" dirty="0"/>
          </a:p>
        </p:txBody>
      </p:sp>
      <p:sp>
        <p:nvSpPr>
          <p:cNvPr id="46" name="Text 38"/>
          <p:cNvSpPr/>
          <p:nvPr/>
        </p:nvSpPr>
        <p:spPr>
          <a:xfrm rot="21120000">
            <a:off x="9921875" y="5160683"/>
            <a:ext cx="1428750" cy="406400"/>
          </a:xfrm>
          <a:prstGeom prst="rect">
            <a:avLst/>
          </a:prstGeom>
          <a:noFill/>
          <a:ln w="31750">
            <a:solidFill>
              <a:srgbClr val="A72626">
                <a:alpha val="90000"/>
              </a:srgbClr>
            </a:solidFill>
            <a:prstDash val="solid"/>
          </a:ln>
        </p:spPr>
        <p:txBody>
          <a:bodyPr wrap="square" lIns="0" tIns="64807" rIns="0" bIns="39407" rtlCol="0" anchor="t">
            <a:normAutofit/>
          </a:bodyPr>
          <a:lstStyle/>
          <a:p>
            <a:pPr algn="ctr" indent="0" marL="0">
              <a:lnSpc>
                <a:spcPts val="2200"/>
              </a:lnSpc>
              <a:buNone/>
            </a:pPr>
            <a:r>
              <a:rPr lang="en-US" sz="2200" dirty="0">
                <a:solidFill>
                  <a:srgbClr val="A72626">
                    <a:alpha val="90000"/>
                  </a:srgbClr>
                </a:solidFill>
                <a:latin typeface="Anton" pitchFamily="34" charset="0"/>
                <a:ea typeface="Anton" pitchFamily="34" charset="-122"/>
                <a:cs typeface="Anton" pitchFamily="34" charset="-120"/>
              </a:rPr>
              <a:t>VERIFIED</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304800" y="304800"/>
            <a:ext cx="11582400" cy="6248400"/>
          </a:xfrm>
          <a:prstGeom prst="rect">
            <a:avLst/>
          </a:prstGeom>
          <a:gradFill rotWithShape="1">
            <a:gsLst>
              <a:gs pos="0">
                <a:srgbClr val="F5F0E5"/>
              </a:gs>
              <a:gs pos="50000">
                <a:srgbClr val="F1EBDF"/>
              </a:gs>
              <a:gs pos="100000">
                <a:srgbClr val="E8E0D3"/>
              </a:gs>
            </a:gsLst>
            <a:path path="circle">
              <a:fillToRect l="30000" t="20000" r="70000" b="80000"/>
            </a:path>
          </a:gradFill>
          <a:ln/>
          <a:effectLst>
            <a:outerShdw sx="100000" sy="100000" kx="0" ky="0" algn="bl" rotWithShape="0" blurRad="381000" dist="127000" dir="5400000">
              <a:srgbClr val="000000">
                <a:alpha val="60000"/>
              </a:srgbClr>
            </a:outerShdw>
          </a:effectLst>
        </p:spPr>
      </p:sp>
      <p:sp>
        <p:nvSpPr>
          <p:cNvPr id="3" name="Shape 1"/>
          <p:cNvSpPr/>
          <p:nvPr/>
        </p:nvSpPr>
        <p:spPr>
          <a:xfrm>
            <a:off x="762000" y="1001666"/>
            <a:ext cx="10668000" cy="0"/>
          </a:xfrm>
          <a:prstGeom prst="line">
            <a:avLst/>
          </a:prstGeom>
          <a:noFill/>
          <a:ln w="19050">
            <a:solidFill>
              <a:srgbClr val="191919"/>
            </a:solidFill>
            <a:prstDash val="solid"/>
          </a:ln>
        </p:spPr>
      </p:sp>
      <p:sp>
        <p:nvSpPr>
          <p:cNvPr id="4" name="Text 2"/>
          <p:cNvSpPr/>
          <p:nvPr/>
        </p:nvSpPr>
        <p:spPr>
          <a:xfrm>
            <a:off x="762000" y="584200"/>
            <a:ext cx="1012218" cy="304800"/>
          </a:xfrm>
          <a:prstGeom prst="rect">
            <a:avLst/>
          </a:prstGeom>
          <a:noFill/>
          <a:ln/>
        </p:spPr>
        <p:txBody>
          <a:bodyPr wrap="square" lIns="0" tIns="0" rIns="0" bIns="0" rtlCol="0" anchor="t">
            <a:normAutofit/>
          </a:bodyPr>
          <a:lstStyle/>
          <a:p>
            <a:pPr algn="l" indent="0" marL="0">
              <a:lnSpc>
                <a:spcPts val="2200"/>
              </a:lnSpc>
              <a:buNone/>
            </a:pPr>
            <a:r>
              <a:rPr lang="en-US" sz="2200" spc="100" kern="0" dirty="0">
                <a:solidFill>
                  <a:srgbClr val="191919"/>
                </a:solidFill>
                <a:latin typeface="Anton" pitchFamily="34" charset="0"/>
                <a:ea typeface="Anton" pitchFamily="34" charset="-122"/>
                <a:cs typeface="Anton" pitchFamily="34" charset="-120"/>
              </a:rPr>
              <a:t>FILSPAY</a:t>
            </a:r>
            <a:endParaRPr lang="en-US" sz="2200" dirty="0"/>
          </a:p>
        </p:txBody>
      </p:sp>
      <p:sp>
        <p:nvSpPr>
          <p:cNvPr id="5" name="Text 3"/>
          <p:cNvSpPr/>
          <p:nvPr/>
        </p:nvSpPr>
        <p:spPr>
          <a:xfrm>
            <a:off x="1774218" y="703731"/>
            <a:ext cx="2631758"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919"/>
                </a:solidFill>
                <a:latin typeface="Courier Prime" pitchFamily="49" charset="0"/>
                <a:ea typeface="Courier Prime" pitchFamily="49" charset="-122"/>
                <a:cs typeface="Courier Prime" pitchFamily="49" charset="-120"/>
              </a:rPr>
              <a:t>THE HANDOVER / CASE FILE</a:t>
            </a:r>
            <a:endParaRPr lang="en-US" sz="1200" dirty="0"/>
          </a:p>
        </p:txBody>
      </p:sp>
      <p:sp>
        <p:nvSpPr>
          <p:cNvPr id="6" name="Text 4"/>
          <p:cNvSpPr/>
          <p:nvPr>
            <p:ph type="title"/>
          </p:nvPr>
        </p:nvSpPr>
        <p:spPr>
          <a:xfrm>
            <a:off x="762000" y="1188991"/>
            <a:ext cx="10988040" cy="772132"/>
          </a:xfrm>
          <a:prstGeom prst="rect">
            <a:avLst/>
          </a:prstGeom>
          <a:noFill/>
          <a:ln/>
        </p:spPr>
        <p:txBody>
          <a:bodyPr wrap="square" lIns="0" tIns="0" rIns="0" bIns="0" rtlCol="0" anchor="t">
            <a:normAutofit/>
          </a:bodyPr>
          <a:lstStyle/>
          <a:p>
            <a:pPr algn="l" indent="0" marL="0">
              <a:lnSpc>
                <a:spcPts val="5880"/>
              </a:lnSpc>
              <a:buNone/>
            </a:pPr>
            <a:r>
              <a:rPr lang="en-US" sz="5600" b="0" i="0" dirty="0">
                <a:solidFill>
                  <a:srgbClr val="191919"/>
                </a:solidFill>
                <a:latin typeface="Anton" pitchFamily="34" charset="0"/>
                <a:ea typeface="Anton" pitchFamily="34" charset="-122"/>
                <a:cs typeface="Anton" pitchFamily="34" charset="-120"/>
              </a:rPr>
              <a:t>CASE REPRODUCTION</a:t>
            </a:r>
            <a:endParaRPr lang="en-US" sz="5600" dirty="0"/>
          </a:p>
        </p:txBody>
      </p:sp>
      <p:sp>
        <p:nvSpPr>
          <p:cNvPr id="7" name="Text 5"/>
          <p:cNvSpPr/>
          <p:nvPr/>
        </p:nvSpPr>
        <p:spPr>
          <a:xfrm>
            <a:off x="762000" y="1961124"/>
            <a:ext cx="10988040" cy="309843"/>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3633"/>
                </a:solidFill>
                <a:latin typeface="Public Sans" pitchFamily="34" charset="0"/>
                <a:ea typeface="Public Sans" pitchFamily="34" charset="-122"/>
                <a:cs typeface="Public Sans" pitchFamily="34" charset="-120"/>
              </a:rPr>
              <a:t>Live end-to-end proof.</a:t>
            </a:r>
            <a:endParaRPr lang="en-US" sz="1600" dirty="0"/>
          </a:p>
        </p:txBody>
      </p:sp>
      <p:sp>
        <p:nvSpPr>
          <p:cNvPr id="8" name="Shape 6"/>
          <p:cNvSpPr/>
          <p:nvPr/>
        </p:nvSpPr>
        <p:spPr>
          <a:xfrm>
            <a:off x="762000" y="3039549"/>
            <a:ext cx="4826000" cy="0"/>
          </a:xfrm>
          <a:prstGeom prst="line">
            <a:avLst/>
          </a:prstGeom>
          <a:noFill/>
          <a:ln w="12700">
            <a:solidFill>
              <a:srgbClr val="8A8173"/>
            </a:solidFill>
            <a:prstDash val="sysDot"/>
          </a:ln>
        </p:spPr>
      </p:sp>
      <p:sp>
        <p:nvSpPr>
          <p:cNvPr id="9" name="Shape 7"/>
          <p:cNvSpPr/>
          <p:nvPr/>
        </p:nvSpPr>
        <p:spPr>
          <a:xfrm>
            <a:off x="771525" y="2611158"/>
            <a:ext cx="234950" cy="234950"/>
          </a:xfrm>
          <a:prstGeom prst="rect">
            <a:avLst/>
          </a:prstGeom>
          <a:noFill/>
          <a:ln w="19050">
            <a:solidFill>
              <a:srgbClr val="191919"/>
            </a:solidFill>
            <a:prstDash val="solid"/>
          </a:ln>
        </p:spPr>
      </p:sp>
      <p:sp>
        <p:nvSpPr>
          <p:cNvPr id="10" name="Text 8"/>
          <p:cNvSpPr/>
          <p:nvPr/>
        </p:nvSpPr>
        <p:spPr>
          <a:xfrm>
            <a:off x="1130300" y="2604201"/>
            <a:ext cx="264039" cy="27431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72626"/>
                </a:solidFill>
                <a:latin typeface="Courier Prime" pitchFamily="49" charset="0"/>
                <a:ea typeface="Courier Prime" pitchFamily="49" charset="-122"/>
                <a:cs typeface="Courier Prime" pitchFamily="49" charset="-120"/>
              </a:rPr>
              <a:t>01</a:t>
            </a:r>
            <a:endParaRPr lang="en-US" sz="1400" dirty="0"/>
          </a:p>
        </p:txBody>
      </p:sp>
      <p:sp>
        <p:nvSpPr>
          <p:cNvPr id="11" name="Text 9"/>
          <p:cNvSpPr/>
          <p:nvPr/>
        </p:nvSpPr>
        <p:spPr>
          <a:xfrm>
            <a:off x="1457839" y="2568622"/>
            <a:ext cx="2505971" cy="345421"/>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91919"/>
                </a:solidFill>
                <a:latin typeface="Public Sans" pitchFamily="34" charset="0"/>
                <a:ea typeface="Public Sans" pitchFamily="34" charset="-122"/>
                <a:cs typeface="Public Sans" pitchFamily="34" charset="-120"/>
              </a:rPr>
              <a:t>CREATE PAYMENT</a:t>
            </a:r>
            <a:endParaRPr lang="en-US" sz="1800" dirty="0"/>
          </a:p>
        </p:txBody>
      </p:sp>
      <p:sp>
        <p:nvSpPr>
          <p:cNvPr id="12" name="Shape 10"/>
          <p:cNvSpPr/>
          <p:nvPr/>
        </p:nvSpPr>
        <p:spPr>
          <a:xfrm>
            <a:off x="762000" y="3662128"/>
            <a:ext cx="4826000" cy="0"/>
          </a:xfrm>
          <a:prstGeom prst="line">
            <a:avLst/>
          </a:prstGeom>
          <a:noFill/>
          <a:ln w="12700">
            <a:solidFill>
              <a:srgbClr val="8A8173"/>
            </a:solidFill>
            <a:prstDash val="sysDot"/>
          </a:ln>
        </p:spPr>
      </p:sp>
      <p:sp>
        <p:nvSpPr>
          <p:cNvPr id="13" name="Shape 11"/>
          <p:cNvSpPr/>
          <p:nvPr/>
        </p:nvSpPr>
        <p:spPr>
          <a:xfrm>
            <a:off x="771525" y="3233738"/>
            <a:ext cx="234950" cy="234950"/>
          </a:xfrm>
          <a:prstGeom prst="rect">
            <a:avLst/>
          </a:prstGeom>
          <a:noFill/>
          <a:ln w="19050">
            <a:solidFill>
              <a:srgbClr val="191919"/>
            </a:solidFill>
            <a:prstDash val="solid"/>
          </a:ln>
        </p:spPr>
      </p:sp>
      <p:sp>
        <p:nvSpPr>
          <p:cNvPr id="14" name="Text 12"/>
          <p:cNvSpPr/>
          <p:nvPr/>
        </p:nvSpPr>
        <p:spPr>
          <a:xfrm>
            <a:off x="1130300" y="3226733"/>
            <a:ext cx="264039" cy="27431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72626"/>
                </a:solidFill>
                <a:latin typeface="Courier Prime" pitchFamily="49" charset="0"/>
                <a:ea typeface="Courier Prime" pitchFamily="49" charset="-122"/>
                <a:cs typeface="Courier Prime" pitchFamily="49" charset="-120"/>
              </a:rPr>
              <a:t>02</a:t>
            </a:r>
            <a:endParaRPr lang="en-US" sz="1400" dirty="0"/>
          </a:p>
        </p:txBody>
      </p:sp>
      <p:sp>
        <p:nvSpPr>
          <p:cNvPr id="15" name="Text 13"/>
          <p:cNvSpPr/>
          <p:nvPr/>
        </p:nvSpPr>
        <p:spPr>
          <a:xfrm>
            <a:off x="1457839" y="3191201"/>
            <a:ext cx="2948044" cy="345421"/>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91919"/>
                </a:solidFill>
                <a:latin typeface="Public Sans" pitchFamily="34" charset="0"/>
                <a:ea typeface="Public Sans" pitchFamily="34" charset="-122"/>
                <a:cs typeface="Public Sans" pitchFamily="34" charset="-120"/>
              </a:rPr>
              <a:t>COMPLETE PAYMENT</a:t>
            </a:r>
            <a:endParaRPr lang="en-US" sz="1800" dirty="0"/>
          </a:p>
        </p:txBody>
      </p:sp>
      <p:sp>
        <p:nvSpPr>
          <p:cNvPr id="16" name="Shape 14"/>
          <p:cNvSpPr/>
          <p:nvPr/>
        </p:nvSpPr>
        <p:spPr>
          <a:xfrm>
            <a:off x="762000" y="4284663"/>
            <a:ext cx="4826000" cy="0"/>
          </a:xfrm>
          <a:prstGeom prst="line">
            <a:avLst/>
          </a:prstGeom>
          <a:noFill/>
          <a:ln w="12700">
            <a:solidFill>
              <a:srgbClr val="8A8173"/>
            </a:solidFill>
            <a:prstDash val="sysDot"/>
          </a:ln>
        </p:spPr>
      </p:sp>
      <p:sp>
        <p:nvSpPr>
          <p:cNvPr id="17" name="Shape 15"/>
          <p:cNvSpPr/>
          <p:nvPr/>
        </p:nvSpPr>
        <p:spPr>
          <a:xfrm>
            <a:off x="771525" y="3856270"/>
            <a:ext cx="234950" cy="234950"/>
          </a:xfrm>
          <a:prstGeom prst="rect">
            <a:avLst/>
          </a:prstGeom>
          <a:noFill/>
          <a:ln w="19050">
            <a:solidFill>
              <a:srgbClr val="191919"/>
            </a:solidFill>
            <a:prstDash val="solid"/>
          </a:ln>
        </p:spPr>
      </p:sp>
      <p:sp>
        <p:nvSpPr>
          <p:cNvPr id="18" name="Text 16"/>
          <p:cNvSpPr/>
          <p:nvPr/>
        </p:nvSpPr>
        <p:spPr>
          <a:xfrm>
            <a:off x="1130300" y="3849315"/>
            <a:ext cx="264039" cy="27431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72626"/>
                </a:solidFill>
                <a:latin typeface="Courier Prime" pitchFamily="49" charset="0"/>
                <a:ea typeface="Courier Prime" pitchFamily="49" charset="-122"/>
                <a:cs typeface="Courier Prime" pitchFamily="49" charset="-120"/>
              </a:rPr>
              <a:t>03</a:t>
            </a:r>
            <a:endParaRPr lang="en-US" sz="1400" dirty="0"/>
          </a:p>
        </p:txBody>
      </p:sp>
      <p:sp>
        <p:nvSpPr>
          <p:cNvPr id="19" name="Text 17"/>
          <p:cNvSpPr/>
          <p:nvPr/>
        </p:nvSpPr>
        <p:spPr>
          <a:xfrm>
            <a:off x="1457839" y="3813736"/>
            <a:ext cx="1910155" cy="345421"/>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91919"/>
                </a:solidFill>
                <a:latin typeface="Public Sans" pitchFamily="34" charset="0"/>
                <a:ea typeface="Public Sans" pitchFamily="34" charset="-122"/>
                <a:cs typeface="Public Sans" pitchFamily="34" charset="-120"/>
              </a:rPr>
              <a:t>FULL REFUND</a:t>
            </a:r>
            <a:endParaRPr lang="en-US" sz="1800" dirty="0"/>
          </a:p>
        </p:txBody>
      </p:sp>
      <p:sp>
        <p:nvSpPr>
          <p:cNvPr id="20" name="Shape 18"/>
          <p:cNvSpPr/>
          <p:nvPr/>
        </p:nvSpPr>
        <p:spPr>
          <a:xfrm>
            <a:off x="762000" y="4907243"/>
            <a:ext cx="4826000" cy="0"/>
          </a:xfrm>
          <a:prstGeom prst="line">
            <a:avLst/>
          </a:prstGeom>
          <a:noFill/>
          <a:ln w="12700">
            <a:solidFill>
              <a:srgbClr val="8A8173"/>
            </a:solidFill>
            <a:prstDash val="sysDot"/>
          </a:ln>
        </p:spPr>
      </p:sp>
      <p:sp>
        <p:nvSpPr>
          <p:cNvPr id="21" name="Shape 19"/>
          <p:cNvSpPr/>
          <p:nvPr/>
        </p:nvSpPr>
        <p:spPr>
          <a:xfrm>
            <a:off x="771525" y="4478852"/>
            <a:ext cx="234950" cy="234950"/>
          </a:xfrm>
          <a:prstGeom prst="rect">
            <a:avLst/>
          </a:prstGeom>
          <a:noFill/>
          <a:ln w="19050">
            <a:solidFill>
              <a:srgbClr val="191919"/>
            </a:solidFill>
            <a:prstDash val="solid"/>
          </a:ln>
        </p:spPr>
      </p:sp>
      <p:sp>
        <p:nvSpPr>
          <p:cNvPr id="22" name="Text 20"/>
          <p:cNvSpPr/>
          <p:nvPr/>
        </p:nvSpPr>
        <p:spPr>
          <a:xfrm>
            <a:off x="1130300" y="4471848"/>
            <a:ext cx="264039" cy="27431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72626"/>
                </a:solidFill>
                <a:latin typeface="Courier Prime" pitchFamily="49" charset="0"/>
                <a:ea typeface="Courier Prime" pitchFamily="49" charset="-122"/>
                <a:cs typeface="Courier Prime" pitchFamily="49" charset="-120"/>
              </a:rPr>
              <a:t>04</a:t>
            </a:r>
            <a:endParaRPr lang="en-US" sz="1400" dirty="0"/>
          </a:p>
        </p:txBody>
      </p:sp>
      <p:sp>
        <p:nvSpPr>
          <p:cNvPr id="23" name="Text 21"/>
          <p:cNvSpPr/>
          <p:nvPr/>
        </p:nvSpPr>
        <p:spPr>
          <a:xfrm>
            <a:off x="1457839" y="4436315"/>
            <a:ext cx="2392176" cy="345421"/>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91919"/>
                </a:solidFill>
                <a:latin typeface="Public Sans" pitchFamily="34" charset="0"/>
                <a:ea typeface="Public Sans" pitchFamily="34" charset="-122"/>
                <a:cs typeface="Public Sans" pitchFamily="34" charset="-120"/>
              </a:rPr>
              <a:t>PARTIAL REFUND</a:t>
            </a:r>
            <a:endParaRPr lang="en-US" sz="1800" dirty="0"/>
          </a:p>
        </p:txBody>
      </p:sp>
      <p:sp>
        <p:nvSpPr>
          <p:cNvPr id="24" name="Shape 22"/>
          <p:cNvSpPr/>
          <p:nvPr/>
        </p:nvSpPr>
        <p:spPr>
          <a:xfrm>
            <a:off x="762000" y="5529822"/>
            <a:ext cx="4826000" cy="0"/>
          </a:xfrm>
          <a:prstGeom prst="line">
            <a:avLst/>
          </a:prstGeom>
          <a:noFill/>
          <a:ln w="12700">
            <a:solidFill>
              <a:srgbClr val="8A8173"/>
            </a:solidFill>
            <a:prstDash val="sysDot"/>
          </a:ln>
        </p:spPr>
      </p:sp>
      <p:sp>
        <p:nvSpPr>
          <p:cNvPr id="25" name="Shape 23"/>
          <p:cNvSpPr/>
          <p:nvPr/>
        </p:nvSpPr>
        <p:spPr>
          <a:xfrm>
            <a:off x="771525" y="5101431"/>
            <a:ext cx="234950" cy="234950"/>
          </a:xfrm>
          <a:prstGeom prst="rect">
            <a:avLst/>
          </a:prstGeom>
          <a:noFill/>
          <a:ln w="19050">
            <a:solidFill>
              <a:srgbClr val="191919"/>
            </a:solidFill>
            <a:prstDash val="solid"/>
          </a:ln>
        </p:spPr>
      </p:sp>
      <p:sp>
        <p:nvSpPr>
          <p:cNvPr id="26" name="Text 24"/>
          <p:cNvSpPr/>
          <p:nvPr/>
        </p:nvSpPr>
        <p:spPr>
          <a:xfrm>
            <a:off x="1130300" y="5094427"/>
            <a:ext cx="264039" cy="27431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72626"/>
                </a:solidFill>
                <a:latin typeface="Courier Prime" pitchFamily="49" charset="0"/>
                <a:ea typeface="Courier Prime" pitchFamily="49" charset="-122"/>
                <a:cs typeface="Courier Prime" pitchFamily="49" charset="-120"/>
              </a:rPr>
              <a:t>05</a:t>
            </a:r>
            <a:endParaRPr lang="en-US" sz="1400" dirty="0"/>
          </a:p>
        </p:txBody>
      </p:sp>
      <p:sp>
        <p:nvSpPr>
          <p:cNvPr id="27" name="Text 25"/>
          <p:cNvSpPr/>
          <p:nvPr/>
        </p:nvSpPr>
        <p:spPr>
          <a:xfrm>
            <a:off x="1457839" y="5058894"/>
            <a:ext cx="2854474" cy="345421"/>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91919"/>
                </a:solidFill>
                <a:latin typeface="Public Sans" pitchFamily="34" charset="0"/>
                <a:ea typeface="Public Sans" pitchFamily="34" charset="-122"/>
                <a:cs typeface="Public Sans" pitchFamily="34" charset="-120"/>
              </a:rPr>
              <a:t>VERIFY DASHBOARD</a:t>
            </a:r>
            <a:endParaRPr lang="en-US" sz="1800" dirty="0"/>
          </a:p>
        </p:txBody>
      </p:sp>
      <p:sp>
        <p:nvSpPr>
          <p:cNvPr id="28" name="Shape 26"/>
          <p:cNvSpPr/>
          <p:nvPr/>
        </p:nvSpPr>
        <p:spPr>
          <a:xfrm>
            <a:off x="771525" y="5724010"/>
            <a:ext cx="234950" cy="234950"/>
          </a:xfrm>
          <a:prstGeom prst="rect">
            <a:avLst/>
          </a:prstGeom>
          <a:noFill/>
          <a:ln w="19050">
            <a:solidFill>
              <a:srgbClr val="191919"/>
            </a:solidFill>
            <a:prstDash val="solid"/>
          </a:ln>
        </p:spPr>
      </p:sp>
      <p:sp>
        <p:nvSpPr>
          <p:cNvPr id="29" name="Text 27"/>
          <p:cNvSpPr/>
          <p:nvPr/>
        </p:nvSpPr>
        <p:spPr>
          <a:xfrm>
            <a:off x="1130300" y="5717009"/>
            <a:ext cx="264039" cy="27431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72626"/>
                </a:solidFill>
                <a:latin typeface="Courier Prime" pitchFamily="49" charset="0"/>
                <a:ea typeface="Courier Prime" pitchFamily="49" charset="-122"/>
                <a:cs typeface="Courier Prime" pitchFamily="49" charset="-120"/>
              </a:rPr>
              <a:t>06</a:t>
            </a:r>
            <a:endParaRPr lang="en-US" sz="1400" dirty="0"/>
          </a:p>
        </p:txBody>
      </p:sp>
      <p:sp>
        <p:nvSpPr>
          <p:cNvPr id="30" name="Text 28"/>
          <p:cNvSpPr/>
          <p:nvPr/>
        </p:nvSpPr>
        <p:spPr>
          <a:xfrm>
            <a:off x="1457839" y="5681476"/>
            <a:ext cx="2960930" cy="345421"/>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91919"/>
                </a:solidFill>
                <a:latin typeface="Public Sans" pitchFamily="34" charset="0"/>
                <a:ea typeface="Public Sans" pitchFamily="34" charset="-122"/>
                <a:cs typeface="Public Sans" pitchFamily="34" charset="-120"/>
              </a:rPr>
              <a:t>VERIFY SETTLEMENT</a:t>
            </a:r>
            <a:endParaRPr lang="en-US" sz="1800" dirty="0"/>
          </a:p>
        </p:txBody>
      </p:sp>
      <p:sp>
        <p:nvSpPr>
          <p:cNvPr id="31" name="Shape 29"/>
          <p:cNvSpPr/>
          <p:nvPr/>
        </p:nvSpPr>
        <p:spPr>
          <a:xfrm rot="21510000">
            <a:off x="5892800" y="2423367"/>
            <a:ext cx="2692400" cy="1809750"/>
          </a:xfrm>
          <a:prstGeom prst="rect">
            <a:avLst/>
          </a:prstGeom>
          <a:solidFill>
            <a:srgbClr val="FBF9F3"/>
          </a:solidFill>
          <a:ln/>
          <a:effectLst>
            <a:outerShdw sx="100000" sy="100000" kx="0" ky="0" algn="bl" rotWithShape="0" blurRad="101600" dist="38100" dir="5400000">
              <a:srgbClr val="000000">
                <a:alpha val="35000"/>
              </a:srgbClr>
            </a:outerShdw>
          </a:effectLst>
        </p:spPr>
      </p:sp>
      <p:sp>
        <p:nvSpPr>
          <p:cNvPr id="32" name="Text 30"/>
          <p:cNvSpPr/>
          <p:nvPr/>
        </p:nvSpPr>
        <p:spPr>
          <a:xfrm rot="21510000">
            <a:off x="5972624" y="2506606"/>
            <a:ext cx="2527300" cy="1435100"/>
          </a:xfrm>
          <a:prstGeom prst="rect">
            <a:avLst/>
          </a:prstGeom>
          <a:solidFill>
            <a:srgbClr val="CFC5B2"/>
          </a:solidFill>
          <a:ln w="12700">
            <a:solidFill>
              <a:srgbClr val="8A8173"/>
            </a:solidFill>
            <a:prstDash val="dash"/>
          </a:ln>
        </p:spPr>
        <p:txBody>
          <a:bodyPr wrap="square" lIns="5603" tIns="5603" rIns="5603" bIns="5603" rtlCol="0" anchor="ctr">
            <a:normAutofit/>
          </a:bodyPr>
          <a:lstStyle/>
          <a:p>
            <a:pPr algn="ctr" indent="0" marL="0">
              <a:lnSpc>
                <a:spcPts val="1680"/>
              </a:lnSpc>
              <a:buNone/>
            </a:pPr>
            <a:r>
              <a:rPr lang="en-US" sz="1200" dirty="0">
                <a:solidFill>
                  <a:srgbClr val="191919"/>
                </a:solidFill>
                <a:latin typeface="Courier Prime" pitchFamily="49" charset="0"/>
                <a:ea typeface="Courier Prime" pitchFamily="49" charset="-122"/>
                <a:cs typeface="Courier Prime" pitchFamily="49" charset="-120"/>
              </a:rPr>
              <a:t>[SCREENSHOT 01]</a:t>
            </a:r>
            <a:endParaRPr lang="en-US" sz="1200" dirty="0"/>
          </a:p>
        </p:txBody>
      </p:sp>
      <p:sp>
        <p:nvSpPr>
          <p:cNvPr id="33" name="Text 31"/>
          <p:cNvSpPr/>
          <p:nvPr/>
        </p:nvSpPr>
        <p:spPr>
          <a:xfrm rot="21510000">
            <a:off x="5989283" y="3997558"/>
            <a:ext cx="2616200" cy="20955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91919"/>
                </a:solidFill>
                <a:latin typeface="Courier Prime" pitchFamily="49" charset="0"/>
                <a:ea typeface="Courier Prime" pitchFamily="49" charset="-122"/>
                <a:cs typeface="Courier Prime" pitchFamily="49" charset="-120"/>
              </a:rPr>
              <a:t>FIG. 01 / STEPS 01–02</a:t>
            </a:r>
            <a:endParaRPr lang="en-US" sz="1200" dirty="0"/>
          </a:p>
        </p:txBody>
      </p:sp>
      <p:sp>
        <p:nvSpPr>
          <p:cNvPr id="34" name="Shape 32"/>
          <p:cNvSpPr/>
          <p:nvPr/>
        </p:nvSpPr>
        <p:spPr>
          <a:xfrm rot="90000">
            <a:off x="8737600" y="2423367"/>
            <a:ext cx="2692400" cy="1809750"/>
          </a:xfrm>
          <a:prstGeom prst="rect">
            <a:avLst/>
          </a:prstGeom>
          <a:solidFill>
            <a:srgbClr val="FBF9F3"/>
          </a:solidFill>
          <a:ln/>
          <a:effectLst>
            <a:outerShdw sx="100000" sy="100000" kx="0" ky="0" algn="bl" rotWithShape="0" blurRad="101600" dist="38100" dir="5400000">
              <a:srgbClr val="000000">
                <a:alpha val="35000"/>
              </a:srgbClr>
            </a:outerShdw>
          </a:effectLst>
        </p:spPr>
      </p:sp>
      <p:sp>
        <p:nvSpPr>
          <p:cNvPr id="35" name="Text 33"/>
          <p:cNvSpPr/>
          <p:nvPr/>
        </p:nvSpPr>
        <p:spPr>
          <a:xfrm rot="90000">
            <a:off x="8822875" y="2506606"/>
            <a:ext cx="2527300" cy="1435100"/>
          </a:xfrm>
          <a:prstGeom prst="rect">
            <a:avLst/>
          </a:prstGeom>
          <a:solidFill>
            <a:srgbClr val="CFC5B2"/>
          </a:solidFill>
          <a:ln w="12700">
            <a:solidFill>
              <a:srgbClr val="8A8173"/>
            </a:solidFill>
            <a:prstDash val="dash"/>
          </a:ln>
        </p:spPr>
        <p:txBody>
          <a:bodyPr wrap="square" lIns="5603" tIns="5603" rIns="5603" bIns="5603" rtlCol="0" anchor="ctr">
            <a:normAutofit/>
          </a:bodyPr>
          <a:lstStyle/>
          <a:p>
            <a:pPr algn="ctr" indent="0" marL="0">
              <a:lnSpc>
                <a:spcPts val="1680"/>
              </a:lnSpc>
              <a:buNone/>
            </a:pPr>
            <a:r>
              <a:rPr lang="en-US" sz="1200" dirty="0">
                <a:solidFill>
                  <a:srgbClr val="191919"/>
                </a:solidFill>
                <a:latin typeface="Courier Prime" pitchFamily="49" charset="0"/>
                <a:ea typeface="Courier Prime" pitchFamily="49" charset="-122"/>
                <a:cs typeface="Courier Prime" pitchFamily="49" charset="-120"/>
              </a:rPr>
              <a:t>[SCREENSHOT 02]</a:t>
            </a:r>
            <a:endParaRPr lang="en-US" sz="1200" dirty="0"/>
          </a:p>
        </p:txBody>
      </p:sp>
      <p:sp>
        <p:nvSpPr>
          <p:cNvPr id="36" name="Text 34"/>
          <p:cNvSpPr/>
          <p:nvPr/>
        </p:nvSpPr>
        <p:spPr>
          <a:xfrm rot="90000">
            <a:off x="8793491" y="3999553"/>
            <a:ext cx="2616200" cy="20955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91919"/>
                </a:solidFill>
                <a:latin typeface="Courier Prime" pitchFamily="49" charset="0"/>
                <a:ea typeface="Courier Prime" pitchFamily="49" charset="-122"/>
                <a:cs typeface="Courier Prime" pitchFamily="49" charset="-120"/>
              </a:rPr>
              <a:t>FIG. 02 / STEPS 03–04</a:t>
            </a:r>
            <a:endParaRPr lang="en-US" sz="1200" dirty="0"/>
          </a:p>
        </p:txBody>
      </p:sp>
      <p:sp>
        <p:nvSpPr>
          <p:cNvPr id="37" name="Shape 35"/>
          <p:cNvSpPr/>
          <p:nvPr/>
        </p:nvSpPr>
        <p:spPr>
          <a:xfrm rot="60000">
            <a:off x="5892800" y="4385516"/>
            <a:ext cx="2692400" cy="1809750"/>
          </a:xfrm>
          <a:prstGeom prst="rect">
            <a:avLst/>
          </a:prstGeom>
          <a:solidFill>
            <a:srgbClr val="FBF9F3"/>
          </a:solidFill>
          <a:ln/>
          <a:effectLst>
            <a:outerShdw sx="100000" sy="100000" kx="0" ky="0" algn="bl" rotWithShape="0" blurRad="101600" dist="38100" dir="5400000">
              <a:srgbClr val="000000">
                <a:alpha val="35000"/>
              </a:srgbClr>
            </a:outerShdw>
          </a:effectLst>
        </p:spPr>
      </p:sp>
      <p:sp>
        <p:nvSpPr>
          <p:cNvPr id="38" name="Text 36"/>
          <p:cNvSpPr/>
          <p:nvPr/>
        </p:nvSpPr>
        <p:spPr>
          <a:xfrm rot="60000">
            <a:off x="5977167" y="4468734"/>
            <a:ext cx="2527300" cy="1435100"/>
          </a:xfrm>
          <a:prstGeom prst="rect">
            <a:avLst/>
          </a:prstGeom>
          <a:solidFill>
            <a:srgbClr val="CFC5B2"/>
          </a:solidFill>
          <a:ln w="12700">
            <a:solidFill>
              <a:srgbClr val="8A8173"/>
            </a:solidFill>
            <a:prstDash val="dash"/>
          </a:ln>
        </p:spPr>
        <p:txBody>
          <a:bodyPr wrap="square" lIns="5603" tIns="5603" rIns="5603" bIns="5603" rtlCol="0" anchor="ctr">
            <a:normAutofit/>
          </a:bodyPr>
          <a:lstStyle/>
          <a:p>
            <a:pPr algn="ctr" indent="0" marL="0">
              <a:lnSpc>
                <a:spcPts val="1680"/>
              </a:lnSpc>
              <a:buNone/>
            </a:pPr>
            <a:r>
              <a:rPr lang="en-US" sz="1200" dirty="0">
                <a:solidFill>
                  <a:srgbClr val="191919"/>
                </a:solidFill>
                <a:latin typeface="Courier Prime" pitchFamily="49" charset="0"/>
                <a:ea typeface="Courier Prime" pitchFamily="49" charset="-122"/>
                <a:cs typeface="Courier Prime" pitchFamily="49" charset="-120"/>
              </a:rPr>
              <a:t>[SCREENSHOT 03]</a:t>
            </a:r>
            <a:endParaRPr lang="en-US" sz="1200" dirty="0"/>
          </a:p>
        </p:txBody>
      </p:sp>
      <p:sp>
        <p:nvSpPr>
          <p:cNvPr id="39" name="Text 37"/>
          <p:cNvSpPr/>
          <p:nvPr/>
        </p:nvSpPr>
        <p:spPr>
          <a:xfrm rot="60000">
            <a:off x="5955463" y="5961518"/>
            <a:ext cx="2616200" cy="20955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91919"/>
                </a:solidFill>
                <a:latin typeface="Courier Prime" pitchFamily="49" charset="0"/>
                <a:ea typeface="Courier Prime" pitchFamily="49" charset="-122"/>
                <a:cs typeface="Courier Prime" pitchFamily="49" charset="-120"/>
              </a:rPr>
              <a:t>FIG. 03 / STEPS 05–06</a:t>
            </a:r>
            <a:endParaRPr lang="en-US" sz="1200" dirty="0"/>
          </a:p>
        </p:txBody>
      </p:sp>
      <p:sp>
        <p:nvSpPr>
          <p:cNvPr id="40" name="Shape 38"/>
          <p:cNvSpPr/>
          <p:nvPr/>
        </p:nvSpPr>
        <p:spPr>
          <a:xfrm>
            <a:off x="8737600" y="4385515"/>
            <a:ext cx="2692400" cy="1809750"/>
          </a:xfrm>
          <a:prstGeom prst="rect">
            <a:avLst/>
          </a:prstGeom>
          <a:solidFill>
            <a:srgbClr val="191919"/>
          </a:solidFill>
          <a:ln/>
        </p:spPr>
      </p:sp>
      <p:sp>
        <p:nvSpPr>
          <p:cNvPr id="41" name="Shape 39"/>
          <p:cNvSpPr/>
          <p:nvPr/>
        </p:nvSpPr>
        <p:spPr>
          <a:xfrm>
            <a:off x="8737600" y="4404565"/>
            <a:ext cx="2692400" cy="0"/>
          </a:xfrm>
          <a:prstGeom prst="line">
            <a:avLst/>
          </a:prstGeom>
          <a:noFill/>
          <a:ln w="38100">
            <a:solidFill>
              <a:srgbClr val="C3312F"/>
            </a:solidFill>
            <a:prstDash val="solid"/>
          </a:ln>
        </p:spPr>
      </p:sp>
      <p:sp>
        <p:nvSpPr>
          <p:cNvPr id="42" name="Text 40"/>
          <p:cNvSpPr/>
          <p:nvPr/>
        </p:nvSpPr>
        <p:spPr>
          <a:xfrm>
            <a:off x="8890000" y="4904488"/>
            <a:ext cx="2459228" cy="342900"/>
          </a:xfrm>
          <a:prstGeom prst="rect">
            <a:avLst/>
          </a:prstGeom>
          <a:noFill/>
          <a:ln/>
        </p:spPr>
        <p:txBody>
          <a:bodyPr wrap="square" lIns="0" tIns="0" rIns="0" bIns="0" rtlCol="0" anchor="t">
            <a:normAutofit/>
          </a:bodyPr>
          <a:lstStyle/>
          <a:p>
            <a:pPr algn="l" indent="0" marL="0">
              <a:lnSpc>
                <a:spcPts val="2500"/>
              </a:lnSpc>
              <a:buNone/>
            </a:pPr>
            <a:r>
              <a:rPr lang="en-US" sz="2500" dirty="0">
                <a:solidFill>
                  <a:srgbClr val="F1EBDF"/>
                </a:solidFill>
                <a:latin typeface="Anton" pitchFamily="34" charset="0"/>
                <a:ea typeface="Anton" pitchFamily="34" charset="-122"/>
                <a:cs typeface="Anton" pitchFamily="34" charset="-120"/>
              </a:rPr>
              <a:t>BACKUP EVIDENCE</a:t>
            </a:r>
            <a:endParaRPr lang="en-US" sz="2500" dirty="0"/>
          </a:p>
        </p:txBody>
      </p:sp>
      <p:sp>
        <p:nvSpPr>
          <p:cNvPr id="43" name="Text 41"/>
          <p:cNvSpPr/>
          <p:nvPr/>
        </p:nvSpPr>
        <p:spPr>
          <a:xfrm>
            <a:off x="8890000" y="5285488"/>
            <a:ext cx="2459228" cy="45206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0D3"/>
                </a:solidFill>
                <a:latin typeface="Courier Prime" pitchFamily="49" charset="0"/>
                <a:ea typeface="Courier Prime" pitchFamily="49" charset="-122"/>
                <a:cs typeface="Courier Prime" pitchFamily="49" charset="-120"/>
              </a:rPr>
              <a:t>[RECORDED RUN / SCREENSHOT SET: SEE APPENDIX A5]</a:t>
            </a:r>
            <a:endParaRPr lang="en-US" sz="1200" dirty="0"/>
          </a:p>
        </p:txBody>
      </p:sp>
      <p:sp>
        <p:nvSpPr>
          <p:cNvPr id="44" name="Text 42"/>
          <p:cNvSpPr/>
          <p:nvPr/>
        </p:nvSpPr>
        <p:spPr>
          <a:xfrm>
            <a:off x="609600" y="88900"/>
            <a:ext cx="3937000" cy="266700"/>
          </a:xfrm>
          <a:custGeom>
            <a:avLst/>
            <a:gdLst/>
            <a:ahLst/>
            <a:cxnLst/>
            <a:rect l="l" t="t" r="r" b="b"/>
            <a:pathLst>
              <a:path w="3937000" h="266700">
                <a:moveTo>
                  <a:pt x="50800" y="0"/>
                </a:moveTo>
                <a:lnTo>
                  <a:pt x="3886200" y="0"/>
                </a:lnTo>
                <a:arcTo hR="50800" wR="50800" stAng="16200000" swAng="5400000"/>
                <a:lnTo>
                  <a:pt x="3937000" y="266700"/>
                </a:lnTo>
                <a:lnTo>
                  <a:pt x="0" y="266700"/>
                </a:lnTo>
                <a:lnTo>
                  <a:pt x="0" y="50800"/>
                </a:lnTo>
                <a:arcTo hR="50800" wR="50800" stAng="10800000" swAng="5400000"/>
                <a:close/>
              </a:path>
            </a:pathLst>
          </a:custGeom>
          <a:solidFill>
            <a:srgbClr val="E8E0D3"/>
          </a:solidFill>
          <a:ln/>
        </p:spPr>
        <p:txBody>
          <a:bodyPr wrap="square" lIns="127000" tIns="38100" rIns="16510" bIns="20357" rtlCol="0" anchor="t">
            <a:normAutofit/>
          </a:bodyPr>
          <a:lstStyle/>
          <a:p>
            <a:pPr algn="l" indent="0" marL="0">
              <a:lnSpc>
                <a:spcPts val="1440"/>
              </a:lnSpc>
              <a:buNone/>
            </a:pPr>
            <a:r>
              <a:rPr lang="en-US" sz="1200" b="1" dirty="0">
                <a:solidFill>
                  <a:srgbClr val="A72626"/>
                </a:solidFill>
                <a:latin typeface="Courier Prime" pitchFamily="49" charset="0"/>
                <a:ea typeface="Courier Prime" pitchFamily="49" charset="-122"/>
                <a:cs typeface="Courier Prime" pitchFamily="49" charset="-120"/>
              </a:rPr>
              <a:t>CASE FP-2026 · EVIDENCE 05 · 30.10.2026</a:t>
            </a:r>
            <a:endParaRPr lang="en-US" sz="1200" dirty="0"/>
          </a:p>
        </p:txBody>
      </p:sp>
      <p:sp>
        <p:nvSpPr>
          <p:cNvPr id="45" name="Shape 43"/>
          <p:cNvSpPr/>
          <p:nvPr/>
        </p:nvSpPr>
        <p:spPr>
          <a:xfrm rot="21420000">
            <a:off x="6858000" y="2298702"/>
            <a:ext cx="635000" cy="177800"/>
          </a:xfrm>
          <a:prstGeom prst="rect">
            <a:avLst/>
          </a:prstGeom>
          <a:solidFill>
            <a:srgbClr val="D9CBA3">
              <a:alpha val="85000"/>
            </a:srgbClr>
          </a:solidFill>
          <a:ln/>
        </p:spPr>
      </p:sp>
      <p:sp>
        <p:nvSpPr>
          <p:cNvPr id="46" name="Shape 44"/>
          <p:cNvSpPr/>
          <p:nvPr/>
        </p:nvSpPr>
        <p:spPr>
          <a:xfrm rot="240000">
            <a:off x="9715500" y="2298700"/>
            <a:ext cx="635000" cy="177800"/>
          </a:xfrm>
          <a:prstGeom prst="rect">
            <a:avLst/>
          </a:prstGeom>
          <a:solidFill>
            <a:srgbClr val="D9CBA3">
              <a:alpha val="85000"/>
            </a:srgbClr>
          </a:solidFill>
          <a:ln/>
        </p:spPr>
      </p:sp>
      <p:sp>
        <p:nvSpPr>
          <p:cNvPr id="47" name="Shape 45"/>
          <p:cNvSpPr/>
          <p:nvPr/>
        </p:nvSpPr>
        <p:spPr>
          <a:xfrm rot="120000">
            <a:off x="6858000" y="4260849"/>
            <a:ext cx="635000" cy="177800"/>
          </a:xfrm>
          <a:prstGeom prst="rect">
            <a:avLst/>
          </a:prstGeom>
          <a:solidFill>
            <a:srgbClr val="D9CBA3">
              <a:alpha val="85000"/>
            </a:srgbClr>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311150" y="311150"/>
            <a:ext cx="11569700" cy="6235700"/>
          </a:xfrm>
          <a:prstGeom prst="rect">
            <a:avLst/>
          </a:prstGeom>
          <a:gradFill rotWithShape="1">
            <a:gsLst>
              <a:gs pos="0">
                <a:srgbClr val="262321"/>
              </a:gs>
              <a:gs pos="2500">
                <a:srgbClr val="262321"/>
              </a:gs>
              <a:gs pos="2500">
                <a:srgbClr val="1C1A19"/>
              </a:gs>
              <a:gs pos="100000">
                <a:srgbClr val="1C1A19"/>
              </a:gs>
            </a:gsLst>
            <a:lin ang="16200000" scaled="0"/>
          </a:gradFill>
          <a:ln w="12700">
            <a:solidFill>
              <a:srgbClr val="3A3633"/>
            </a:solidFill>
            <a:prstDash val="solid"/>
          </a:ln>
          <a:effectLst>
            <a:outerShdw sx="100000" sy="100000" kx="0" ky="0" algn="bl" rotWithShape="0" blurRad="381000" dist="127000" dir="5400000">
              <a:srgbClr val="000000">
                <a:alpha val="60000"/>
              </a:srgbClr>
            </a:outerShdw>
          </a:effectLst>
        </p:spPr>
      </p:sp>
      <p:sp>
        <p:nvSpPr>
          <p:cNvPr id="3" name="Shape 1"/>
          <p:cNvSpPr/>
          <p:nvPr/>
        </p:nvSpPr>
        <p:spPr>
          <a:xfrm>
            <a:off x="773953" y="1013619"/>
            <a:ext cx="10644094" cy="0"/>
          </a:xfrm>
          <a:prstGeom prst="line">
            <a:avLst/>
          </a:prstGeom>
          <a:noFill/>
          <a:ln w="19050">
            <a:solidFill>
              <a:srgbClr val="F1EBDF"/>
            </a:solidFill>
            <a:prstDash val="solid"/>
          </a:ln>
        </p:spPr>
      </p:sp>
      <p:sp>
        <p:nvSpPr>
          <p:cNvPr id="4" name="Text 2"/>
          <p:cNvSpPr/>
          <p:nvPr/>
        </p:nvSpPr>
        <p:spPr>
          <a:xfrm>
            <a:off x="773953" y="596153"/>
            <a:ext cx="1012218" cy="304800"/>
          </a:xfrm>
          <a:prstGeom prst="rect">
            <a:avLst/>
          </a:prstGeom>
          <a:noFill/>
          <a:ln/>
        </p:spPr>
        <p:txBody>
          <a:bodyPr wrap="square" lIns="0" tIns="0" rIns="0" bIns="0" rtlCol="0" anchor="t">
            <a:normAutofit/>
          </a:bodyPr>
          <a:lstStyle/>
          <a:p>
            <a:pPr algn="l" indent="0" marL="0">
              <a:lnSpc>
                <a:spcPts val="2200"/>
              </a:lnSpc>
              <a:buNone/>
            </a:pPr>
            <a:r>
              <a:rPr lang="en-US" sz="2200" spc="100" kern="0" dirty="0">
                <a:solidFill>
                  <a:srgbClr val="F1EBDF"/>
                </a:solidFill>
                <a:latin typeface="Anton" pitchFamily="34" charset="0"/>
                <a:ea typeface="Anton" pitchFamily="34" charset="-122"/>
                <a:cs typeface="Anton" pitchFamily="34" charset="-120"/>
              </a:rPr>
              <a:t>FILSPAY</a:t>
            </a:r>
            <a:endParaRPr lang="en-US" sz="2200" dirty="0"/>
          </a:p>
        </p:txBody>
      </p:sp>
      <p:sp>
        <p:nvSpPr>
          <p:cNvPr id="5" name="Text 3"/>
          <p:cNvSpPr/>
          <p:nvPr/>
        </p:nvSpPr>
        <p:spPr>
          <a:xfrm>
            <a:off x="1786171" y="715683"/>
            <a:ext cx="2631758"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1EBDF"/>
                </a:solidFill>
                <a:latin typeface="Courier Prime" pitchFamily="49" charset="0"/>
                <a:ea typeface="Courier Prime" pitchFamily="49" charset="-122"/>
                <a:cs typeface="Courier Prime" pitchFamily="49" charset="-120"/>
              </a:rPr>
              <a:t>THE HANDOVER / CASE FILE</a:t>
            </a:r>
            <a:endParaRPr lang="en-US" sz="1200" dirty="0"/>
          </a:p>
        </p:txBody>
      </p:sp>
      <p:sp>
        <p:nvSpPr>
          <p:cNvPr id="6" name="Text 4"/>
          <p:cNvSpPr/>
          <p:nvPr/>
        </p:nvSpPr>
        <p:spPr>
          <a:xfrm>
            <a:off x="6702780" y="715683"/>
            <a:ext cx="4715267" cy="238732"/>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E5605C"/>
                </a:solidFill>
                <a:latin typeface="Courier Prime" pitchFamily="49" charset="0"/>
                <a:ea typeface="Courier Prime" pitchFamily="49" charset="-122"/>
                <a:cs typeface="Courier Prime" pitchFamily="49" charset="-120"/>
              </a:rPr>
              <a:t>CASE NO. FP-2026 · EVIDENCE 06 · 30.10.2026</a:t>
            </a:r>
            <a:endParaRPr lang="en-US" sz="1200" dirty="0"/>
          </a:p>
        </p:txBody>
      </p:sp>
      <p:sp>
        <p:nvSpPr>
          <p:cNvPr id="7" name="Text 5"/>
          <p:cNvSpPr/>
          <p:nvPr>
            <p:ph type="title"/>
          </p:nvPr>
        </p:nvSpPr>
        <p:spPr>
          <a:xfrm>
            <a:off x="773953" y="1175544"/>
            <a:ext cx="10963417" cy="665443"/>
          </a:xfrm>
          <a:prstGeom prst="rect">
            <a:avLst/>
          </a:prstGeom>
          <a:noFill/>
          <a:ln/>
        </p:spPr>
        <p:txBody>
          <a:bodyPr wrap="square" lIns="0" tIns="0" rIns="0" bIns="0" rtlCol="0" anchor="t">
            <a:normAutofit/>
          </a:bodyPr>
          <a:lstStyle/>
          <a:p>
            <a:pPr algn="l" indent="0" marL="0">
              <a:lnSpc>
                <a:spcPts val="5040"/>
              </a:lnSpc>
              <a:buNone/>
            </a:pPr>
            <a:r>
              <a:rPr lang="en-US" sz="4800" b="0" i="0" dirty="0">
                <a:solidFill>
                  <a:srgbClr val="F1EBDF"/>
                </a:solidFill>
                <a:latin typeface="Anton" pitchFamily="34" charset="0"/>
                <a:ea typeface="Anton" pitchFamily="34" charset="-122"/>
                <a:cs typeface="Anton" pitchFamily="34" charset="-120"/>
              </a:rPr>
              <a:t>WHAT HAPPENS UNDER PRESSURE?</a:t>
            </a:r>
            <a:endParaRPr lang="en-US" sz="4800" dirty="0"/>
          </a:p>
        </p:txBody>
      </p:sp>
      <p:sp>
        <p:nvSpPr>
          <p:cNvPr id="8" name="Shape 6"/>
          <p:cNvSpPr/>
          <p:nvPr/>
        </p:nvSpPr>
        <p:spPr>
          <a:xfrm>
            <a:off x="780303" y="1974335"/>
            <a:ext cx="5194300" cy="1892300"/>
          </a:xfrm>
          <a:prstGeom prst="rect">
            <a:avLst/>
          </a:prstGeom>
          <a:noFill/>
          <a:ln w="12700">
            <a:solidFill>
              <a:srgbClr val="8A8173"/>
            </a:solidFill>
            <a:prstDash val="solid"/>
          </a:ln>
        </p:spPr>
      </p:sp>
      <p:sp>
        <p:nvSpPr>
          <p:cNvPr id="9" name="Text 7"/>
          <p:cNvSpPr/>
          <p:nvPr/>
        </p:nvSpPr>
        <p:spPr>
          <a:xfrm>
            <a:off x="900206" y="2081538"/>
            <a:ext cx="5103129"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1EBDF"/>
                </a:solidFill>
                <a:latin typeface="Courier Prime" pitchFamily="49" charset="0"/>
                <a:ea typeface="Courier Prime" pitchFamily="49" charset="-122"/>
                <a:cs typeface="Courier Prime" pitchFamily="49" charset="-120"/>
              </a:rPr>
              <a:t>FIG. 06-A / ARCHITECTURE</a:t>
            </a:r>
            <a:endParaRPr lang="en-US" sz="1200" dirty="0"/>
          </a:p>
        </p:txBody>
      </p:sp>
      <p:sp>
        <p:nvSpPr>
          <p:cNvPr id="10" name="Text 8"/>
          <p:cNvSpPr/>
          <p:nvPr/>
        </p:nvSpPr>
        <p:spPr>
          <a:xfrm>
            <a:off x="906556" y="2377421"/>
            <a:ext cx="1022350" cy="520700"/>
          </a:xfrm>
          <a:prstGeom prst="rect">
            <a:avLst/>
          </a:prstGeom>
          <a:noFill/>
          <a:ln w="12700">
            <a:solidFill>
              <a:srgbClr val="F1EBDF"/>
            </a:solidFill>
            <a:prstDash val="solid"/>
          </a:ln>
        </p:spPr>
        <p:txBody>
          <a:bodyPr wrap="square" lIns="56403" tIns="56403" rIns="56403" bIns="56403" rtlCol="0" anchor="ctr">
            <a:normAutofit/>
          </a:bodyPr>
          <a:lstStyle/>
          <a:p>
            <a:pPr algn="ctr" indent="0" marL="0">
              <a:lnSpc>
                <a:spcPts val="1680"/>
              </a:lnSpc>
              <a:buNone/>
            </a:pPr>
            <a:r>
              <a:rPr lang="en-US" sz="1200" dirty="0">
                <a:solidFill>
                  <a:srgbClr val="F1EBDF"/>
                </a:solidFill>
                <a:latin typeface="Courier Prime" pitchFamily="49" charset="0"/>
                <a:ea typeface="Courier Prime" pitchFamily="49" charset="-122"/>
                <a:cs typeface="Courier Prime" pitchFamily="49" charset="-120"/>
              </a:rPr>
              <a:t>[LAYER 1]</a:t>
            </a:r>
            <a:endParaRPr lang="en-US" sz="1200" dirty="0"/>
          </a:p>
        </p:txBody>
      </p:sp>
      <p:pic>
        <p:nvPicPr>
          <p:cNvPr id="11" name="Image 0" descr="arrow-right">    </p:cNvPr>
          <p:cNvPicPr>
            <a:picLocks noChangeAspect="1"/>
          </p:cNvPicPr>
          <p:nvPr/>
        </p:nvPicPr>
        <p:blipFill>
          <a:blip r:embed="rId1"/>
          <a:srcRect l="0" r="0" t="0" b="0"/>
          <a:stretch/>
        </p:blipFill>
        <p:spPr>
          <a:xfrm>
            <a:off x="1979706" y="2567921"/>
            <a:ext cx="190500" cy="139700"/>
          </a:xfrm>
          <a:prstGeom prst="rect">
            <a:avLst/>
          </a:prstGeom>
        </p:spPr>
      </p:pic>
      <p:sp>
        <p:nvSpPr>
          <p:cNvPr id="12" name="Text 9"/>
          <p:cNvSpPr/>
          <p:nvPr/>
        </p:nvSpPr>
        <p:spPr>
          <a:xfrm>
            <a:off x="2221006" y="2377421"/>
            <a:ext cx="1022350" cy="520700"/>
          </a:xfrm>
          <a:prstGeom prst="rect">
            <a:avLst/>
          </a:prstGeom>
          <a:noFill/>
          <a:ln w="12700">
            <a:solidFill>
              <a:srgbClr val="F1EBDF"/>
            </a:solidFill>
            <a:prstDash val="solid"/>
          </a:ln>
        </p:spPr>
        <p:txBody>
          <a:bodyPr wrap="square" lIns="56403" tIns="56403" rIns="56403" bIns="56403" rtlCol="0" anchor="ctr">
            <a:normAutofit/>
          </a:bodyPr>
          <a:lstStyle/>
          <a:p>
            <a:pPr algn="ctr" indent="0" marL="0">
              <a:lnSpc>
                <a:spcPts val="1680"/>
              </a:lnSpc>
              <a:buNone/>
            </a:pPr>
            <a:r>
              <a:rPr lang="en-US" sz="1200" dirty="0">
                <a:solidFill>
                  <a:srgbClr val="F1EBDF"/>
                </a:solidFill>
                <a:latin typeface="Courier Prime" pitchFamily="49" charset="0"/>
                <a:ea typeface="Courier Prime" pitchFamily="49" charset="-122"/>
                <a:cs typeface="Courier Prime" pitchFamily="49" charset="-120"/>
              </a:rPr>
              <a:t>[LAYER 2]</a:t>
            </a:r>
            <a:endParaRPr lang="en-US" sz="1200" dirty="0"/>
          </a:p>
        </p:txBody>
      </p:sp>
      <p:pic>
        <p:nvPicPr>
          <p:cNvPr id="13" name="Image 1" descr="arrow-right">    </p:cNvPr>
          <p:cNvPicPr>
            <a:picLocks noChangeAspect="1"/>
          </p:cNvPicPr>
          <p:nvPr/>
        </p:nvPicPr>
        <p:blipFill>
          <a:blip r:embed="rId2"/>
          <a:srcRect l="0" r="0" t="0" b="0"/>
          <a:stretch/>
        </p:blipFill>
        <p:spPr>
          <a:xfrm>
            <a:off x="3294156" y="2567921"/>
            <a:ext cx="190500" cy="139700"/>
          </a:xfrm>
          <a:prstGeom prst="rect">
            <a:avLst/>
          </a:prstGeom>
        </p:spPr>
      </p:pic>
      <p:sp>
        <p:nvSpPr>
          <p:cNvPr id="14" name="Text 10"/>
          <p:cNvSpPr/>
          <p:nvPr/>
        </p:nvSpPr>
        <p:spPr>
          <a:xfrm>
            <a:off x="3538631" y="2380596"/>
            <a:ext cx="1016000" cy="514350"/>
          </a:xfrm>
          <a:prstGeom prst="rect">
            <a:avLst/>
          </a:prstGeom>
          <a:noFill/>
          <a:ln w="19050">
            <a:solidFill>
              <a:srgbClr val="E5605C"/>
            </a:solidFill>
            <a:prstDash val="solid"/>
          </a:ln>
        </p:spPr>
        <p:txBody>
          <a:bodyPr wrap="square" lIns="59204" tIns="59204" rIns="59204" bIns="59204" rtlCol="0" anchor="ctr">
            <a:normAutofit/>
          </a:bodyPr>
          <a:lstStyle/>
          <a:p>
            <a:pPr algn="ctr" indent="0" marL="0">
              <a:lnSpc>
                <a:spcPts val="1680"/>
              </a:lnSpc>
              <a:buNone/>
            </a:pPr>
            <a:r>
              <a:rPr lang="en-US" sz="1200" dirty="0">
                <a:solidFill>
                  <a:srgbClr val="F1EBDF"/>
                </a:solidFill>
                <a:latin typeface="Courier Prime" pitchFamily="49" charset="0"/>
                <a:ea typeface="Courier Prime" pitchFamily="49" charset="-122"/>
                <a:cs typeface="Courier Prime" pitchFamily="49" charset="-120"/>
              </a:rPr>
              <a:t>[LAYER 3]</a:t>
            </a:r>
            <a:endParaRPr lang="en-US" sz="1200" dirty="0"/>
          </a:p>
        </p:txBody>
      </p:sp>
      <p:pic>
        <p:nvPicPr>
          <p:cNvPr id="15" name="Image 2" descr="arrow-right">    </p:cNvPr>
          <p:cNvPicPr>
            <a:picLocks noChangeAspect="1"/>
          </p:cNvPicPr>
          <p:nvPr/>
        </p:nvPicPr>
        <p:blipFill>
          <a:blip r:embed="rId3"/>
          <a:srcRect l="0" r="0" t="0" b="0"/>
          <a:stretch/>
        </p:blipFill>
        <p:spPr>
          <a:xfrm>
            <a:off x="4608606" y="2567921"/>
            <a:ext cx="190500" cy="139700"/>
          </a:xfrm>
          <a:prstGeom prst="rect">
            <a:avLst/>
          </a:prstGeom>
        </p:spPr>
      </p:pic>
      <p:sp>
        <p:nvSpPr>
          <p:cNvPr id="16" name="Text 11"/>
          <p:cNvSpPr/>
          <p:nvPr/>
        </p:nvSpPr>
        <p:spPr>
          <a:xfrm>
            <a:off x="4849906" y="2377421"/>
            <a:ext cx="1022350" cy="520700"/>
          </a:xfrm>
          <a:prstGeom prst="rect">
            <a:avLst/>
          </a:prstGeom>
          <a:noFill/>
          <a:ln w="12700">
            <a:solidFill>
              <a:srgbClr val="F1EBDF"/>
            </a:solidFill>
            <a:prstDash val="solid"/>
          </a:ln>
        </p:spPr>
        <p:txBody>
          <a:bodyPr wrap="square" lIns="31003" tIns="34318" rIns="31003" bIns="34318" rtlCol="0" anchor="ctr">
            <a:normAutofit/>
          </a:bodyPr>
          <a:lstStyle/>
          <a:p>
            <a:pPr algn="ctr" indent="0" marL="0">
              <a:lnSpc>
                <a:spcPts val="1680"/>
              </a:lnSpc>
              <a:buNone/>
            </a:pPr>
            <a:r>
              <a:rPr lang="en-US" sz="1200" dirty="0">
                <a:solidFill>
                  <a:srgbClr val="F1EBDF"/>
                </a:solidFill>
                <a:latin typeface="Courier Prime" pitchFamily="49" charset="0"/>
                <a:ea typeface="Courier Prime" pitchFamily="49" charset="-122"/>
                <a:cs typeface="Courier Prime" pitchFamily="49" charset="-120"/>
              </a:rPr>
              <a:t>[DATA STORE]</a:t>
            </a:r>
            <a:endParaRPr lang="en-US" sz="1200" dirty="0"/>
          </a:p>
        </p:txBody>
      </p:sp>
      <p:pic>
        <p:nvPicPr>
          <p:cNvPr id="17" name="Image 3" descr="arrow-up">    </p:cNvPr>
          <p:cNvPicPr>
            <a:picLocks noChangeAspect="1"/>
          </p:cNvPicPr>
          <p:nvPr/>
        </p:nvPicPr>
        <p:blipFill>
          <a:blip r:embed="rId4"/>
          <a:srcRect l="0" r="0" t="-1067" b="-1067"/>
          <a:stretch/>
        </p:blipFill>
        <p:spPr>
          <a:xfrm>
            <a:off x="3529106" y="2942571"/>
            <a:ext cx="118129" cy="279400"/>
          </a:xfrm>
          <a:prstGeom prst="rect">
            <a:avLst/>
          </a:prstGeom>
        </p:spPr>
      </p:pic>
      <p:sp>
        <p:nvSpPr>
          <p:cNvPr id="18" name="Text 12"/>
          <p:cNvSpPr/>
          <p:nvPr/>
        </p:nvSpPr>
        <p:spPr>
          <a:xfrm>
            <a:off x="3710735" y="2942571"/>
            <a:ext cx="2232907" cy="508000"/>
          </a:xfrm>
          <a:prstGeom prst="rect">
            <a:avLst/>
          </a:prstGeom>
          <a:noFill/>
          <a:ln/>
        </p:spPr>
        <p:txBody>
          <a:bodyPr wrap="square" lIns="0" tIns="0" rIns="0" bIns="0" rtlCol="0" anchor="t">
            <a:normAutofit/>
          </a:bodyPr>
          <a:lstStyle/>
          <a:p>
            <a:pPr algn="l" indent="0" marL="0">
              <a:lnSpc>
                <a:spcPts val="1900"/>
              </a:lnSpc>
              <a:buNone/>
            </a:pPr>
            <a:r>
              <a:rPr lang="en-US" sz="1900" b="1" dirty="0">
                <a:solidFill>
                  <a:srgbClr val="E5605C"/>
                </a:solidFill>
                <a:latin typeface="Caveat" pitchFamily="18" charset="0"/>
                <a:ea typeface="Caveat" pitchFamily="18" charset="-122"/>
                <a:cs typeface="Caveat" pitchFamily="18" charset="-120"/>
              </a:rPr>
              <a:t>BOTTLENECK IDENTIFIED HERE</a:t>
            </a:r>
            <a:endParaRPr lang="en-US" sz="1900" dirty="0"/>
          </a:p>
        </p:txBody>
      </p:sp>
      <p:sp>
        <p:nvSpPr>
          <p:cNvPr id="19" name="Shape 13"/>
          <p:cNvSpPr/>
          <p:nvPr/>
        </p:nvSpPr>
        <p:spPr>
          <a:xfrm>
            <a:off x="6190503" y="1974335"/>
            <a:ext cx="5221194" cy="1892300"/>
          </a:xfrm>
          <a:prstGeom prst="rect">
            <a:avLst/>
          </a:prstGeom>
          <a:noFill/>
          <a:ln w="12700">
            <a:solidFill>
              <a:srgbClr val="8A8173"/>
            </a:solidFill>
            <a:prstDash val="solid"/>
          </a:ln>
        </p:spPr>
      </p:sp>
      <p:sp>
        <p:nvSpPr>
          <p:cNvPr id="20" name="Text 14"/>
          <p:cNvSpPr/>
          <p:nvPr/>
        </p:nvSpPr>
        <p:spPr>
          <a:xfrm>
            <a:off x="6310406" y="2081538"/>
            <a:ext cx="5130830"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1EBDF"/>
                </a:solidFill>
                <a:latin typeface="Courier Prime" pitchFamily="49" charset="0"/>
                <a:ea typeface="Courier Prime" pitchFamily="49" charset="-122"/>
                <a:cs typeface="Courier Prime" pitchFamily="49" charset="-120"/>
              </a:rPr>
              <a:t>FIG. 06-B / LOAD TEST</a:t>
            </a:r>
            <a:endParaRPr lang="en-US" sz="1200" dirty="0"/>
          </a:p>
        </p:txBody>
      </p:sp>
      <p:pic>
        <p:nvPicPr>
          <p:cNvPr id="21" name="Image 4" descr="Empty load-test graph frame with axes">    </p:cNvPr>
          <p:cNvPicPr>
            <a:picLocks noChangeAspect="1"/>
          </p:cNvPicPr>
          <p:nvPr/>
        </p:nvPicPr>
        <p:blipFill>
          <a:blip r:embed="rId5"/>
          <a:srcRect l="0" r="0" t="0" b="0"/>
          <a:stretch/>
        </p:blipFill>
        <p:spPr>
          <a:xfrm>
            <a:off x="6310406" y="2358371"/>
            <a:ext cx="4953000" cy="952500"/>
          </a:xfrm>
          <a:prstGeom prst="rect">
            <a:avLst/>
          </a:prstGeom>
        </p:spPr>
      </p:pic>
      <p:sp>
        <p:nvSpPr>
          <p:cNvPr id="22" name="Text 15"/>
          <p:cNvSpPr/>
          <p:nvPr/>
        </p:nvSpPr>
        <p:spPr>
          <a:xfrm>
            <a:off x="6310406" y="3388333"/>
            <a:ext cx="2618418"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0D3"/>
                </a:solidFill>
                <a:latin typeface="Courier Prime" pitchFamily="49" charset="0"/>
                <a:ea typeface="Courier Prime" pitchFamily="49" charset="-122"/>
                <a:cs typeface="Courier Prime" pitchFamily="49" charset="-120"/>
              </a:rPr>
              <a:t>[INSERT LOAD-TEST GRAPH]</a:t>
            </a:r>
            <a:endParaRPr lang="en-US" sz="1200" dirty="0"/>
          </a:p>
        </p:txBody>
      </p:sp>
      <p:sp>
        <p:nvSpPr>
          <p:cNvPr id="23" name="Text 16"/>
          <p:cNvSpPr/>
          <p:nvPr/>
        </p:nvSpPr>
        <p:spPr>
          <a:xfrm>
            <a:off x="8966574" y="3374371"/>
            <a:ext cx="2325221" cy="266700"/>
          </a:xfrm>
          <a:prstGeom prst="rect">
            <a:avLst/>
          </a:prstGeom>
          <a:noFill/>
          <a:ln/>
        </p:spPr>
        <p:txBody>
          <a:bodyPr wrap="square" lIns="0" tIns="0" rIns="0" bIns="0" rtlCol="0" anchor="t">
            <a:normAutofit/>
          </a:bodyPr>
          <a:lstStyle/>
          <a:p>
            <a:pPr algn="r" indent="0" marL="0">
              <a:lnSpc>
                <a:spcPts val="1900"/>
              </a:lnSpc>
              <a:buNone/>
            </a:pPr>
            <a:r>
              <a:rPr lang="en-US" sz="1900" b="1" dirty="0">
                <a:solidFill>
                  <a:srgbClr val="E5605C"/>
                </a:solidFill>
                <a:latin typeface="Caveat" pitchFamily="18" charset="0"/>
                <a:ea typeface="Caveat" pitchFamily="18" charset="-122"/>
                <a:cs typeface="Caveat" pitchFamily="18" charset="-120"/>
              </a:rPr>
              <a:t>SYSTEM RECOVERED</a:t>
            </a:r>
            <a:endParaRPr lang="en-US" sz="1900" dirty="0"/>
          </a:p>
        </p:txBody>
      </p:sp>
      <p:sp>
        <p:nvSpPr>
          <p:cNvPr id="24" name="Shape 17"/>
          <p:cNvSpPr/>
          <p:nvPr/>
        </p:nvSpPr>
        <p:spPr>
          <a:xfrm>
            <a:off x="780303" y="4031735"/>
            <a:ext cx="3433716" cy="872238"/>
          </a:xfrm>
          <a:prstGeom prst="rect">
            <a:avLst/>
          </a:prstGeom>
          <a:noFill/>
          <a:ln w="12700">
            <a:solidFill>
              <a:srgbClr val="F1EBDF"/>
            </a:solidFill>
            <a:prstDash val="solid"/>
          </a:ln>
        </p:spPr>
      </p:sp>
      <p:sp>
        <p:nvSpPr>
          <p:cNvPr id="25" name="Text 18"/>
          <p:cNvSpPr/>
          <p:nvPr/>
        </p:nvSpPr>
        <p:spPr>
          <a:xfrm>
            <a:off x="938306" y="4113538"/>
            <a:ext cx="3211241"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1EBDF"/>
                </a:solidFill>
                <a:latin typeface="Courier Prime" pitchFamily="49" charset="0"/>
                <a:ea typeface="Courier Prime" pitchFamily="49" charset="-122"/>
                <a:cs typeface="Courier Prime" pitchFamily="49" charset="-120"/>
              </a:rPr>
              <a:t>ESTIMATED CAPACITY</a:t>
            </a:r>
            <a:endParaRPr lang="en-US" sz="1200" dirty="0"/>
          </a:p>
        </p:txBody>
      </p:sp>
      <p:sp>
        <p:nvSpPr>
          <p:cNvPr id="26" name="Text 19"/>
          <p:cNvSpPr/>
          <p:nvPr/>
        </p:nvSpPr>
        <p:spPr>
          <a:xfrm>
            <a:off x="938306" y="4339571"/>
            <a:ext cx="3211241" cy="508000"/>
          </a:xfrm>
          <a:prstGeom prst="rect">
            <a:avLst/>
          </a:prstGeom>
          <a:noFill/>
          <a:ln/>
        </p:spPr>
        <p:txBody>
          <a:bodyPr wrap="square" lIns="0" tIns="0" rIns="0" bIns="0" rtlCol="0" anchor="t">
            <a:normAutofit/>
          </a:bodyPr>
          <a:lstStyle/>
          <a:p>
            <a:pPr algn="l" indent="0" marL="0">
              <a:lnSpc>
                <a:spcPts val="3800"/>
              </a:lnSpc>
              <a:buNone/>
            </a:pPr>
            <a:r>
              <a:rPr lang="en-US" sz="3800" dirty="0">
                <a:solidFill>
                  <a:srgbClr val="E5605C"/>
                </a:solidFill>
                <a:latin typeface="Anton" pitchFamily="34" charset="0"/>
                <a:ea typeface="Anton" pitchFamily="34" charset="-122"/>
                <a:cs typeface="Anton" pitchFamily="34" charset="-120"/>
              </a:rPr>
              <a:t>[X] USERS</a:t>
            </a:r>
            <a:endParaRPr lang="en-US" sz="3800" dirty="0"/>
          </a:p>
        </p:txBody>
      </p:sp>
      <p:sp>
        <p:nvSpPr>
          <p:cNvPr id="27" name="Shape 20"/>
          <p:cNvSpPr/>
          <p:nvPr/>
        </p:nvSpPr>
        <p:spPr>
          <a:xfrm>
            <a:off x="4379119" y="4031735"/>
            <a:ext cx="3433763" cy="872238"/>
          </a:xfrm>
          <a:prstGeom prst="rect">
            <a:avLst/>
          </a:prstGeom>
          <a:noFill/>
          <a:ln w="12700">
            <a:solidFill>
              <a:srgbClr val="F1EBDF"/>
            </a:solidFill>
            <a:prstDash val="solid"/>
          </a:ln>
        </p:spPr>
      </p:sp>
      <p:sp>
        <p:nvSpPr>
          <p:cNvPr id="28" name="Text 21"/>
          <p:cNvSpPr/>
          <p:nvPr/>
        </p:nvSpPr>
        <p:spPr>
          <a:xfrm>
            <a:off x="4537122" y="4113538"/>
            <a:ext cx="3211289"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1EBDF"/>
                </a:solidFill>
                <a:latin typeface="Courier Prime" pitchFamily="49" charset="0"/>
                <a:ea typeface="Courier Prime" pitchFamily="49" charset="-122"/>
                <a:cs typeface="Courier Prime" pitchFamily="49" charset="-120"/>
              </a:rPr>
              <a:t>MEASURED CAPACITY</a:t>
            </a:r>
            <a:endParaRPr lang="en-US" sz="1200" dirty="0"/>
          </a:p>
        </p:txBody>
      </p:sp>
      <p:sp>
        <p:nvSpPr>
          <p:cNvPr id="29" name="Text 22"/>
          <p:cNvSpPr/>
          <p:nvPr/>
        </p:nvSpPr>
        <p:spPr>
          <a:xfrm>
            <a:off x="4537122" y="4339571"/>
            <a:ext cx="3211289" cy="508000"/>
          </a:xfrm>
          <a:prstGeom prst="rect">
            <a:avLst/>
          </a:prstGeom>
          <a:noFill/>
          <a:ln/>
        </p:spPr>
        <p:txBody>
          <a:bodyPr wrap="square" lIns="0" tIns="0" rIns="0" bIns="0" rtlCol="0" anchor="t">
            <a:normAutofit/>
          </a:bodyPr>
          <a:lstStyle/>
          <a:p>
            <a:pPr algn="l" indent="0" marL="0">
              <a:lnSpc>
                <a:spcPts val="3800"/>
              </a:lnSpc>
              <a:buNone/>
            </a:pPr>
            <a:r>
              <a:rPr lang="en-US" sz="3800" dirty="0">
                <a:solidFill>
                  <a:srgbClr val="E5605C"/>
                </a:solidFill>
                <a:latin typeface="Anton" pitchFamily="34" charset="0"/>
                <a:ea typeface="Anton" pitchFamily="34" charset="-122"/>
                <a:cs typeface="Anton" pitchFamily="34" charset="-120"/>
              </a:rPr>
              <a:t>[Y] USERS</a:t>
            </a:r>
            <a:endParaRPr lang="en-US" sz="3800" dirty="0"/>
          </a:p>
        </p:txBody>
      </p:sp>
      <p:sp>
        <p:nvSpPr>
          <p:cNvPr id="30" name="Shape 23"/>
          <p:cNvSpPr/>
          <p:nvPr/>
        </p:nvSpPr>
        <p:spPr>
          <a:xfrm>
            <a:off x="7977981" y="4031735"/>
            <a:ext cx="3433716" cy="872238"/>
          </a:xfrm>
          <a:prstGeom prst="rect">
            <a:avLst/>
          </a:prstGeom>
          <a:noFill/>
          <a:ln w="12700">
            <a:solidFill>
              <a:srgbClr val="F1EBDF"/>
            </a:solidFill>
            <a:prstDash val="solid"/>
          </a:ln>
        </p:spPr>
      </p:sp>
      <p:sp>
        <p:nvSpPr>
          <p:cNvPr id="31" name="Text 24"/>
          <p:cNvSpPr/>
          <p:nvPr/>
        </p:nvSpPr>
        <p:spPr>
          <a:xfrm>
            <a:off x="8135984" y="4113538"/>
            <a:ext cx="3211241"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1EBDF"/>
                </a:solidFill>
                <a:latin typeface="Courier Prime" pitchFamily="49" charset="0"/>
                <a:ea typeface="Courier Prime" pitchFamily="49" charset="-122"/>
                <a:cs typeface="Courier Prime" pitchFamily="49" charset="-120"/>
              </a:rPr>
              <a:t>ERROR RATE</a:t>
            </a:r>
            <a:endParaRPr lang="en-US" sz="1200" dirty="0"/>
          </a:p>
        </p:txBody>
      </p:sp>
      <p:sp>
        <p:nvSpPr>
          <p:cNvPr id="32" name="Text 25"/>
          <p:cNvSpPr/>
          <p:nvPr/>
        </p:nvSpPr>
        <p:spPr>
          <a:xfrm>
            <a:off x="8135984" y="4339571"/>
            <a:ext cx="3211241" cy="508000"/>
          </a:xfrm>
          <a:prstGeom prst="rect">
            <a:avLst/>
          </a:prstGeom>
          <a:noFill/>
          <a:ln/>
        </p:spPr>
        <p:txBody>
          <a:bodyPr wrap="square" lIns="0" tIns="0" rIns="0" bIns="0" rtlCol="0" anchor="t">
            <a:normAutofit/>
          </a:bodyPr>
          <a:lstStyle/>
          <a:p>
            <a:pPr algn="l" indent="0" marL="0">
              <a:lnSpc>
                <a:spcPts val="3800"/>
              </a:lnSpc>
              <a:buNone/>
            </a:pPr>
            <a:r>
              <a:rPr lang="en-US" sz="3800" dirty="0">
                <a:solidFill>
                  <a:srgbClr val="E5605C"/>
                </a:solidFill>
                <a:latin typeface="Anton" pitchFamily="34" charset="0"/>
                <a:ea typeface="Anton" pitchFamily="34" charset="-122"/>
                <a:cs typeface="Anton" pitchFamily="34" charset="-120"/>
              </a:rPr>
              <a:t>[Z]%</a:t>
            </a:r>
            <a:endParaRPr lang="en-US" sz="3800" dirty="0"/>
          </a:p>
        </p:txBody>
      </p:sp>
      <p:sp>
        <p:nvSpPr>
          <p:cNvPr id="33" name="Shape 26"/>
          <p:cNvSpPr/>
          <p:nvPr/>
        </p:nvSpPr>
        <p:spPr>
          <a:xfrm>
            <a:off x="793003" y="5062724"/>
            <a:ext cx="0" cy="520653"/>
          </a:xfrm>
          <a:prstGeom prst="line">
            <a:avLst/>
          </a:prstGeom>
          <a:noFill/>
          <a:ln w="38100">
            <a:solidFill>
              <a:srgbClr val="C3312F"/>
            </a:solidFill>
            <a:prstDash val="solid"/>
          </a:ln>
        </p:spPr>
      </p:sp>
      <p:sp>
        <p:nvSpPr>
          <p:cNvPr id="34" name="Text 27"/>
          <p:cNvSpPr/>
          <p:nvPr/>
        </p:nvSpPr>
        <p:spPr>
          <a:xfrm>
            <a:off x="936812" y="5088124"/>
            <a:ext cx="3251254"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1EBDF"/>
                </a:solidFill>
                <a:latin typeface="Courier Prime" pitchFamily="49" charset="0"/>
                <a:ea typeface="Courier Prime" pitchFamily="49" charset="-122"/>
                <a:cs typeface="Courier Prime" pitchFamily="49" charset="-120"/>
              </a:rPr>
              <a:t>BOTTLENECK</a:t>
            </a:r>
            <a:endParaRPr lang="en-US" sz="1200" dirty="0"/>
          </a:p>
        </p:txBody>
      </p:sp>
      <p:sp>
        <p:nvSpPr>
          <p:cNvPr id="35" name="Text 28"/>
          <p:cNvSpPr/>
          <p:nvPr/>
        </p:nvSpPr>
        <p:spPr>
          <a:xfrm>
            <a:off x="936812" y="5326856"/>
            <a:ext cx="3251254" cy="25652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1EBDF"/>
                </a:solidFill>
                <a:latin typeface="Public Sans" pitchFamily="34" charset="0"/>
                <a:ea typeface="Public Sans" pitchFamily="34" charset="-122"/>
                <a:cs typeface="Public Sans" pitchFamily="34" charset="-120"/>
              </a:rPr>
              <a:t>[What saturated first.]</a:t>
            </a:r>
            <a:endParaRPr lang="en-US" sz="1400" dirty="0"/>
          </a:p>
        </p:txBody>
      </p:sp>
      <p:sp>
        <p:nvSpPr>
          <p:cNvPr id="36" name="Shape 29"/>
          <p:cNvSpPr/>
          <p:nvPr/>
        </p:nvSpPr>
        <p:spPr>
          <a:xfrm>
            <a:off x="4391819" y="5062724"/>
            <a:ext cx="0" cy="520653"/>
          </a:xfrm>
          <a:prstGeom prst="line">
            <a:avLst/>
          </a:prstGeom>
          <a:noFill/>
          <a:ln w="38100">
            <a:solidFill>
              <a:srgbClr val="C3312F"/>
            </a:solidFill>
            <a:prstDash val="solid"/>
          </a:ln>
        </p:spPr>
      </p:sp>
      <p:sp>
        <p:nvSpPr>
          <p:cNvPr id="37" name="Text 30"/>
          <p:cNvSpPr/>
          <p:nvPr/>
        </p:nvSpPr>
        <p:spPr>
          <a:xfrm>
            <a:off x="4535627" y="5088124"/>
            <a:ext cx="3251302"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1EBDF"/>
                </a:solidFill>
                <a:latin typeface="Courier Prime" pitchFamily="49" charset="0"/>
                <a:ea typeface="Courier Prime" pitchFamily="49" charset="-122"/>
                <a:cs typeface="Courier Prime" pitchFamily="49" charset="-120"/>
              </a:rPr>
              <a:t>OVERLOAD BEHAVIOR</a:t>
            </a:r>
            <a:endParaRPr lang="en-US" sz="1200" dirty="0"/>
          </a:p>
        </p:txBody>
      </p:sp>
      <p:sp>
        <p:nvSpPr>
          <p:cNvPr id="38" name="Text 31"/>
          <p:cNvSpPr/>
          <p:nvPr/>
        </p:nvSpPr>
        <p:spPr>
          <a:xfrm>
            <a:off x="4535627" y="5326856"/>
            <a:ext cx="3251302" cy="25652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1EBDF"/>
                </a:solidFill>
                <a:latin typeface="Public Sans" pitchFamily="34" charset="0"/>
                <a:ea typeface="Public Sans" pitchFamily="34" charset="-122"/>
                <a:cs typeface="Public Sans" pitchFamily="34" charset="-120"/>
              </a:rPr>
              <a:t>[What the system did past capacity.]</a:t>
            </a:r>
            <a:endParaRPr lang="en-US" sz="1400" dirty="0"/>
          </a:p>
        </p:txBody>
      </p:sp>
      <p:sp>
        <p:nvSpPr>
          <p:cNvPr id="39" name="Shape 32"/>
          <p:cNvSpPr/>
          <p:nvPr/>
        </p:nvSpPr>
        <p:spPr>
          <a:xfrm>
            <a:off x="7990681" y="5062724"/>
            <a:ext cx="0" cy="520653"/>
          </a:xfrm>
          <a:prstGeom prst="line">
            <a:avLst/>
          </a:prstGeom>
          <a:noFill/>
          <a:ln w="38100">
            <a:solidFill>
              <a:srgbClr val="C3312F"/>
            </a:solidFill>
            <a:prstDash val="solid"/>
          </a:ln>
        </p:spPr>
      </p:sp>
      <p:sp>
        <p:nvSpPr>
          <p:cNvPr id="40" name="Text 33"/>
          <p:cNvSpPr/>
          <p:nvPr/>
        </p:nvSpPr>
        <p:spPr>
          <a:xfrm>
            <a:off x="8134490" y="5088124"/>
            <a:ext cx="3251254"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1EBDF"/>
                </a:solidFill>
                <a:latin typeface="Courier Prime" pitchFamily="49" charset="0"/>
                <a:ea typeface="Courier Prime" pitchFamily="49" charset="-122"/>
                <a:cs typeface="Courier Prime" pitchFamily="49" charset="-120"/>
              </a:rPr>
              <a:t>RECOVERY</a:t>
            </a:r>
            <a:endParaRPr lang="en-US" sz="1200" dirty="0"/>
          </a:p>
        </p:txBody>
      </p:sp>
      <p:sp>
        <p:nvSpPr>
          <p:cNvPr id="41" name="Text 34"/>
          <p:cNvSpPr/>
          <p:nvPr/>
        </p:nvSpPr>
        <p:spPr>
          <a:xfrm>
            <a:off x="8134490" y="5326856"/>
            <a:ext cx="3251254" cy="25652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1EBDF"/>
                </a:solidFill>
                <a:latin typeface="Public Sans" pitchFamily="34" charset="0"/>
                <a:ea typeface="Public Sans" pitchFamily="34" charset="-122"/>
                <a:cs typeface="Public Sans" pitchFamily="34" charset="-120"/>
              </a:rPr>
              <a:t>[How and how fast it recovered.]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304800" y="304800"/>
            <a:ext cx="11582400" cy="6248400"/>
          </a:xfrm>
          <a:prstGeom prst="rect">
            <a:avLst/>
          </a:prstGeom>
          <a:gradFill rotWithShape="1">
            <a:gsLst>
              <a:gs pos="0">
                <a:srgbClr val="F5F0E5"/>
              </a:gs>
              <a:gs pos="50000">
                <a:srgbClr val="F1EBDF"/>
              </a:gs>
              <a:gs pos="100000">
                <a:srgbClr val="E8E0D3"/>
              </a:gs>
            </a:gsLst>
            <a:path path="circle">
              <a:fillToRect l="30000" t="20000" r="70000" b="80000"/>
            </a:path>
          </a:gradFill>
          <a:ln/>
          <a:effectLst>
            <a:outerShdw sx="100000" sy="100000" kx="0" ky="0" algn="bl" rotWithShape="0" blurRad="381000" dist="127000" dir="5400000">
              <a:srgbClr val="000000">
                <a:alpha val="60000"/>
              </a:srgbClr>
            </a:outerShdw>
          </a:effectLst>
        </p:spPr>
      </p:sp>
      <p:sp>
        <p:nvSpPr>
          <p:cNvPr id="3" name="Shape 1"/>
          <p:cNvSpPr/>
          <p:nvPr/>
        </p:nvSpPr>
        <p:spPr>
          <a:xfrm>
            <a:off x="762000" y="1001666"/>
            <a:ext cx="10668000" cy="0"/>
          </a:xfrm>
          <a:prstGeom prst="line">
            <a:avLst/>
          </a:prstGeom>
          <a:noFill/>
          <a:ln w="19050">
            <a:solidFill>
              <a:srgbClr val="191919"/>
            </a:solidFill>
            <a:prstDash val="solid"/>
          </a:ln>
        </p:spPr>
      </p:sp>
      <p:sp>
        <p:nvSpPr>
          <p:cNvPr id="4" name="Text 2"/>
          <p:cNvSpPr/>
          <p:nvPr/>
        </p:nvSpPr>
        <p:spPr>
          <a:xfrm>
            <a:off x="762000" y="584200"/>
            <a:ext cx="1012218" cy="304800"/>
          </a:xfrm>
          <a:prstGeom prst="rect">
            <a:avLst/>
          </a:prstGeom>
          <a:noFill/>
          <a:ln/>
        </p:spPr>
        <p:txBody>
          <a:bodyPr wrap="square" lIns="0" tIns="0" rIns="0" bIns="0" rtlCol="0" anchor="t">
            <a:normAutofit/>
          </a:bodyPr>
          <a:lstStyle/>
          <a:p>
            <a:pPr algn="l" indent="0" marL="0">
              <a:lnSpc>
                <a:spcPts val="2200"/>
              </a:lnSpc>
              <a:buNone/>
            </a:pPr>
            <a:r>
              <a:rPr lang="en-US" sz="2200" spc="100" kern="0" dirty="0">
                <a:solidFill>
                  <a:srgbClr val="191919"/>
                </a:solidFill>
                <a:latin typeface="Anton" pitchFamily="34" charset="0"/>
                <a:ea typeface="Anton" pitchFamily="34" charset="-122"/>
                <a:cs typeface="Anton" pitchFamily="34" charset="-120"/>
              </a:rPr>
              <a:t>FILSPAY</a:t>
            </a:r>
            <a:endParaRPr lang="en-US" sz="2200" dirty="0"/>
          </a:p>
        </p:txBody>
      </p:sp>
      <p:sp>
        <p:nvSpPr>
          <p:cNvPr id="5" name="Text 3"/>
          <p:cNvSpPr/>
          <p:nvPr/>
        </p:nvSpPr>
        <p:spPr>
          <a:xfrm>
            <a:off x="1774218" y="703731"/>
            <a:ext cx="2631758"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919"/>
                </a:solidFill>
                <a:latin typeface="Courier Prime" pitchFamily="49" charset="0"/>
                <a:ea typeface="Courier Prime" pitchFamily="49" charset="-122"/>
                <a:cs typeface="Courier Prime" pitchFamily="49" charset="-120"/>
              </a:rPr>
              <a:t>THE HANDOVER / CASE FILE</a:t>
            </a:r>
            <a:endParaRPr lang="en-US" sz="1200" dirty="0"/>
          </a:p>
        </p:txBody>
      </p:sp>
      <p:sp>
        <p:nvSpPr>
          <p:cNvPr id="6" name="Text 4"/>
          <p:cNvSpPr/>
          <p:nvPr>
            <p:ph type="title"/>
          </p:nvPr>
        </p:nvSpPr>
        <p:spPr>
          <a:xfrm>
            <a:off x="762000" y="1163591"/>
            <a:ext cx="10988040" cy="1092200"/>
          </a:xfrm>
          <a:prstGeom prst="rect">
            <a:avLst/>
          </a:prstGeom>
          <a:noFill/>
          <a:ln/>
        </p:spPr>
        <p:txBody>
          <a:bodyPr wrap="square" lIns="0" tIns="0" rIns="0" bIns="0" rtlCol="0" anchor="t">
            <a:normAutofit/>
          </a:bodyPr>
          <a:lstStyle/>
          <a:p>
            <a:pPr algn="l" indent="0" marL="0">
              <a:lnSpc>
                <a:spcPts val="4200"/>
              </a:lnSpc>
              <a:buNone/>
            </a:pPr>
            <a:r>
              <a:rPr lang="en-US" sz="4200" b="0" i="0" dirty="0">
                <a:solidFill>
                  <a:srgbClr val="191919"/>
                </a:solidFill>
                <a:latin typeface="Anton" pitchFamily="34" charset="0"/>
                <a:ea typeface="Anton" pitchFamily="34" charset="-122"/>
                <a:cs typeface="Anton" pitchFamily="34" charset="-120"/>
              </a:rPr>
              <a:t>AI WAS AN INVESTIGATION TOOL.</a:t>
            </a:r>
            <a:endParaRPr lang="en-US" sz="4200" dirty="0"/>
          </a:p>
          <a:p>
            <a:pPr algn="l" indent="0" marL="0">
              <a:lnSpc>
                <a:spcPts val="4200"/>
              </a:lnSpc>
              <a:buNone/>
            </a:pPr>
            <a:r>
              <a:rPr lang="en-US" sz="4200" b="0" i="0" dirty="0">
                <a:solidFill>
                  <a:srgbClr val="A72626"/>
                </a:solidFill>
                <a:latin typeface="Anton" pitchFamily="34" charset="0"/>
                <a:ea typeface="Anton" pitchFamily="34" charset="-122"/>
                <a:cs typeface="Anton" pitchFamily="34" charset="-120"/>
              </a:rPr>
              <a:t>NOT THE JUDGE.</a:t>
            </a:r>
            <a:endParaRPr lang="en-US" sz="4200" dirty="0"/>
          </a:p>
        </p:txBody>
      </p:sp>
      <p:sp>
        <p:nvSpPr>
          <p:cNvPr id="7" name="Shape 5"/>
          <p:cNvSpPr/>
          <p:nvPr/>
        </p:nvSpPr>
        <p:spPr>
          <a:xfrm>
            <a:off x="768350" y="2389141"/>
            <a:ext cx="1543050" cy="825500"/>
          </a:xfrm>
          <a:prstGeom prst="rect">
            <a:avLst/>
          </a:prstGeom>
          <a:solidFill>
            <a:srgbClr val="FBF7EE"/>
          </a:solidFill>
          <a:ln w="12700">
            <a:solidFill>
              <a:srgbClr val="191919"/>
            </a:solidFill>
            <a:prstDash val="solid"/>
          </a:ln>
        </p:spPr>
      </p:sp>
      <p:sp>
        <p:nvSpPr>
          <p:cNvPr id="8" name="Text 6"/>
          <p:cNvSpPr/>
          <p:nvPr/>
        </p:nvSpPr>
        <p:spPr>
          <a:xfrm>
            <a:off x="850153" y="2606349"/>
            <a:ext cx="1430244" cy="208243"/>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A72626"/>
                </a:solidFill>
                <a:latin typeface="Courier Prime" pitchFamily="49" charset="0"/>
                <a:ea typeface="Courier Prime" pitchFamily="49" charset="-122"/>
                <a:cs typeface="Courier Prime" pitchFamily="49" charset="-120"/>
              </a:rPr>
              <a:t>01</a:t>
            </a:r>
            <a:endParaRPr lang="en-US" sz="1200" dirty="0"/>
          </a:p>
        </p:txBody>
      </p:sp>
      <p:sp>
        <p:nvSpPr>
          <p:cNvPr id="9" name="Text 7"/>
          <p:cNvSpPr/>
          <p:nvPr/>
        </p:nvSpPr>
        <p:spPr>
          <a:xfrm>
            <a:off x="850153" y="2814591"/>
            <a:ext cx="1430244" cy="208243"/>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91919"/>
                </a:solidFill>
                <a:latin typeface="Courier Prime" pitchFamily="49" charset="0"/>
                <a:ea typeface="Courier Prime" pitchFamily="49" charset="-122"/>
                <a:cs typeface="Courier Prime" pitchFamily="49" charset="-120"/>
              </a:rPr>
              <a:t>REPOSITORY</a:t>
            </a:r>
            <a:endParaRPr lang="en-US" sz="1200" dirty="0"/>
          </a:p>
        </p:txBody>
      </p:sp>
      <p:pic>
        <p:nvPicPr>
          <p:cNvPr id="10" name="Image 0" descr="arrow-right">    </p:cNvPr>
          <p:cNvPicPr>
            <a:picLocks noChangeAspect="1"/>
          </p:cNvPicPr>
          <p:nvPr/>
        </p:nvPicPr>
        <p:blipFill>
          <a:blip r:embed="rId1"/>
          <a:srcRect l="0" r="0" t="0" b="0"/>
          <a:stretch/>
        </p:blipFill>
        <p:spPr>
          <a:xfrm>
            <a:off x="2362200" y="2732041"/>
            <a:ext cx="177800" cy="139700"/>
          </a:xfrm>
          <a:prstGeom prst="rect">
            <a:avLst/>
          </a:prstGeom>
        </p:spPr>
      </p:pic>
      <p:sp>
        <p:nvSpPr>
          <p:cNvPr id="11" name="Shape 8"/>
          <p:cNvSpPr/>
          <p:nvPr/>
        </p:nvSpPr>
        <p:spPr>
          <a:xfrm>
            <a:off x="2590800" y="2389141"/>
            <a:ext cx="1543050" cy="825500"/>
          </a:xfrm>
          <a:prstGeom prst="rect">
            <a:avLst/>
          </a:prstGeom>
          <a:solidFill>
            <a:srgbClr val="FBF7EE"/>
          </a:solidFill>
          <a:ln w="12700">
            <a:solidFill>
              <a:srgbClr val="191919"/>
            </a:solidFill>
            <a:prstDash val="solid"/>
          </a:ln>
        </p:spPr>
      </p:sp>
      <p:sp>
        <p:nvSpPr>
          <p:cNvPr id="12" name="Text 9"/>
          <p:cNvSpPr/>
          <p:nvPr/>
        </p:nvSpPr>
        <p:spPr>
          <a:xfrm>
            <a:off x="2672603" y="2606349"/>
            <a:ext cx="1430244" cy="208243"/>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A72626"/>
                </a:solidFill>
                <a:latin typeface="Courier Prime" pitchFamily="49" charset="0"/>
                <a:ea typeface="Courier Prime" pitchFamily="49" charset="-122"/>
                <a:cs typeface="Courier Prime" pitchFamily="49" charset="-120"/>
              </a:rPr>
              <a:t>02</a:t>
            </a:r>
            <a:endParaRPr lang="en-US" sz="1200" dirty="0"/>
          </a:p>
        </p:txBody>
      </p:sp>
      <p:sp>
        <p:nvSpPr>
          <p:cNvPr id="13" name="Text 10"/>
          <p:cNvSpPr/>
          <p:nvPr/>
        </p:nvSpPr>
        <p:spPr>
          <a:xfrm>
            <a:off x="2672603" y="2814591"/>
            <a:ext cx="1430244" cy="208243"/>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91919"/>
                </a:solidFill>
                <a:latin typeface="Courier Prime" pitchFamily="49" charset="0"/>
                <a:ea typeface="Courier Prime" pitchFamily="49" charset="-122"/>
                <a:cs typeface="Courier Prime" pitchFamily="49" charset="-120"/>
              </a:rPr>
              <a:t>AI AGENTS</a:t>
            </a:r>
            <a:endParaRPr lang="en-US" sz="1200" dirty="0"/>
          </a:p>
        </p:txBody>
      </p:sp>
      <p:pic>
        <p:nvPicPr>
          <p:cNvPr id="14" name="Image 1" descr="arrow-right">    </p:cNvPr>
          <p:cNvPicPr>
            <a:picLocks noChangeAspect="1"/>
          </p:cNvPicPr>
          <p:nvPr/>
        </p:nvPicPr>
        <p:blipFill>
          <a:blip r:embed="rId2"/>
          <a:srcRect l="0" r="0" t="0" b="0"/>
          <a:stretch/>
        </p:blipFill>
        <p:spPr>
          <a:xfrm>
            <a:off x="4184650" y="2732041"/>
            <a:ext cx="177800" cy="139700"/>
          </a:xfrm>
          <a:prstGeom prst="rect">
            <a:avLst/>
          </a:prstGeom>
        </p:spPr>
      </p:pic>
      <p:sp>
        <p:nvSpPr>
          <p:cNvPr id="15" name="Shape 11"/>
          <p:cNvSpPr/>
          <p:nvPr/>
        </p:nvSpPr>
        <p:spPr>
          <a:xfrm>
            <a:off x="4413250" y="2389141"/>
            <a:ext cx="1543050" cy="825500"/>
          </a:xfrm>
          <a:prstGeom prst="rect">
            <a:avLst/>
          </a:prstGeom>
          <a:solidFill>
            <a:srgbClr val="FBF7EE"/>
          </a:solidFill>
          <a:ln w="12700">
            <a:solidFill>
              <a:srgbClr val="191919"/>
            </a:solidFill>
            <a:prstDash val="solid"/>
          </a:ln>
        </p:spPr>
      </p:sp>
      <p:sp>
        <p:nvSpPr>
          <p:cNvPr id="16" name="Text 12"/>
          <p:cNvSpPr/>
          <p:nvPr/>
        </p:nvSpPr>
        <p:spPr>
          <a:xfrm>
            <a:off x="4495053" y="2606349"/>
            <a:ext cx="1430244" cy="208243"/>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A72626"/>
                </a:solidFill>
                <a:latin typeface="Courier Prime" pitchFamily="49" charset="0"/>
                <a:ea typeface="Courier Prime" pitchFamily="49" charset="-122"/>
                <a:cs typeface="Courier Prime" pitchFamily="49" charset="-120"/>
              </a:rPr>
              <a:t>03</a:t>
            </a:r>
            <a:endParaRPr lang="en-US" sz="1200" dirty="0"/>
          </a:p>
        </p:txBody>
      </p:sp>
      <p:sp>
        <p:nvSpPr>
          <p:cNvPr id="17" name="Text 13"/>
          <p:cNvSpPr/>
          <p:nvPr/>
        </p:nvSpPr>
        <p:spPr>
          <a:xfrm>
            <a:off x="4495053" y="2814591"/>
            <a:ext cx="1430244" cy="208243"/>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91919"/>
                </a:solidFill>
                <a:latin typeface="Courier Prime" pitchFamily="49" charset="0"/>
                <a:ea typeface="Courier Prime" pitchFamily="49" charset="-122"/>
                <a:cs typeface="Courier Prime" pitchFamily="49" charset="-120"/>
              </a:rPr>
              <a:t>FINDINGS</a:t>
            </a:r>
            <a:endParaRPr lang="en-US" sz="1200" dirty="0"/>
          </a:p>
        </p:txBody>
      </p:sp>
      <p:pic>
        <p:nvPicPr>
          <p:cNvPr id="18" name="Image 2" descr="arrow-right">    </p:cNvPr>
          <p:cNvPicPr>
            <a:picLocks noChangeAspect="1"/>
          </p:cNvPicPr>
          <p:nvPr/>
        </p:nvPicPr>
        <p:blipFill>
          <a:blip r:embed="rId3"/>
          <a:srcRect l="0" r="0" t="0" b="0"/>
          <a:stretch/>
        </p:blipFill>
        <p:spPr>
          <a:xfrm>
            <a:off x="6007100" y="2732041"/>
            <a:ext cx="177800" cy="139700"/>
          </a:xfrm>
          <a:prstGeom prst="rect">
            <a:avLst/>
          </a:prstGeom>
        </p:spPr>
      </p:pic>
      <p:sp>
        <p:nvSpPr>
          <p:cNvPr id="19" name="Shape 14"/>
          <p:cNvSpPr/>
          <p:nvPr/>
        </p:nvSpPr>
        <p:spPr>
          <a:xfrm>
            <a:off x="6235700" y="2389141"/>
            <a:ext cx="1543050" cy="825500"/>
          </a:xfrm>
          <a:prstGeom prst="rect">
            <a:avLst/>
          </a:prstGeom>
          <a:solidFill>
            <a:srgbClr val="A72626"/>
          </a:solidFill>
          <a:ln w="12700">
            <a:solidFill>
              <a:srgbClr val="671A1A"/>
            </a:solidFill>
            <a:prstDash val="solid"/>
          </a:ln>
        </p:spPr>
      </p:sp>
      <p:sp>
        <p:nvSpPr>
          <p:cNvPr id="20" name="Text 15"/>
          <p:cNvSpPr/>
          <p:nvPr/>
        </p:nvSpPr>
        <p:spPr>
          <a:xfrm>
            <a:off x="6317503" y="2514926"/>
            <a:ext cx="1430244" cy="208243"/>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F1EBDF"/>
                </a:solidFill>
                <a:latin typeface="Courier Prime" pitchFamily="49" charset="0"/>
                <a:ea typeface="Courier Prime" pitchFamily="49" charset="-122"/>
                <a:cs typeface="Courier Prime" pitchFamily="49" charset="-120"/>
              </a:rPr>
              <a:t>04</a:t>
            </a:r>
            <a:endParaRPr lang="en-US" sz="1200" dirty="0"/>
          </a:p>
        </p:txBody>
      </p:sp>
      <p:sp>
        <p:nvSpPr>
          <p:cNvPr id="21" name="Text 16"/>
          <p:cNvSpPr/>
          <p:nvPr/>
        </p:nvSpPr>
        <p:spPr>
          <a:xfrm>
            <a:off x="6317503" y="2723170"/>
            <a:ext cx="1430244" cy="391085"/>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F1EBDF"/>
                </a:solidFill>
                <a:latin typeface="Courier Prime" pitchFamily="49" charset="0"/>
                <a:ea typeface="Courier Prime" pitchFamily="49" charset="-122"/>
                <a:cs typeface="Courier Prime" pitchFamily="49" charset="-120"/>
              </a:rPr>
              <a:t>HUMAN VERIFICATION</a:t>
            </a:r>
            <a:endParaRPr lang="en-US" sz="1200" dirty="0"/>
          </a:p>
        </p:txBody>
      </p:sp>
      <p:pic>
        <p:nvPicPr>
          <p:cNvPr id="22" name="Image 3" descr="arrow-right">    </p:cNvPr>
          <p:cNvPicPr>
            <a:picLocks noChangeAspect="1"/>
          </p:cNvPicPr>
          <p:nvPr/>
        </p:nvPicPr>
        <p:blipFill>
          <a:blip r:embed="rId4"/>
          <a:srcRect l="0" r="0" t="0" b="0"/>
          <a:stretch/>
        </p:blipFill>
        <p:spPr>
          <a:xfrm>
            <a:off x="7829550" y="2732041"/>
            <a:ext cx="177800" cy="139700"/>
          </a:xfrm>
          <a:prstGeom prst="rect">
            <a:avLst/>
          </a:prstGeom>
        </p:spPr>
      </p:pic>
      <p:sp>
        <p:nvSpPr>
          <p:cNvPr id="23" name="Shape 17"/>
          <p:cNvSpPr/>
          <p:nvPr/>
        </p:nvSpPr>
        <p:spPr>
          <a:xfrm>
            <a:off x="8058150" y="2389141"/>
            <a:ext cx="1543050" cy="825500"/>
          </a:xfrm>
          <a:prstGeom prst="rect">
            <a:avLst/>
          </a:prstGeom>
          <a:solidFill>
            <a:srgbClr val="FBF7EE"/>
          </a:solidFill>
          <a:ln w="12700">
            <a:solidFill>
              <a:srgbClr val="191919"/>
            </a:solidFill>
            <a:prstDash val="solid"/>
          </a:ln>
        </p:spPr>
      </p:sp>
      <p:sp>
        <p:nvSpPr>
          <p:cNvPr id="24" name="Text 18"/>
          <p:cNvSpPr/>
          <p:nvPr/>
        </p:nvSpPr>
        <p:spPr>
          <a:xfrm>
            <a:off x="8139953" y="2606349"/>
            <a:ext cx="1430244" cy="208243"/>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A72626"/>
                </a:solidFill>
                <a:latin typeface="Courier Prime" pitchFamily="49" charset="0"/>
                <a:ea typeface="Courier Prime" pitchFamily="49" charset="-122"/>
                <a:cs typeface="Courier Prime" pitchFamily="49" charset="-120"/>
              </a:rPr>
              <a:t>05</a:t>
            </a:r>
            <a:endParaRPr lang="en-US" sz="1200" dirty="0"/>
          </a:p>
        </p:txBody>
      </p:sp>
      <p:sp>
        <p:nvSpPr>
          <p:cNvPr id="25" name="Text 19"/>
          <p:cNvSpPr/>
          <p:nvPr/>
        </p:nvSpPr>
        <p:spPr>
          <a:xfrm>
            <a:off x="8139953" y="2814591"/>
            <a:ext cx="1430244" cy="208243"/>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91919"/>
                </a:solidFill>
                <a:latin typeface="Courier Prime" pitchFamily="49" charset="0"/>
                <a:ea typeface="Courier Prime" pitchFamily="49" charset="-122"/>
                <a:cs typeface="Courier Prime" pitchFamily="49" charset="-120"/>
              </a:rPr>
              <a:t>IMPLEMENTATION</a:t>
            </a:r>
            <a:endParaRPr lang="en-US" sz="1200" dirty="0"/>
          </a:p>
        </p:txBody>
      </p:sp>
      <p:pic>
        <p:nvPicPr>
          <p:cNvPr id="26" name="Image 4" descr="arrow-right">    </p:cNvPr>
          <p:cNvPicPr>
            <a:picLocks noChangeAspect="1"/>
          </p:cNvPicPr>
          <p:nvPr/>
        </p:nvPicPr>
        <p:blipFill>
          <a:blip r:embed="rId5"/>
          <a:srcRect l="0" r="0" t="0" b="0"/>
          <a:stretch/>
        </p:blipFill>
        <p:spPr>
          <a:xfrm>
            <a:off x="9652000" y="2732041"/>
            <a:ext cx="177800" cy="139700"/>
          </a:xfrm>
          <a:prstGeom prst="rect">
            <a:avLst/>
          </a:prstGeom>
        </p:spPr>
      </p:pic>
      <p:sp>
        <p:nvSpPr>
          <p:cNvPr id="27" name="Shape 20"/>
          <p:cNvSpPr/>
          <p:nvPr/>
        </p:nvSpPr>
        <p:spPr>
          <a:xfrm>
            <a:off x="9880600" y="2389141"/>
            <a:ext cx="1543050" cy="825500"/>
          </a:xfrm>
          <a:prstGeom prst="rect">
            <a:avLst/>
          </a:prstGeom>
          <a:solidFill>
            <a:srgbClr val="FBF7EE"/>
          </a:solidFill>
          <a:ln w="12700">
            <a:solidFill>
              <a:srgbClr val="191919"/>
            </a:solidFill>
            <a:prstDash val="solid"/>
          </a:ln>
        </p:spPr>
      </p:sp>
      <p:sp>
        <p:nvSpPr>
          <p:cNvPr id="28" name="Text 21"/>
          <p:cNvSpPr/>
          <p:nvPr/>
        </p:nvSpPr>
        <p:spPr>
          <a:xfrm>
            <a:off x="9962403" y="2606349"/>
            <a:ext cx="1430244" cy="208243"/>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A72626"/>
                </a:solidFill>
                <a:latin typeface="Courier Prime" pitchFamily="49" charset="0"/>
                <a:ea typeface="Courier Prime" pitchFamily="49" charset="-122"/>
                <a:cs typeface="Courier Prime" pitchFamily="49" charset="-120"/>
              </a:rPr>
              <a:t>06</a:t>
            </a:r>
            <a:endParaRPr lang="en-US" sz="1200" dirty="0"/>
          </a:p>
        </p:txBody>
      </p:sp>
      <p:sp>
        <p:nvSpPr>
          <p:cNvPr id="29" name="Text 22"/>
          <p:cNvSpPr/>
          <p:nvPr/>
        </p:nvSpPr>
        <p:spPr>
          <a:xfrm>
            <a:off x="9962403" y="2814591"/>
            <a:ext cx="1430244" cy="208243"/>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91919"/>
                </a:solidFill>
                <a:latin typeface="Courier Prime" pitchFamily="49" charset="0"/>
                <a:ea typeface="Courier Prime" pitchFamily="49" charset="-122"/>
                <a:cs typeface="Courier Prime" pitchFamily="49" charset="-120"/>
              </a:rPr>
              <a:t>TESTS</a:t>
            </a:r>
            <a:endParaRPr lang="en-US" sz="1200" dirty="0"/>
          </a:p>
        </p:txBody>
      </p:sp>
      <p:sp>
        <p:nvSpPr>
          <p:cNvPr id="30" name="Shape 23"/>
          <p:cNvSpPr/>
          <p:nvPr/>
        </p:nvSpPr>
        <p:spPr>
          <a:xfrm>
            <a:off x="762000" y="3373391"/>
            <a:ext cx="3429000" cy="2773409"/>
          </a:xfrm>
          <a:prstGeom prst="rect">
            <a:avLst/>
          </a:prstGeom>
          <a:solidFill>
            <a:srgbClr val="FBF7EE"/>
          </a:solidFill>
          <a:ln/>
          <a:effectLst>
            <a:outerShdw sx="100000" sy="100000" kx="0" ky="0" algn="bl" rotWithShape="0" blurRad="88900" dist="38100" dir="5400000">
              <a:srgbClr val="000000">
                <a:alpha val="30000"/>
              </a:srgbClr>
            </a:outerShdw>
          </a:effectLst>
        </p:spPr>
      </p:sp>
      <p:sp>
        <p:nvSpPr>
          <p:cNvPr id="31" name="Shape 24"/>
          <p:cNvSpPr/>
          <p:nvPr/>
        </p:nvSpPr>
        <p:spPr>
          <a:xfrm>
            <a:off x="793750" y="3373391"/>
            <a:ext cx="0" cy="2773409"/>
          </a:xfrm>
          <a:prstGeom prst="line">
            <a:avLst/>
          </a:prstGeom>
          <a:noFill/>
          <a:ln w="63500">
            <a:solidFill>
              <a:srgbClr val="A72626"/>
            </a:solidFill>
            <a:prstDash val="solid"/>
          </a:ln>
        </p:spPr>
      </p:sp>
      <p:sp>
        <p:nvSpPr>
          <p:cNvPr id="32" name="Text 25"/>
          <p:cNvSpPr/>
          <p:nvPr/>
        </p:nvSpPr>
        <p:spPr>
          <a:xfrm>
            <a:off x="977153" y="3538491"/>
            <a:ext cx="3153290" cy="368300"/>
          </a:xfrm>
          <a:prstGeom prst="rect">
            <a:avLst/>
          </a:prstGeom>
          <a:noFill/>
          <a:ln/>
        </p:spPr>
        <p:txBody>
          <a:bodyPr wrap="square" lIns="0" tIns="0" rIns="0" bIns="0" rtlCol="0" anchor="t">
            <a:normAutofit/>
          </a:bodyPr>
          <a:lstStyle/>
          <a:p>
            <a:pPr algn="l" indent="0" marL="0">
              <a:lnSpc>
                <a:spcPts val="2700"/>
              </a:lnSpc>
              <a:buNone/>
            </a:pPr>
            <a:r>
              <a:rPr lang="en-US" sz="2700" dirty="0">
                <a:solidFill>
                  <a:srgbClr val="A72626"/>
                </a:solidFill>
                <a:latin typeface="Anton" pitchFamily="34" charset="0"/>
                <a:ea typeface="Anton" pitchFamily="34" charset="-122"/>
                <a:cs typeface="Anton" pitchFamily="34" charset="-120"/>
              </a:rPr>
              <a:t>AI GOT THIS WRONG.</a:t>
            </a:r>
            <a:endParaRPr lang="en-US" sz="2700" dirty="0"/>
          </a:p>
        </p:txBody>
      </p:sp>
      <p:sp>
        <p:nvSpPr>
          <p:cNvPr id="33" name="Text 26"/>
          <p:cNvSpPr/>
          <p:nvPr/>
        </p:nvSpPr>
        <p:spPr>
          <a:xfrm>
            <a:off x="977153" y="3957591"/>
            <a:ext cx="3153290"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919"/>
                </a:solidFill>
                <a:latin typeface="Courier Prime" pitchFamily="49" charset="0"/>
                <a:ea typeface="Courier Prime" pitchFamily="49" charset="-122"/>
                <a:cs typeface="Courier Prime" pitchFamily="49" charset="-120"/>
              </a:rPr>
              <a:t>AI CONCLUSION</a:t>
            </a:r>
            <a:endParaRPr lang="en-US" sz="1200" dirty="0"/>
          </a:p>
        </p:txBody>
      </p:sp>
      <p:sp>
        <p:nvSpPr>
          <p:cNvPr id="34" name="Text 27"/>
          <p:cNvSpPr/>
          <p:nvPr/>
        </p:nvSpPr>
        <p:spPr>
          <a:xfrm>
            <a:off x="977153" y="4247124"/>
            <a:ext cx="3153290" cy="520700"/>
          </a:xfrm>
          <a:prstGeom prst="rect">
            <a:avLst/>
          </a:prstGeom>
          <a:noFill/>
          <a:ln/>
        </p:spPr>
        <p:txBody>
          <a:bodyPr wrap="square" lIns="0" tIns="0" rIns="0" bIns="0" rtlCol="0" anchor="t">
            <a:normAutofit/>
          </a:bodyPr>
          <a:lstStyle/>
          <a:p>
            <a:pPr algn="l" indent="0" marL="0">
              <a:lnSpc>
                <a:spcPts val="1950"/>
              </a:lnSpc>
              <a:buNone/>
            </a:pPr>
            <a:r>
              <a:rPr lang="en-US" sz="1500" strike="sngStrike" dirty="0">
                <a:solidFill>
                  <a:srgbClr val="191919"/>
                </a:solidFill>
                <a:latin typeface="Public Sans" pitchFamily="34" charset="0"/>
                <a:ea typeface="Public Sans" pitchFamily="34" charset="-122"/>
                <a:cs typeface="Public Sans" pitchFamily="34" charset="-120"/>
              </a:rPr>
              <a:t>[The incorrect assumption or conclusion the AI proposed.]</a:t>
            </a:r>
            <a:endParaRPr lang="en-US" sz="1500" dirty="0"/>
          </a:p>
        </p:txBody>
      </p:sp>
      <p:sp>
        <p:nvSpPr>
          <p:cNvPr id="35" name="Shape 28"/>
          <p:cNvSpPr/>
          <p:nvPr/>
        </p:nvSpPr>
        <p:spPr>
          <a:xfrm>
            <a:off x="4381500" y="3373391"/>
            <a:ext cx="3429000" cy="2773409"/>
          </a:xfrm>
          <a:prstGeom prst="rect">
            <a:avLst/>
          </a:prstGeom>
          <a:solidFill>
            <a:srgbClr val="FBF7EE"/>
          </a:solidFill>
          <a:ln/>
          <a:effectLst>
            <a:outerShdw sx="100000" sy="100000" kx="0" ky="0" algn="bl" rotWithShape="0" blurRad="88900" dist="38100" dir="5400000">
              <a:srgbClr val="000000">
                <a:alpha val="30000"/>
              </a:srgbClr>
            </a:outerShdw>
          </a:effectLst>
        </p:spPr>
      </p:sp>
      <p:sp>
        <p:nvSpPr>
          <p:cNvPr id="36" name="Shape 29"/>
          <p:cNvSpPr/>
          <p:nvPr/>
        </p:nvSpPr>
        <p:spPr>
          <a:xfrm>
            <a:off x="4413250" y="3373391"/>
            <a:ext cx="0" cy="2773409"/>
          </a:xfrm>
          <a:prstGeom prst="line">
            <a:avLst/>
          </a:prstGeom>
          <a:noFill/>
          <a:ln w="63500">
            <a:solidFill>
              <a:srgbClr val="191919"/>
            </a:solidFill>
            <a:prstDash val="solid"/>
          </a:ln>
        </p:spPr>
      </p:sp>
      <p:sp>
        <p:nvSpPr>
          <p:cNvPr id="37" name="Text 30"/>
          <p:cNvSpPr/>
          <p:nvPr/>
        </p:nvSpPr>
        <p:spPr>
          <a:xfrm>
            <a:off x="4596653" y="3538491"/>
            <a:ext cx="3153290" cy="368300"/>
          </a:xfrm>
          <a:prstGeom prst="rect">
            <a:avLst/>
          </a:prstGeom>
          <a:noFill/>
          <a:ln/>
        </p:spPr>
        <p:txBody>
          <a:bodyPr wrap="square" lIns="0" tIns="0" rIns="0" bIns="0" rtlCol="0" anchor="t">
            <a:normAutofit/>
          </a:bodyPr>
          <a:lstStyle/>
          <a:p>
            <a:pPr algn="l" indent="0" marL="0">
              <a:lnSpc>
                <a:spcPts val="2700"/>
              </a:lnSpc>
              <a:buNone/>
            </a:pPr>
            <a:r>
              <a:rPr lang="en-US" sz="2700" dirty="0">
                <a:solidFill>
                  <a:srgbClr val="191919"/>
                </a:solidFill>
                <a:latin typeface="Anton" pitchFamily="34" charset="0"/>
                <a:ea typeface="Anton" pitchFamily="34" charset="-122"/>
                <a:cs typeface="Anton" pitchFamily="34" charset="-120"/>
              </a:rPr>
              <a:t>HOW WE CAUGHT IT</a:t>
            </a:r>
            <a:endParaRPr lang="en-US" sz="2700" dirty="0"/>
          </a:p>
        </p:txBody>
      </p:sp>
      <p:sp>
        <p:nvSpPr>
          <p:cNvPr id="38" name="Text 31"/>
          <p:cNvSpPr/>
          <p:nvPr/>
        </p:nvSpPr>
        <p:spPr>
          <a:xfrm>
            <a:off x="4596653" y="3957591"/>
            <a:ext cx="3153290"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72626"/>
                </a:solidFill>
                <a:latin typeface="Courier Prime" pitchFamily="49" charset="0"/>
                <a:ea typeface="Courier Prime" pitchFamily="49" charset="-122"/>
                <a:cs typeface="Courier Prime" pitchFamily="49" charset="-120"/>
              </a:rPr>
              <a:t>HUMAN CHECK</a:t>
            </a:r>
            <a:endParaRPr lang="en-US" sz="1200" dirty="0"/>
          </a:p>
        </p:txBody>
      </p:sp>
      <p:sp>
        <p:nvSpPr>
          <p:cNvPr id="39" name="Text 32"/>
          <p:cNvSpPr/>
          <p:nvPr/>
        </p:nvSpPr>
        <p:spPr>
          <a:xfrm>
            <a:off x="4596653" y="4247124"/>
            <a:ext cx="3153290"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91919"/>
                </a:solidFill>
                <a:latin typeface="Public Sans" pitchFamily="34" charset="0"/>
                <a:ea typeface="Public Sans" pitchFamily="34" charset="-122"/>
                <a:cs typeface="Public Sans" pitchFamily="34" charset="-120"/>
              </a:rPr>
              <a:t>[The check, test, query or log that contradicted the AI.]</a:t>
            </a:r>
            <a:endParaRPr lang="en-US" sz="1500" dirty="0"/>
          </a:p>
        </p:txBody>
      </p:sp>
      <p:sp>
        <p:nvSpPr>
          <p:cNvPr id="40" name="Shape 33"/>
          <p:cNvSpPr/>
          <p:nvPr/>
        </p:nvSpPr>
        <p:spPr>
          <a:xfrm>
            <a:off x="8001000" y="3373391"/>
            <a:ext cx="3429000" cy="2773409"/>
          </a:xfrm>
          <a:prstGeom prst="rect">
            <a:avLst/>
          </a:prstGeom>
          <a:solidFill>
            <a:srgbClr val="FBF7EE"/>
          </a:solidFill>
          <a:ln/>
          <a:effectLst>
            <a:outerShdw sx="100000" sy="100000" kx="0" ky="0" algn="bl" rotWithShape="0" blurRad="88900" dist="38100" dir="5400000">
              <a:srgbClr val="000000">
                <a:alpha val="30000"/>
              </a:srgbClr>
            </a:outerShdw>
          </a:effectLst>
        </p:spPr>
      </p:sp>
      <p:sp>
        <p:nvSpPr>
          <p:cNvPr id="41" name="Shape 34"/>
          <p:cNvSpPr/>
          <p:nvPr/>
        </p:nvSpPr>
        <p:spPr>
          <a:xfrm>
            <a:off x="8032750" y="3373391"/>
            <a:ext cx="0" cy="2773409"/>
          </a:xfrm>
          <a:prstGeom prst="line">
            <a:avLst/>
          </a:prstGeom>
          <a:noFill/>
          <a:ln w="63500">
            <a:solidFill>
              <a:srgbClr val="191919"/>
            </a:solidFill>
            <a:prstDash val="solid"/>
          </a:ln>
        </p:spPr>
      </p:sp>
      <p:sp>
        <p:nvSpPr>
          <p:cNvPr id="42" name="Text 35"/>
          <p:cNvSpPr/>
          <p:nvPr/>
        </p:nvSpPr>
        <p:spPr>
          <a:xfrm>
            <a:off x="8216153" y="3538491"/>
            <a:ext cx="3153290" cy="711200"/>
          </a:xfrm>
          <a:prstGeom prst="rect">
            <a:avLst/>
          </a:prstGeom>
          <a:noFill/>
          <a:ln/>
        </p:spPr>
        <p:txBody>
          <a:bodyPr wrap="square" lIns="0" tIns="0" rIns="0" bIns="0" rtlCol="0" anchor="t">
            <a:normAutofit/>
          </a:bodyPr>
          <a:lstStyle/>
          <a:p>
            <a:pPr algn="l" indent="0" marL="0">
              <a:lnSpc>
                <a:spcPts val="2700"/>
              </a:lnSpc>
              <a:buNone/>
            </a:pPr>
            <a:r>
              <a:rPr lang="en-US" sz="2700" dirty="0">
                <a:solidFill>
                  <a:srgbClr val="191919"/>
                </a:solidFill>
                <a:latin typeface="Anton" pitchFamily="34" charset="0"/>
                <a:ea typeface="Anton" pitchFamily="34" charset="-122"/>
                <a:cs typeface="Anton" pitchFamily="34" charset="-120"/>
              </a:rPr>
              <a:t>WHAT THE EVIDENCE ACTUALLY SHOWED</a:t>
            </a:r>
            <a:endParaRPr lang="en-US" sz="2700" dirty="0"/>
          </a:p>
        </p:txBody>
      </p:sp>
      <p:sp>
        <p:nvSpPr>
          <p:cNvPr id="43" name="Text 36"/>
          <p:cNvSpPr/>
          <p:nvPr/>
        </p:nvSpPr>
        <p:spPr>
          <a:xfrm>
            <a:off x="8216153" y="4300491"/>
            <a:ext cx="3153290"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72626"/>
                </a:solidFill>
                <a:latin typeface="Courier Prime" pitchFamily="49" charset="0"/>
                <a:ea typeface="Courier Prime" pitchFamily="49" charset="-122"/>
                <a:cs typeface="Courier Prime" pitchFamily="49" charset="-120"/>
              </a:rPr>
              <a:t>EVIDENCE REF: [REF]</a:t>
            </a:r>
            <a:endParaRPr lang="en-US" sz="1200" dirty="0"/>
          </a:p>
        </p:txBody>
      </p:sp>
      <p:sp>
        <p:nvSpPr>
          <p:cNvPr id="44" name="Text 37"/>
          <p:cNvSpPr/>
          <p:nvPr/>
        </p:nvSpPr>
        <p:spPr>
          <a:xfrm>
            <a:off x="8216153" y="4590024"/>
            <a:ext cx="3153290"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91919"/>
                </a:solidFill>
                <a:latin typeface="Public Sans" pitchFamily="34" charset="0"/>
                <a:ea typeface="Public Sans" pitchFamily="34" charset="-122"/>
                <a:cs typeface="Public Sans" pitchFamily="34" charset="-120"/>
              </a:rPr>
              <a:t>[What the code, data or test actually showed.]</a:t>
            </a:r>
            <a:endParaRPr lang="en-US" sz="1500" dirty="0"/>
          </a:p>
        </p:txBody>
      </p:sp>
      <p:sp>
        <p:nvSpPr>
          <p:cNvPr id="45" name="Text 38"/>
          <p:cNvSpPr/>
          <p:nvPr/>
        </p:nvSpPr>
        <p:spPr>
          <a:xfrm>
            <a:off x="7620000" y="88900"/>
            <a:ext cx="3937000" cy="266700"/>
          </a:xfrm>
          <a:custGeom>
            <a:avLst/>
            <a:gdLst/>
            <a:ahLst/>
            <a:cxnLst/>
            <a:rect l="l" t="t" r="r" b="b"/>
            <a:pathLst>
              <a:path w="3937000" h="266700">
                <a:moveTo>
                  <a:pt x="50800" y="0"/>
                </a:moveTo>
                <a:lnTo>
                  <a:pt x="3886200" y="0"/>
                </a:lnTo>
                <a:arcTo hR="50800" wR="50800" stAng="16200000" swAng="5400000"/>
                <a:lnTo>
                  <a:pt x="3937000" y="266700"/>
                </a:lnTo>
                <a:lnTo>
                  <a:pt x="0" y="266700"/>
                </a:lnTo>
                <a:lnTo>
                  <a:pt x="0" y="50800"/>
                </a:lnTo>
                <a:arcTo hR="50800" wR="50800" stAng="10800000" swAng="5400000"/>
                <a:close/>
              </a:path>
            </a:pathLst>
          </a:custGeom>
          <a:solidFill>
            <a:srgbClr val="E8E0D3"/>
          </a:solidFill>
          <a:ln/>
        </p:spPr>
        <p:txBody>
          <a:bodyPr wrap="square" lIns="127000" tIns="38100" rIns="16510" bIns="20357" rtlCol="0" anchor="t">
            <a:normAutofit/>
          </a:bodyPr>
          <a:lstStyle/>
          <a:p>
            <a:pPr algn="l" indent="0" marL="0">
              <a:lnSpc>
                <a:spcPts val="1440"/>
              </a:lnSpc>
              <a:buNone/>
            </a:pPr>
            <a:r>
              <a:rPr lang="en-US" sz="1200" b="1" dirty="0">
                <a:solidFill>
                  <a:srgbClr val="A72626"/>
                </a:solidFill>
                <a:latin typeface="Courier Prime" pitchFamily="49" charset="0"/>
                <a:ea typeface="Courier Prime" pitchFamily="49" charset="-122"/>
                <a:cs typeface="Courier Prime" pitchFamily="49" charset="-120"/>
              </a:rPr>
              <a:t>CASE FP-2026 · EVIDENCE 07 · 30.10.2026</a:t>
            </a:r>
            <a:endParaRPr lang="en-US" sz="1200" dirty="0"/>
          </a:p>
        </p:txBody>
      </p:sp>
      <p:sp>
        <p:nvSpPr>
          <p:cNvPr id="46" name="Text 39"/>
          <p:cNvSpPr/>
          <p:nvPr/>
        </p:nvSpPr>
        <p:spPr>
          <a:xfrm rot="21000000">
            <a:off x="2114550" y="4401485"/>
            <a:ext cx="1676400" cy="514350"/>
          </a:xfrm>
          <a:prstGeom prst="rect">
            <a:avLst/>
          </a:prstGeom>
          <a:noFill/>
          <a:ln w="38100">
            <a:solidFill>
              <a:srgbClr val="A72626">
                <a:alpha val="90000"/>
              </a:srgbClr>
            </a:solidFill>
            <a:prstDash val="solid"/>
          </a:ln>
        </p:spPr>
        <p:txBody>
          <a:bodyPr wrap="square" lIns="0" tIns="67609" rIns="0" bIns="42209" rtlCol="0" anchor="t">
            <a:normAutofit/>
          </a:bodyPr>
          <a:lstStyle/>
          <a:p>
            <a:pPr algn="ctr" indent="0" marL="0">
              <a:lnSpc>
                <a:spcPts val="3000"/>
              </a:lnSpc>
              <a:buNone/>
            </a:pPr>
            <a:r>
              <a:rPr lang="en-US" sz="3000" dirty="0">
                <a:solidFill>
                  <a:srgbClr val="A72626">
                    <a:alpha val="90000"/>
                  </a:srgbClr>
                </a:solidFill>
                <a:latin typeface="Anton" pitchFamily="34" charset="0"/>
                <a:ea typeface="Anton" pitchFamily="34" charset="-122"/>
                <a:cs typeface="Anton" pitchFamily="34" charset="-120"/>
              </a:rPr>
              <a:t>REJECTED</a:t>
            </a:r>
            <a:endParaRPr lang="en-US" sz="3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304800" y="304800"/>
            <a:ext cx="11582400" cy="6248400"/>
          </a:xfrm>
          <a:prstGeom prst="rect">
            <a:avLst/>
          </a:prstGeom>
          <a:gradFill rotWithShape="1">
            <a:gsLst>
              <a:gs pos="0">
                <a:srgbClr val="F5F0E5"/>
              </a:gs>
              <a:gs pos="50000">
                <a:srgbClr val="F1EBDF"/>
              </a:gs>
              <a:gs pos="100000">
                <a:srgbClr val="E8E0D3"/>
              </a:gs>
            </a:gsLst>
            <a:path path="circle">
              <a:fillToRect l="30000" t="20000" r="70000" b="80000"/>
            </a:path>
          </a:gradFill>
          <a:ln/>
          <a:effectLst>
            <a:outerShdw sx="100000" sy="100000" kx="0" ky="0" algn="bl" rotWithShape="0" blurRad="381000" dist="127000" dir="5400000">
              <a:srgbClr val="000000">
                <a:alpha val="60000"/>
              </a:srgbClr>
            </a:outerShdw>
          </a:effectLst>
        </p:spPr>
      </p:sp>
      <p:sp>
        <p:nvSpPr>
          <p:cNvPr id="3" name="Shape 1"/>
          <p:cNvSpPr/>
          <p:nvPr/>
        </p:nvSpPr>
        <p:spPr>
          <a:xfrm>
            <a:off x="762000" y="1001666"/>
            <a:ext cx="10668000" cy="0"/>
          </a:xfrm>
          <a:prstGeom prst="line">
            <a:avLst/>
          </a:prstGeom>
          <a:noFill/>
          <a:ln w="19050">
            <a:solidFill>
              <a:srgbClr val="191919"/>
            </a:solidFill>
            <a:prstDash val="solid"/>
          </a:ln>
        </p:spPr>
      </p:sp>
      <p:sp>
        <p:nvSpPr>
          <p:cNvPr id="4" name="Text 2"/>
          <p:cNvSpPr/>
          <p:nvPr/>
        </p:nvSpPr>
        <p:spPr>
          <a:xfrm>
            <a:off x="762000" y="584200"/>
            <a:ext cx="1012218" cy="304800"/>
          </a:xfrm>
          <a:prstGeom prst="rect">
            <a:avLst/>
          </a:prstGeom>
          <a:noFill/>
          <a:ln/>
        </p:spPr>
        <p:txBody>
          <a:bodyPr wrap="square" lIns="0" tIns="0" rIns="0" bIns="0" rtlCol="0" anchor="t">
            <a:normAutofit/>
          </a:bodyPr>
          <a:lstStyle/>
          <a:p>
            <a:pPr algn="l" indent="0" marL="0">
              <a:lnSpc>
                <a:spcPts val="2200"/>
              </a:lnSpc>
              <a:buNone/>
            </a:pPr>
            <a:r>
              <a:rPr lang="en-US" sz="2200" spc="100" kern="0" dirty="0">
                <a:solidFill>
                  <a:srgbClr val="191919"/>
                </a:solidFill>
                <a:latin typeface="Anton" pitchFamily="34" charset="0"/>
                <a:ea typeface="Anton" pitchFamily="34" charset="-122"/>
                <a:cs typeface="Anton" pitchFamily="34" charset="-120"/>
              </a:rPr>
              <a:t>FILSPAY</a:t>
            </a:r>
            <a:endParaRPr lang="en-US" sz="2200" dirty="0"/>
          </a:p>
        </p:txBody>
      </p:sp>
      <p:sp>
        <p:nvSpPr>
          <p:cNvPr id="5" name="Text 3"/>
          <p:cNvSpPr/>
          <p:nvPr/>
        </p:nvSpPr>
        <p:spPr>
          <a:xfrm>
            <a:off x="1774218" y="703731"/>
            <a:ext cx="2631758"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919"/>
                </a:solidFill>
                <a:latin typeface="Courier Prime" pitchFamily="49" charset="0"/>
                <a:ea typeface="Courier Prime" pitchFamily="49" charset="-122"/>
                <a:cs typeface="Courier Prime" pitchFamily="49" charset="-120"/>
              </a:rPr>
              <a:t>THE HANDOVER / CASE FILE</a:t>
            </a:r>
            <a:endParaRPr lang="en-US" sz="1200" dirty="0"/>
          </a:p>
        </p:txBody>
      </p:sp>
      <p:sp>
        <p:nvSpPr>
          <p:cNvPr id="6" name="Text 4"/>
          <p:cNvSpPr/>
          <p:nvPr/>
        </p:nvSpPr>
        <p:spPr>
          <a:xfrm>
            <a:off x="6714733" y="703731"/>
            <a:ext cx="4715267" cy="238732"/>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A72626"/>
                </a:solidFill>
                <a:latin typeface="Courier Prime" pitchFamily="49" charset="0"/>
                <a:ea typeface="Courier Prime" pitchFamily="49" charset="-122"/>
                <a:cs typeface="Courier Prime" pitchFamily="49" charset="-120"/>
              </a:rPr>
              <a:t>CASE NO. FP-2026 · EVIDENCE 08 · 30.10.2026</a:t>
            </a:r>
            <a:endParaRPr lang="en-US" sz="1200" dirty="0"/>
          </a:p>
        </p:txBody>
      </p:sp>
      <p:sp>
        <p:nvSpPr>
          <p:cNvPr id="7" name="Text 5"/>
          <p:cNvSpPr/>
          <p:nvPr>
            <p:ph type="title"/>
          </p:nvPr>
        </p:nvSpPr>
        <p:spPr>
          <a:xfrm>
            <a:off x="762000" y="1163591"/>
            <a:ext cx="4266301" cy="825500"/>
          </a:xfrm>
          <a:prstGeom prst="rect">
            <a:avLst/>
          </a:prstGeom>
          <a:noFill/>
          <a:ln/>
        </p:spPr>
        <p:txBody>
          <a:bodyPr wrap="square" lIns="0" tIns="0" rIns="0" bIns="0" rtlCol="0" anchor="t">
            <a:normAutofit/>
          </a:bodyPr>
          <a:lstStyle/>
          <a:p>
            <a:pPr algn="l" indent="0" marL="0">
              <a:lnSpc>
                <a:spcPts val="6300"/>
              </a:lnSpc>
              <a:buNone/>
            </a:pPr>
            <a:r>
              <a:rPr lang="en-US" sz="6000" b="0" i="0" dirty="0">
                <a:solidFill>
                  <a:srgbClr val="191919"/>
                </a:solidFill>
                <a:latin typeface="Anton" pitchFamily="34" charset="0"/>
                <a:ea typeface="Anton" pitchFamily="34" charset="-122"/>
                <a:cs typeface="Anton" pitchFamily="34" charset="-120"/>
              </a:rPr>
              <a:t>CASE CLOSED?</a:t>
            </a:r>
            <a:endParaRPr lang="en-US" sz="6000" dirty="0"/>
          </a:p>
        </p:txBody>
      </p:sp>
      <p:sp>
        <p:nvSpPr>
          <p:cNvPr id="8" name="Text 6"/>
          <p:cNvSpPr/>
          <p:nvPr/>
        </p:nvSpPr>
        <p:spPr>
          <a:xfrm rot="21360000">
            <a:off x="5041468" y="1529542"/>
            <a:ext cx="2282635" cy="457200"/>
          </a:xfrm>
          <a:prstGeom prst="rect">
            <a:avLst/>
          </a:prstGeom>
          <a:noFill/>
          <a:ln/>
        </p:spPr>
        <p:txBody>
          <a:bodyPr wrap="square" lIns="0" tIns="0" rIns="0" bIns="0" rtlCol="0" anchor="t">
            <a:normAutofit/>
          </a:bodyPr>
          <a:lstStyle/>
          <a:p>
            <a:pPr algn="l" indent="0" marL="0">
              <a:lnSpc>
                <a:spcPts val="3400"/>
              </a:lnSpc>
              <a:buNone/>
            </a:pPr>
            <a:r>
              <a:rPr lang="en-US" sz="3400" b="1" dirty="0">
                <a:solidFill>
                  <a:srgbClr val="A72626"/>
                </a:solidFill>
                <a:latin typeface="Caveat" pitchFamily="18" charset="0"/>
                <a:ea typeface="Caveat" pitchFamily="18" charset="-122"/>
                <a:cs typeface="Caveat" pitchFamily="18" charset="-120"/>
              </a:rPr>
              <a:t>Not completely.</a:t>
            </a:r>
            <a:endParaRPr lang="en-US" sz="3400" dirty="0"/>
          </a:p>
        </p:txBody>
      </p:sp>
      <p:sp>
        <p:nvSpPr>
          <p:cNvPr id="9" name="Shape 7"/>
          <p:cNvSpPr/>
          <p:nvPr/>
        </p:nvSpPr>
        <p:spPr>
          <a:xfrm>
            <a:off x="762000" y="2427008"/>
            <a:ext cx="5207000" cy="0"/>
          </a:xfrm>
          <a:prstGeom prst="line">
            <a:avLst/>
          </a:prstGeom>
          <a:noFill/>
          <a:ln w="25400">
            <a:solidFill>
              <a:srgbClr val="191919"/>
            </a:solidFill>
            <a:prstDash val="solid"/>
          </a:ln>
        </p:spPr>
      </p:sp>
      <p:sp>
        <p:nvSpPr>
          <p:cNvPr id="10" name="Text 8"/>
          <p:cNvSpPr/>
          <p:nvPr/>
        </p:nvSpPr>
        <p:spPr>
          <a:xfrm>
            <a:off x="762000" y="2116091"/>
            <a:ext cx="5363210" cy="27431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91919"/>
                </a:solidFill>
                <a:latin typeface="Courier Prime" pitchFamily="49" charset="0"/>
                <a:ea typeface="Courier Prime" pitchFamily="49" charset="-122"/>
                <a:cs typeface="Courier Prime" pitchFamily="49" charset="-120"/>
              </a:rPr>
              <a:t>DECISIONS WE MADE</a:t>
            </a:r>
            <a:endParaRPr lang="en-US" sz="1400" dirty="0"/>
          </a:p>
        </p:txBody>
      </p:sp>
      <p:sp>
        <p:nvSpPr>
          <p:cNvPr id="11" name="Shape 9"/>
          <p:cNvSpPr/>
          <p:nvPr/>
        </p:nvSpPr>
        <p:spPr>
          <a:xfrm>
            <a:off x="762000" y="3031379"/>
            <a:ext cx="5207000" cy="0"/>
          </a:xfrm>
          <a:prstGeom prst="line">
            <a:avLst/>
          </a:prstGeom>
          <a:noFill/>
          <a:ln w="12700">
            <a:solidFill>
              <a:srgbClr val="8A8173"/>
            </a:solidFill>
            <a:prstDash val="sysDot"/>
          </a:ln>
        </p:spPr>
      </p:sp>
      <p:pic>
        <p:nvPicPr>
          <p:cNvPr id="12" name="Image 0" descr="Check">    </p:cNvPr>
          <p:cNvPicPr>
            <a:picLocks noChangeAspect="1"/>
          </p:cNvPicPr>
          <p:nvPr/>
        </p:nvPicPr>
        <p:blipFill>
          <a:blip r:embed="rId1"/>
          <a:srcRect l="0" r="0" t="0" b="0"/>
          <a:stretch/>
        </p:blipFill>
        <p:spPr>
          <a:xfrm>
            <a:off x="762000" y="2631142"/>
            <a:ext cx="254000" cy="254000"/>
          </a:xfrm>
          <a:prstGeom prst="rect">
            <a:avLst/>
          </a:prstGeom>
        </p:spPr>
      </p:pic>
      <p:sp>
        <p:nvSpPr>
          <p:cNvPr id="13" name="Text 10"/>
          <p:cNvSpPr/>
          <p:nvPr/>
        </p:nvSpPr>
        <p:spPr>
          <a:xfrm>
            <a:off x="1143000" y="2528608"/>
            <a:ext cx="1717909" cy="265393"/>
          </a:xfrm>
          <a:prstGeom prst="rect">
            <a:avLst/>
          </a:prstGeom>
          <a:noFill/>
          <a:ln/>
        </p:spPr>
        <p:txBody>
          <a:bodyPr wrap="square" lIns="0" tIns="0" rIns="0" bIns="0" rtlCol="0" anchor="t">
            <a:normAutofit/>
          </a:bodyPr>
          <a:lstStyle/>
          <a:p>
            <a:pPr algn="l" indent="0" marL="0">
              <a:lnSpc>
                <a:spcPts val="1890"/>
              </a:lnSpc>
              <a:buNone/>
            </a:pPr>
            <a:r>
              <a:rPr lang="en-US" sz="1800" dirty="0">
                <a:solidFill>
                  <a:srgbClr val="191919"/>
                </a:solidFill>
                <a:latin typeface="Anton" pitchFamily="34" charset="0"/>
                <a:ea typeface="Anton" pitchFamily="34" charset="-122"/>
                <a:cs typeface="Anton" pitchFamily="34" charset="-120"/>
              </a:rPr>
              <a:t>FIXED</a:t>
            </a:r>
            <a:endParaRPr lang="en-US" sz="1800" dirty="0"/>
          </a:p>
        </p:txBody>
      </p:sp>
      <p:sp>
        <p:nvSpPr>
          <p:cNvPr id="14" name="Text 11"/>
          <p:cNvSpPr/>
          <p:nvPr/>
        </p:nvSpPr>
        <p:spPr>
          <a:xfrm>
            <a:off x="1143000" y="2781300"/>
            <a:ext cx="200053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91919"/>
                </a:solidFill>
                <a:latin typeface="Public Sans" pitchFamily="34" charset="0"/>
                <a:ea typeface="Public Sans" pitchFamily="34" charset="-122"/>
                <a:cs typeface="Public Sans" pitchFamily="34" charset="-120"/>
              </a:rPr>
              <a:t>[What was fixed + ref]</a:t>
            </a:r>
            <a:endParaRPr lang="en-US" sz="1300" dirty="0"/>
          </a:p>
        </p:txBody>
      </p:sp>
      <p:sp>
        <p:nvSpPr>
          <p:cNvPr id="15" name="Shape 12"/>
          <p:cNvSpPr/>
          <p:nvPr/>
        </p:nvSpPr>
        <p:spPr>
          <a:xfrm>
            <a:off x="762000" y="3629398"/>
            <a:ext cx="5207000" cy="0"/>
          </a:xfrm>
          <a:prstGeom prst="line">
            <a:avLst/>
          </a:prstGeom>
          <a:noFill/>
          <a:ln w="12700">
            <a:solidFill>
              <a:srgbClr val="8A8173"/>
            </a:solidFill>
            <a:prstDash val="sysDot"/>
          </a:ln>
        </p:spPr>
      </p:sp>
      <p:pic>
        <p:nvPicPr>
          <p:cNvPr id="16" name="Image 1" descr="Check">    </p:cNvPr>
          <p:cNvPicPr>
            <a:picLocks noChangeAspect="1"/>
          </p:cNvPicPr>
          <p:nvPr/>
        </p:nvPicPr>
        <p:blipFill>
          <a:blip r:embed="rId2"/>
          <a:srcRect l="0" r="0" t="0" b="0"/>
          <a:stretch/>
        </p:blipFill>
        <p:spPr>
          <a:xfrm>
            <a:off x="762000" y="3229161"/>
            <a:ext cx="254000" cy="254000"/>
          </a:xfrm>
          <a:prstGeom prst="rect">
            <a:avLst/>
          </a:prstGeom>
        </p:spPr>
      </p:pic>
      <p:sp>
        <p:nvSpPr>
          <p:cNvPr id="17" name="Text 13"/>
          <p:cNvSpPr/>
          <p:nvPr/>
        </p:nvSpPr>
        <p:spPr>
          <a:xfrm>
            <a:off x="1143000" y="3126628"/>
            <a:ext cx="1945751" cy="265393"/>
          </a:xfrm>
          <a:prstGeom prst="rect">
            <a:avLst/>
          </a:prstGeom>
          <a:noFill/>
          <a:ln/>
        </p:spPr>
        <p:txBody>
          <a:bodyPr wrap="square" lIns="0" tIns="0" rIns="0" bIns="0" rtlCol="0" anchor="t">
            <a:normAutofit/>
          </a:bodyPr>
          <a:lstStyle/>
          <a:p>
            <a:pPr algn="l" indent="0" marL="0">
              <a:lnSpc>
                <a:spcPts val="1890"/>
              </a:lnSpc>
              <a:buNone/>
            </a:pPr>
            <a:r>
              <a:rPr lang="en-US" sz="1800" dirty="0">
                <a:solidFill>
                  <a:srgbClr val="191919"/>
                </a:solidFill>
                <a:latin typeface="Anton" pitchFamily="34" charset="0"/>
                <a:ea typeface="Anton" pitchFamily="34" charset="-122"/>
                <a:cs typeface="Anton" pitchFamily="34" charset="-120"/>
              </a:rPr>
              <a:t>VERIFIED</a:t>
            </a:r>
            <a:endParaRPr lang="en-US" sz="1800" dirty="0"/>
          </a:p>
        </p:txBody>
      </p:sp>
      <p:sp>
        <p:nvSpPr>
          <p:cNvPr id="18" name="Text 14"/>
          <p:cNvSpPr/>
          <p:nvPr/>
        </p:nvSpPr>
        <p:spPr>
          <a:xfrm>
            <a:off x="1143000" y="3379319"/>
            <a:ext cx="2266894"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91919"/>
                </a:solidFill>
                <a:latin typeface="Public Sans" pitchFamily="34" charset="0"/>
                <a:ea typeface="Public Sans" pitchFamily="34" charset="-122"/>
                <a:cs typeface="Public Sans" pitchFamily="34" charset="-120"/>
              </a:rPr>
              <a:t>[How it was proven + ref]</a:t>
            </a:r>
            <a:endParaRPr lang="en-US" sz="1300" dirty="0"/>
          </a:p>
        </p:txBody>
      </p:sp>
      <p:sp>
        <p:nvSpPr>
          <p:cNvPr id="19" name="Shape 15"/>
          <p:cNvSpPr/>
          <p:nvPr/>
        </p:nvSpPr>
        <p:spPr>
          <a:xfrm>
            <a:off x="762000" y="4227421"/>
            <a:ext cx="5207000" cy="0"/>
          </a:xfrm>
          <a:prstGeom prst="line">
            <a:avLst/>
          </a:prstGeom>
          <a:noFill/>
          <a:ln w="12700">
            <a:solidFill>
              <a:srgbClr val="8A8173"/>
            </a:solidFill>
            <a:prstDash val="sysDot"/>
          </a:ln>
        </p:spPr>
      </p:sp>
      <p:pic>
        <p:nvPicPr>
          <p:cNvPr id="20" name="Image 2" descr="Check">    </p:cNvPr>
          <p:cNvPicPr>
            <a:picLocks noChangeAspect="1"/>
          </p:cNvPicPr>
          <p:nvPr/>
        </p:nvPicPr>
        <p:blipFill>
          <a:blip r:embed="rId3"/>
          <a:srcRect l="0" r="0" t="0" b="0"/>
          <a:stretch/>
        </p:blipFill>
        <p:spPr>
          <a:xfrm>
            <a:off x="762000" y="3827183"/>
            <a:ext cx="254000" cy="254000"/>
          </a:xfrm>
          <a:prstGeom prst="rect">
            <a:avLst/>
          </a:prstGeom>
        </p:spPr>
      </p:pic>
      <p:sp>
        <p:nvSpPr>
          <p:cNvPr id="21" name="Text 16"/>
          <p:cNvSpPr/>
          <p:nvPr/>
        </p:nvSpPr>
        <p:spPr>
          <a:xfrm>
            <a:off x="1143000" y="3724650"/>
            <a:ext cx="2604321" cy="265393"/>
          </a:xfrm>
          <a:prstGeom prst="rect">
            <a:avLst/>
          </a:prstGeom>
          <a:noFill/>
          <a:ln/>
        </p:spPr>
        <p:txBody>
          <a:bodyPr wrap="square" lIns="0" tIns="0" rIns="0" bIns="0" rtlCol="0" anchor="t">
            <a:normAutofit/>
          </a:bodyPr>
          <a:lstStyle/>
          <a:p>
            <a:pPr algn="l" indent="0" marL="0">
              <a:lnSpc>
                <a:spcPts val="1890"/>
              </a:lnSpc>
              <a:buNone/>
            </a:pPr>
            <a:r>
              <a:rPr lang="en-US" sz="1800" dirty="0">
                <a:solidFill>
                  <a:srgbClr val="191919"/>
                </a:solidFill>
                <a:latin typeface="Anton" pitchFamily="34" charset="0"/>
                <a:ea typeface="Anton" pitchFamily="34" charset="-122"/>
                <a:cs typeface="Anton" pitchFamily="34" charset="-120"/>
              </a:rPr>
              <a:t>PROTECTED</a:t>
            </a:r>
            <a:endParaRPr lang="en-US" sz="1800" dirty="0"/>
          </a:p>
        </p:txBody>
      </p:sp>
      <p:sp>
        <p:nvSpPr>
          <p:cNvPr id="22" name="Text 17"/>
          <p:cNvSpPr/>
          <p:nvPr/>
        </p:nvSpPr>
        <p:spPr>
          <a:xfrm>
            <a:off x="1143000" y="3977342"/>
            <a:ext cx="3034161"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91919"/>
                </a:solidFill>
                <a:latin typeface="Public Sans" pitchFamily="34" charset="0"/>
                <a:ea typeface="Public Sans" pitchFamily="34" charset="-122"/>
                <a:cs typeface="Public Sans" pitchFamily="34" charset="-120"/>
              </a:rPr>
              <a:t>[Guard or test that keeps it fixed]</a:t>
            </a:r>
            <a:endParaRPr lang="en-US" sz="1300" dirty="0"/>
          </a:p>
        </p:txBody>
      </p:sp>
      <p:sp>
        <p:nvSpPr>
          <p:cNvPr id="23" name="Shape 18"/>
          <p:cNvSpPr/>
          <p:nvPr/>
        </p:nvSpPr>
        <p:spPr>
          <a:xfrm>
            <a:off x="762000" y="4825440"/>
            <a:ext cx="5207000" cy="0"/>
          </a:xfrm>
          <a:prstGeom prst="line">
            <a:avLst/>
          </a:prstGeom>
          <a:noFill/>
          <a:ln w="12700">
            <a:solidFill>
              <a:srgbClr val="8A8173"/>
            </a:solidFill>
            <a:prstDash val="sysDot"/>
          </a:ln>
        </p:spPr>
      </p:sp>
      <p:pic>
        <p:nvPicPr>
          <p:cNvPr id="24" name="Image 3" descr="Check">    </p:cNvPr>
          <p:cNvPicPr>
            <a:picLocks noChangeAspect="1"/>
          </p:cNvPicPr>
          <p:nvPr/>
        </p:nvPicPr>
        <p:blipFill>
          <a:blip r:embed="rId4"/>
          <a:srcRect l="0" r="0" t="0" b="0"/>
          <a:stretch/>
        </p:blipFill>
        <p:spPr>
          <a:xfrm>
            <a:off x="762000" y="4425206"/>
            <a:ext cx="254000" cy="254000"/>
          </a:xfrm>
          <a:prstGeom prst="rect">
            <a:avLst/>
          </a:prstGeom>
        </p:spPr>
      </p:pic>
      <p:sp>
        <p:nvSpPr>
          <p:cNvPr id="25" name="Text 19"/>
          <p:cNvSpPr/>
          <p:nvPr/>
        </p:nvSpPr>
        <p:spPr>
          <a:xfrm>
            <a:off x="1143000" y="4322669"/>
            <a:ext cx="2026978" cy="265393"/>
          </a:xfrm>
          <a:prstGeom prst="rect">
            <a:avLst/>
          </a:prstGeom>
          <a:noFill/>
          <a:ln/>
        </p:spPr>
        <p:txBody>
          <a:bodyPr wrap="square" lIns="0" tIns="0" rIns="0" bIns="0" rtlCol="0" anchor="t">
            <a:normAutofit/>
          </a:bodyPr>
          <a:lstStyle/>
          <a:p>
            <a:pPr algn="l" indent="0" marL="0">
              <a:lnSpc>
                <a:spcPts val="1890"/>
              </a:lnSpc>
              <a:buNone/>
            </a:pPr>
            <a:r>
              <a:rPr lang="en-US" sz="1800" dirty="0">
                <a:solidFill>
                  <a:srgbClr val="191919"/>
                </a:solidFill>
                <a:latin typeface="Anton" pitchFamily="34" charset="0"/>
                <a:ea typeface="Anton" pitchFamily="34" charset="-122"/>
                <a:cs typeface="Anton" pitchFamily="34" charset="-120"/>
              </a:rPr>
              <a:t>DOCUMENTED</a:t>
            </a:r>
            <a:endParaRPr lang="en-US" sz="1800" dirty="0"/>
          </a:p>
        </p:txBody>
      </p:sp>
      <p:sp>
        <p:nvSpPr>
          <p:cNvPr id="26" name="Text 20"/>
          <p:cNvSpPr/>
          <p:nvPr/>
        </p:nvSpPr>
        <p:spPr>
          <a:xfrm>
            <a:off x="1143000" y="4575361"/>
            <a:ext cx="2361528"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91919"/>
                </a:solidFill>
                <a:latin typeface="Public Sans" pitchFamily="34" charset="0"/>
                <a:ea typeface="Public Sans" pitchFamily="34" charset="-122"/>
                <a:cs typeface="Public Sans" pitchFamily="34" charset="-120"/>
              </a:rPr>
              <a:t>[Where the write-up lives]</a:t>
            </a:r>
            <a:endParaRPr lang="en-US" sz="1300" dirty="0"/>
          </a:p>
        </p:txBody>
      </p:sp>
      <p:sp>
        <p:nvSpPr>
          <p:cNvPr id="27" name="Shape 21"/>
          <p:cNvSpPr/>
          <p:nvPr/>
        </p:nvSpPr>
        <p:spPr>
          <a:xfrm>
            <a:off x="6223000" y="2427008"/>
            <a:ext cx="5207000" cy="0"/>
          </a:xfrm>
          <a:prstGeom prst="line">
            <a:avLst/>
          </a:prstGeom>
          <a:noFill/>
          <a:ln w="25400">
            <a:solidFill>
              <a:srgbClr val="A72626"/>
            </a:solidFill>
            <a:prstDash val="solid"/>
          </a:ln>
        </p:spPr>
      </p:sp>
      <p:sp>
        <p:nvSpPr>
          <p:cNvPr id="28" name="Text 22"/>
          <p:cNvSpPr/>
          <p:nvPr/>
        </p:nvSpPr>
        <p:spPr>
          <a:xfrm>
            <a:off x="6223000" y="2116091"/>
            <a:ext cx="5363210" cy="27431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72626"/>
                </a:solidFill>
                <a:latin typeface="Courier Prime" pitchFamily="49" charset="0"/>
                <a:ea typeface="Courier Prime" pitchFamily="49" charset="-122"/>
                <a:cs typeface="Courier Prime" pitchFamily="49" charset="-120"/>
              </a:rPr>
              <a:t>OPEN RISKS</a:t>
            </a:r>
            <a:endParaRPr lang="en-US" sz="1400" dirty="0"/>
          </a:p>
        </p:txBody>
      </p:sp>
      <p:sp>
        <p:nvSpPr>
          <p:cNvPr id="29" name="Shape 23"/>
          <p:cNvSpPr/>
          <p:nvPr/>
        </p:nvSpPr>
        <p:spPr>
          <a:xfrm>
            <a:off x="6223000" y="3031379"/>
            <a:ext cx="5207000" cy="0"/>
          </a:xfrm>
          <a:prstGeom prst="line">
            <a:avLst/>
          </a:prstGeom>
          <a:noFill/>
          <a:ln w="12700">
            <a:solidFill>
              <a:srgbClr val="8A8173"/>
            </a:solidFill>
            <a:prstDash val="sysDot"/>
          </a:ln>
        </p:spPr>
      </p:sp>
      <p:pic>
        <p:nvPicPr>
          <p:cNvPr id="30" name="Image 4" descr="ellipse">    </p:cNvPr>
          <p:cNvPicPr>
            <a:picLocks noChangeAspect="1"/>
          </p:cNvPicPr>
          <p:nvPr/>
        </p:nvPicPr>
        <p:blipFill>
          <a:blip r:embed="rId5"/>
          <a:srcRect l="0" r="0" t="0" b="0"/>
          <a:stretch/>
        </p:blipFill>
        <p:spPr>
          <a:xfrm>
            <a:off x="6223000" y="2650192"/>
            <a:ext cx="215900" cy="215900"/>
          </a:xfrm>
          <a:prstGeom prst="rect">
            <a:avLst/>
          </a:prstGeom>
        </p:spPr>
      </p:pic>
      <p:sp>
        <p:nvSpPr>
          <p:cNvPr id="31" name="Text 24"/>
          <p:cNvSpPr/>
          <p:nvPr/>
        </p:nvSpPr>
        <p:spPr>
          <a:xfrm>
            <a:off x="6565900" y="2528608"/>
            <a:ext cx="2841174" cy="265393"/>
          </a:xfrm>
          <a:prstGeom prst="rect">
            <a:avLst/>
          </a:prstGeom>
          <a:noFill/>
          <a:ln/>
        </p:spPr>
        <p:txBody>
          <a:bodyPr wrap="square" lIns="0" tIns="0" rIns="0" bIns="0" rtlCol="0" anchor="t">
            <a:normAutofit/>
          </a:bodyPr>
          <a:lstStyle/>
          <a:p>
            <a:pPr algn="l" indent="0" marL="0">
              <a:lnSpc>
                <a:spcPts val="1890"/>
              </a:lnSpc>
              <a:buNone/>
            </a:pPr>
            <a:r>
              <a:rPr lang="en-US" sz="1800" dirty="0">
                <a:solidFill>
                  <a:srgbClr val="191919"/>
                </a:solidFill>
                <a:latin typeface="Anton" pitchFamily="34" charset="0"/>
                <a:ea typeface="Anton" pitchFamily="34" charset="-122"/>
                <a:cs typeface="Anton" pitchFamily="34" charset="-120"/>
              </a:rPr>
              <a:t>DEFERRED</a:t>
            </a:r>
            <a:endParaRPr lang="en-US" sz="1800" dirty="0"/>
          </a:p>
        </p:txBody>
      </p:sp>
      <p:sp>
        <p:nvSpPr>
          <p:cNvPr id="32" name="Text 25"/>
          <p:cNvSpPr/>
          <p:nvPr/>
        </p:nvSpPr>
        <p:spPr>
          <a:xfrm>
            <a:off x="6565900" y="2781300"/>
            <a:ext cx="3310106"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91919"/>
                </a:solidFill>
                <a:latin typeface="Public Sans" pitchFamily="34" charset="0"/>
                <a:ea typeface="Public Sans" pitchFamily="34" charset="-122"/>
                <a:cs typeface="Public Sans" pitchFamily="34" charset="-120"/>
              </a:rPr>
              <a:t>WHY: [reason it was left unchanged]</a:t>
            </a:r>
            <a:endParaRPr lang="en-US" sz="1300" dirty="0"/>
          </a:p>
        </p:txBody>
      </p:sp>
      <p:sp>
        <p:nvSpPr>
          <p:cNvPr id="33" name="Shape 26"/>
          <p:cNvSpPr/>
          <p:nvPr/>
        </p:nvSpPr>
        <p:spPr>
          <a:xfrm>
            <a:off x="6223000" y="3629398"/>
            <a:ext cx="5207000" cy="0"/>
          </a:xfrm>
          <a:prstGeom prst="line">
            <a:avLst/>
          </a:prstGeom>
          <a:noFill/>
          <a:ln w="12700">
            <a:solidFill>
              <a:srgbClr val="8A8173"/>
            </a:solidFill>
            <a:prstDash val="sysDot"/>
          </a:ln>
        </p:spPr>
      </p:sp>
      <p:pic>
        <p:nvPicPr>
          <p:cNvPr id="34" name="Image 5" descr="ellipse">    </p:cNvPr>
          <p:cNvPicPr>
            <a:picLocks noChangeAspect="1"/>
          </p:cNvPicPr>
          <p:nvPr/>
        </p:nvPicPr>
        <p:blipFill>
          <a:blip r:embed="rId6"/>
          <a:srcRect l="0" r="0" t="0" b="0"/>
          <a:stretch/>
        </p:blipFill>
        <p:spPr>
          <a:xfrm>
            <a:off x="6223000" y="3248211"/>
            <a:ext cx="215900" cy="215900"/>
          </a:xfrm>
          <a:prstGeom prst="rect">
            <a:avLst/>
          </a:prstGeom>
        </p:spPr>
      </p:pic>
      <p:sp>
        <p:nvSpPr>
          <p:cNvPr id="35" name="Text 27"/>
          <p:cNvSpPr/>
          <p:nvPr/>
        </p:nvSpPr>
        <p:spPr>
          <a:xfrm>
            <a:off x="6565900" y="3126628"/>
            <a:ext cx="2367613" cy="265393"/>
          </a:xfrm>
          <a:prstGeom prst="rect">
            <a:avLst/>
          </a:prstGeom>
          <a:noFill/>
          <a:ln/>
        </p:spPr>
        <p:txBody>
          <a:bodyPr wrap="square" lIns="0" tIns="0" rIns="0" bIns="0" rtlCol="0" anchor="t">
            <a:normAutofit/>
          </a:bodyPr>
          <a:lstStyle/>
          <a:p>
            <a:pPr algn="l" indent="0" marL="0">
              <a:lnSpc>
                <a:spcPts val="1890"/>
              </a:lnSpc>
              <a:buNone/>
            </a:pPr>
            <a:r>
              <a:rPr lang="en-US" sz="1800" dirty="0">
                <a:solidFill>
                  <a:srgbClr val="191919"/>
                </a:solidFill>
                <a:latin typeface="Anton" pitchFamily="34" charset="0"/>
                <a:ea typeface="Anton" pitchFamily="34" charset="-122"/>
                <a:cs typeface="Anton" pitchFamily="34" charset="-120"/>
              </a:rPr>
              <a:t>REQUIRES MONITORING</a:t>
            </a:r>
            <a:endParaRPr lang="en-US" sz="1800" dirty="0"/>
          </a:p>
        </p:txBody>
      </p:sp>
      <p:sp>
        <p:nvSpPr>
          <p:cNvPr id="36" name="Text 28"/>
          <p:cNvSpPr/>
          <p:nvPr/>
        </p:nvSpPr>
        <p:spPr>
          <a:xfrm>
            <a:off x="6565900" y="3379319"/>
            <a:ext cx="2758384"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91919"/>
                </a:solidFill>
                <a:latin typeface="Public Sans" pitchFamily="34" charset="0"/>
                <a:ea typeface="Public Sans" pitchFamily="34" charset="-122"/>
                <a:cs typeface="Public Sans" pitchFamily="34" charset="-120"/>
              </a:rPr>
              <a:t>WHY: [what to watch and why]</a:t>
            </a:r>
            <a:endParaRPr lang="en-US" sz="1300" dirty="0"/>
          </a:p>
        </p:txBody>
      </p:sp>
      <p:sp>
        <p:nvSpPr>
          <p:cNvPr id="37" name="Shape 29"/>
          <p:cNvSpPr/>
          <p:nvPr/>
        </p:nvSpPr>
        <p:spPr>
          <a:xfrm>
            <a:off x="6223000" y="4227421"/>
            <a:ext cx="5207000" cy="0"/>
          </a:xfrm>
          <a:prstGeom prst="line">
            <a:avLst/>
          </a:prstGeom>
          <a:noFill/>
          <a:ln w="12700">
            <a:solidFill>
              <a:srgbClr val="8A8173"/>
            </a:solidFill>
            <a:prstDash val="sysDot"/>
          </a:ln>
        </p:spPr>
      </p:sp>
      <p:pic>
        <p:nvPicPr>
          <p:cNvPr id="38" name="Image 6" descr="ellipse">    </p:cNvPr>
          <p:cNvPicPr>
            <a:picLocks noChangeAspect="1"/>
          </p:cNvPicPr>
          <p:nvPr/>
        </p:nvPicPr>
        <p:blipFill>
          <a:blip r:embed="rId7"/>
          <a:srcRect l="0" r="0" t="0" b="0"/>
          <a:stretch/>
        </p:blipFill>
        <p:spPr>
          <a:xfrm>
            <a:off x="6223000" y="3846233"/>
            <a:ext cx="215900" cy="215900"/>
          </a:xfrm>
          <a:prstGeom prst="rect">
            <a:avLst/>
          </a:prstGeom>
        </p:spPr>
      </p:pic>
      <p:sp>
        <p:nvSpPr>
          <p:cNvPr id="39" name="Text 30"/>
          <p:cNvSpPr/>
          <p:nvPr/>
        </p:nvSpPr>
        <p:spPr>
          <a:xfrm>
            <a:off x="6565900" y="3724650"/>
            <a:ext cx="2917496" cy="265393"/>
          </a:xfrm>
          <a:prstGeom prst="rect">
            <a:avLst/>
          </a:prstGeom>
          <a:noFill/>
          <a:ln/>
        </p:spPr>
        <p:txBody>
          <a:bodyPr wrap="square" lIns="0" tIns="0" rIns="0" bIns="0" rtlCol="0" anchor="t">
            <a:normAutofit/>
          </a:bodyPr>
          <a:lstStyle/>
          <a:p>
            <a:pPr algn="l" indent="0" marL="0">
              <a:lnSpc>
                <a:spcPts val="1890"/>
              </a:lnSpc>
              <a:buNone/>
            </a:pPr>
            <a:r>
              <a:rPr lang="en-US" sz="1800" dirty="0">
                <a:solidFill>
                  <a:srgbClr val="191919"/>
                </a:solidFill>
                <a:latin typeface="Anton" pitchFamily="34" charset="0"/>
                <a:ea typeface="Anton" pitchFamily="34" charset="-122"/>
                <a:cs typeface="Anton" pitchFamily="34" charset="-120"/>
              </a:rPr>
              <a:t>NEEDS PRODUCTION VALIDATION</a:t>
            </a:r>
            <a:endParaRPr lang="en-US" sz="1800" dirty="0"/>
          </a:p>
        </p:txBody>
      </p:sp>
      <p:sp>
        <p:nvSpPr>
          <p:cNvPr id="40" name="Text 31"/>
          <p:cNvSpPr/>
          <p:nvPr/>
        </p:nvSpPr>
        <p:spPr>
          <a:xfrm>
            <a:off x="6565900" y="3977342"/>
            <a:ext cx="3399024"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91919"/>
                </a:solidFill>
                <a:latin typeface="Public Sans" pitchFamily="34" charset="0"/>
                <a:ea typeface="Public Sans" pitchFamily="34" charset="-122"/>
                <a:cs typeface="Public Sans" pitchFamily="34" charset="-120"/>
              </a:rPr>
              <a:t>WHY: [what could not be tested here]</a:t>
            </a:r>
            <a:endParaRPr lang="en-US" sz="1300" dirty="0"/>
          </a:p>
        </p:txBody>
      </p:sp>
      <p:sp>
        <p:nvSpPr>
          <p:cNvPr id="41" name="Shape 32"/>
          <p:cNvSpPr/>
          <p:nvPr/>
        </p:nvSpPr>
        <p:spPr>
          <a:xfrm>
            <a:off x="6223000" y="4825440"/>
            <a:ext cx="5207000" cy="0"/>
          </a:xfrm>
          <a:prstGeom prst="line">
            <a:avLst/>
          </a:prstGeom>
          <a:noFill/>
          <a:ln w="12700">
            <a:solidFill>
              <a:srgbClr val="8A8173"/>
            </a:solidFill>
            <a:prstDash val="sysDot"/>
          </a:ln>
        </p:spPr>
      </p:sp>
      <p:pic>
        <p:nvPicPr>
          <p:cNvPr id="42" name="Image 7" descr="ellipse">    </p:cNvPr>
          <p:cNvPicPr>
            <a:picLocks noChangeAspect="1"/>
          </p:cNvPicPr>
          <p:nvPr/>
        </p:nvPicPr>
        <p:blipFill>
          <a:blip r:embed="rId8"/>
          <a:srcRect l="0" r="0" t="0" b="0"/>
          <a:stretch/>
        </p:blipFill>
        <p:spPr>
          <a:xfrm>
            <a:off x="6223000" y="4444256"/>
            <a:ext cx="215900" cy="215900"/>
          </a:xfrm>
          <a:prstGeom prst="rect">
            <a:avLst/>
          </a:prstGeom>
        </p:spPr>
      </p:pic>
      <p:sp>
        <p:nvSpPr>
          <p:cNvPr id="43" name="Text 33"/>
          <p:cNvSpPr/>
          <p:nvPr/>
        </p:nvSpPr>
        <p:spPr>
          <a:xfrm>
            <a:off x="6565900" y="4322669"/>
            <a:ext cx="2404884" cy="265393"/>
          </a:xfrm>
          <a:prstGeom prst="rect">
            <a:avLst/>
          </a:prstGeom>
          <a:noFill/>
          <a:ln/>
        </p:spPr>
        <p:txBody>
          <a:bodyPr wrap="square" lIns="0" tIns="0" rIns="0" bIns="0" rtlCol="0" anchor="t">
            <a:normAutofit/>
          </a:bodyPr>
          <a:lstStyle/>
          <a:p>
            <a:pPr algn="l" indent="0" marL="0">
              <a:lnSpc>
                <a:spcPts val="1890"/>
              </a:lnSpc>
              <a:buNone/>
            </a:pPr>
            <a:r>
              <a:rPr lang="en-US" sz="1800" dirty="0">
                <a:solidFill>
                  <a:srgbClr val="191919"/>
                </a:solidFill>
                <a:latin typeface="Anton" pitchFamily="34" charset="0"/>
                <a:ea typeface="Anton" pitchFamily="34" charset="-122"/>
                <a:cs typeface="Anton" pitchFamily="34" charset="-120"/>
              </a:rPr>
              <a:t>NEEDS FUTURE HARDENING</a:t>
            </a:r>
            <a:endParaRPr lang="en-US" sz="1800" dirty="0"/>
          </a:p>
        </p:txBody>
      </p:sp>
      <p:sp>
        <p:nvSpPr>
          <p:cNvPr id="44" name="Text 34"/>
          <p:cNvSpPr/>
          <p:nvPr/>
        </p:nvSpPr>
        <p:spPr>
          <a:xfrm>
            <a:off x="6565900" y="4575361"/>
            <a:ext cx="2801807"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91919"/>
                </a:solidFill>
                <a:latin typeface="Public Sans" pitchFamily="34" charset="0"/>
                <a:ea typeface="Public Sans" pitchFamily="34" charset="-122"/>
                <a:cs typeface="Public Sans" pitchFamily="34" charset="-120"/>
              </a:rPr>
              <a:t>WHY: [why it was out of scope]</a:t>
            </a:r>
            <a:endParaRPr lang="en-US" sz="1300" dirty="0"/>
          </a:p>
        </p:txBody>
      </p:sp>
      <p:sp>
        <p:nvSpPr>
          <p:cNvPr id="45" name="Shape 35"/>
          <p:cNvSpPr/>
          <p:nvPr/>
        </p:nvSpPr>
        <p:spPr>
          <a:xfrm>
            <a:off x="762000" y="4996892"/>
            <a:ext cx="10668000" cy="0"/>
          </a:xfrm>
          <a:prstGeom prst="line">
            <a:avLst/>
          </a:prstGeom>
          <a:noFill/>
          <a:ln w="25400">
            <a:solidFill>
              <a:srgbClr val="191919"/>
            </a:solidFill>
            <a:prstDash val="solid"/>
          </a:ln>
        </p:spPr>
      </p:sp>
      <p:sp>
        <p:nvSpPr>
          <p:cNvPr id="46" name="Text 36"/>
          <p:cNvSpPr/>
          <p:nvPr/>
        </p:nvSpPr>
        <p:spPr>
          <a:xfrm>
            <a:off x="762000" y="5096997"/>
            <a:ext cx="10988040" cy="1054100"/>
          </a:xfrm>
          <a:prstGeom prst="rect">
            <a:avLst/>
          </a:prstGeom>
          <a:noFill/>
          <a:ln/>
        </p:spPr>
        <p:txBody>
          <a:bodyPr wrap="square" lIns="0" tIns="0" rIns="0" bIns="0" rtlCol="0" anchor="t">
            <a:normAutofit/>
          </a:bodyPr>
          <a:lstStyle/>
          <a:p>
            <a:pPr algn="l" indent="0" marL="0">
              <a:lnSpc>
                <a:spcPts val="2700"/>
              </a:lnSpc>
              <a:buNone/>
            </a:pPr>
            <a:r>
              <a:rPr lang="en-US" sz="2500" dirty="0">
                <a:solidFill>
                  <a:srgbClr val="191919"/>
                </a:solidFill>
                <a:latin typeface="Anton" pitchFamily="34" charset="0"/>
                <a:ea typeface="Anton" pitchFamily="34" charset="-122"/>
                <a:cs typeface="Anton" pitchFamily="34" charset="-120"/>
              </a:rPr>
              <a:t>WE DIDN’T TRY TO REWRITE FILSPAY.</a:t>
            </a:r>
            <a:endParaRPr lang="en-US" sz="2500" dirty="0"/>
          </a:p>
          <a:p>
            <a:pPr algn="l" indent="0" marL="0">
              <a:lnSpc>
                <a:spcPts val="2700"/>
              </a:lnSpc>
              <a:buNone/>
            </a:pPr>
            <a:r>
              <a:rPr lang="en-US" sz="2500" dirty="0">
                <a:solidFill>
                  <a:srgbClr val="A72626"/>
                </a:solidFill>
                <a:latin typeface="Anton" pitchFamily="34" charset="0"/>
                <a:ea typeface="Anton" pitchFamily="34" charset="-122"/>
                <a:cs typeface="Anton" pitchFamily="34" charset="-120"/>
              </a:rPr>
              <a:t>WE MADE IT SAFER, MORE CORRECT,</a:t>
            </a:r>
            <a:endParaRPr lang="en-US" sz="2500" dirty="0"/>
          </a:p>
          <a:p>
            <a:pPr algn="l" indent="0" marL="0">
              <a:lnSpc>
                <a:spcPts val="2700"/>
              </a:lnSpc>
              <a:buNone/>
            </a:pPr>
            <a:r>
              <a:rPr lang="en-US" sz="2500" dirty="0">
                <a:solidFill>
                  <a:srgbClr val="A72626"/>
                </a:solidFill>
                <a:latin typeface="Anton" pitchFamily="34" charset="0"/>
                <a:ea typeface="Anton" pitchFamily="34" charset="-122"/>
                <a:cs typeface="Anton" pitchFamily="34" charset="-120"/>
              </a:rPr>
              <a:t>AND EASIER TO TRUST.</a:t>
            </a:r>
            <a:endParaRPr lang="en-US" sz="2500" dirty="0"/>
          </a:p>
        </p:txBody>
      </p:sp>
      <p:sp>
        <p:nvSpPr>
          <p:cNvPr id="47" name="Text 37"/>
          <p:cNvSpPr/>
          <p:nvPr/>
        </p:nvSpPr>
        <p:spPr>
          <a:xfrm rot="21240000">
            <a:off x="8785225" y="5102787"/>
            <a:ext cx="2495550" cy="977900"/>
          </a:xfrm>
          <a:prstGeom prst="rect">
            <a:avLst/>
          </a:prstGeom>
          <a:noFill/>
          <a:ln w="44450">
            <a:solidFill>
              <a:srgbClr val="A72626">
                <a:alpha val="90000"/>
              </a:srgbClr>
            </a:solidFill>
            <a:prstDash val="solid"/>
          </a:ln>
        </p:spPr>
        <p:txBody>
          <a:bodyPr wrap="square" lIns="0" tIns="83110" rIns="0" bIns="57710" rtlCol="0" anchor="t">
            <a:normAutofit/>
          </a:bodyPr>
          <a:lstStyle/>
          <a:p>
            <a:pPr algn="ctr" indent="0" marL="0">
              <a:lnSpc>
                <a:spcPts val="3200"/>
              </a:lnSpc>
              <a:buNone/>
            </a:pPr>
            <a:r>
              <a:rPr lang="en-US" sz="3200" dirty="0">
                <a:solidFill>
                  <a:srgbClr val="A72626">
                    <a:alpha val="90000"/>
                  </a:srgbClr>
                </a:solidFill>
                <a:latin typeface="Anton" pitchFamily="34" charset="0"/>
                <a:ea typeface="Anton" pitchFamily="34" charset="-122"/>
                <a:cs typeface="Anton" pitchFamily="34" charset="-120"/>
              </a:rPr>
              <a:t>CASE STATUS:</a:t>
            </a:r>
            <a:endParaRPr lang="en-US" sz="3200" dirty="0"/>
          </a:p>
          <a:p>
            <a:pPr algn="ctr" indent="0" marL="0">
              <a:lnSpc>
                <a:spcPts val="3200"/>
              </a:lnSpc>
              <a:buNone/>
            </a:pPr>
            <a:r>
              <a:rPr lang="en-US" sz="3200" dirty="0">
                <a:solidFill>
                  <a:srgbClr val="A72626">
                    <a:alpha val="90000"/>
                  </a:srgbClr>
                </a:solidFill>
                <a:latin typeface="Anton" pitchFamily="34" charset="0"/>
                <a:ea typeface="Anton" pitchFamily="34" charset="-122"/>
                <a:cs typeface="Anton" pitchFamily="34" charset="-120"/>
              </a:rPr>
              <a:t>STABILIZED</a:t>
            </a:r>
            <a:endParaRPr lang="en-US" sz="3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304800" y="304800"/>
            <a:ext cx="11582400" cy="6248400"/>
          </a:xfrm>
          <a:prstGeom prst="rect">
            <a:avLst/>
          </a:prstGeom>
          <a:solidFill>
            <a:srgbClr val="F1EBDF"/>
          </a:solidFill>
          <a:ln/>
          <a:effectLst>
            <a:outerShdw sx="100000" sy="100000" kx="0" ky="0" algn="bl" rotWithShape="0" blurRad="381000" dist="127000" dir="5400000">
              <a:srgbClr val="000000">
                <a:alpha val="60000"/>
              </a:srgbClr>
            </a:outerShdw>
          </a:effectLst>
        </p:spPr>
      </p:sp>
      <p:sp>
        <p:nvSpPr>
          <p:cNvPr id="3" name="Shape 1"/>
          <p:cNvSpPr/>
          <p:nvPr/>
        </p:nvSpPr>
        <p:spPr>
          <a:xfrm>
            <a:off x="762000" y="1001666"/>
            <a:ext cx="10668000" cy="0"/>
          </a:xfrm>
          <a:prstGeom prst="line">
            <a:avLst/>
          </a:prstGeom>
          <a:noFill/>
          <a:ln w="19050">
            <a:solidFill>
              <a:srgbClr val="191919"/>
            </a:solidFill>
            <a:prstDash val="solid"/>
          </a:ln>
        </p:spPr>
      </p:sp>
      <p:sp>
        <p:nvSpPr>
          <p:cNvPr id="4" name="Text 2"/>
          <p:cNvSpPr/>
          <p:nvPr/>
        </p:nvSpPr>
        <p:spPr>
          <a:xfrm>
            <a:off x="762000" y="584200"/>
            <a:ext cx="1012218" cy="304800"/>
          </a:xfrm>
          <a:prstGeom prst="rect">
            <a:avLst/>
          </a:prstGeom>
          <a:noFill/>
          <a:ln/>
        </p:spPr>
        <p:txBody>
          <a:bodyPr wrap="square" lIns="0" tIns="0" rIns="0" bIns="0" rtlCol="0" anchor="t">
            <a:normAutofit/>
          </a:bodyPr>
          <a:lstStyle/>
          <a:p>
            <a:pPr algn="l" indent="0" marL="0">
              <a:lnSpc>
                <a:spcPts val="2200"/>
              </a:lnSpc>
              <a:buNone/>
            </a:pPr>
            <a:r>
              <a:rPr lang="en-US" sz="2200" spc="100" kern="0" dirty="0">
                <a:solidFill>
                  <a:srgbClr val="191919"/>
                </a:solidFill>
                <a:latin typeface="Anton" pitchFamily="34" charset="0"/>
                <a:ea typeface="Anton" pitchFamily="34" charset="-122"/>
                <a:cs typeface="Anton" pitchFamily="34" charset="-120"/>
              </a:rPr>
              <a:t>FILSPAY</a:t>
            </a:r>
            <a:endParaRPr lang="en-US" sz="2200" dirty="0"/>
          </a:p>
        </p:txBody>
      </p:sp>
      <p:sp>
        <p:nvSpPr>
          <p:cNvPr id="5" name="Text 3"/>
          <p:cNvSpPr/>
          <p:nvPr/>
        </p:nvSpPr>
        <p:spPr>
          <a:xfrm>
            <a:off x="1774218" y="703728"/>
            <a:ext cx="2631758"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919"/>
                </a:solidFill>
                <a:latin typeface="Courier Prime" pitchFamily="49" charset="0"/>
                <a:ea typeface="Courier Prime" pitchFamily="49" charset="-122"/>
                <a:cs typeface="Courier Prime" pitchFamily="49" charset="-120"/>
              </a:rPr>
              <a:t>THE HANDOVER / CASE FILE</a:t>
            </a:r>
            <a:endParaRPr lang="en-US" sz="1200" dirty="0"/>
          </a:p>
        </p:txBody>
      </p:sp>
      <p:sp>
        <p:nvSpPr>
          <p:cNvPr id="6" name="Text 4"/>
          <p:cNvSpPr/>
          <p:nvPr/>
        </p:nvSpPr>
        <p:spPr>
          <a:xfrm>
            <a:off x="6714733" y="703728"/>
            <a:ext cx="4715267" cy="238732"/>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A72626"/>
                </a:solidFill>
                <a:latin typeface="Courier Prime" pitchFamily="49" charset="0"/>
                <a:ea typeface="Courier Prime" pitchFamily="49" charset="-122"/>
                <a:cs typeface="Courier Prime" pitchFamily="49" charset="-120"/>
              </a:rPr>
              <a:t>CASE NO. FP-2026 · APPENDIX A1 · 30.10.2026</a:t>
            </a:r>
            <a:endParaRPr lang="en-US" sz="1200" dirty="0"/>
          </a:p>
        </p:txBody>
      </p:sp>
      <p:sp>
        <p:nvSpPr>
          <p:cNvPr id="7" name="Text 5"/>
          <p:cNvSpPr/>
          <p:nvPr/>
        </p:nvSpPr>
        <p:spPr>
          <a:xfrm>
            <a:off x="762000" y="1188994"/>
            <a:ext cx="10988040" cy="27431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72626"/>
                </a:solidFill>
                <a:latin typeface="Courier Prime" pitchFamily="49" charset="0"/>
                <a:ea typeface="Courier Prime" pitchFamily="49" charset="-122"/>
                <a:cs typeface="Courier Prime" pitchFamily="49" charset="-120"/>
              </a:rPr>
              <a:t>APPENDIX A1</a:t>
            </a:r>
            <a:endParaRPr lang="en-US" sz="1400" dirty="0"/>
          </a:p>
        </p:txBody>
      </p:sp>
      <p:sp>
        <p:nvSpPr>
          <p:cNvPr id="8" name="Text 6"/>
          <p:cNvSpPr/>
          <p:nvPr>
            <p:ph type="title"/>
          </p:nvPr>
        </p:nvSpPr>
        <p:spPr>
          <a:xfrm>
            <a:off x="762000" y="1463303"/>
            <a:ext cx="10988040" cy="612121"/>
          </a:xfrm>
          <a:prstGeom prst="rect">
            <a:avLst/>
          </a:prstGeom>
          <a:noFill/>
          <a:ln/>
        </p:spPr>
        <p:txBody>
          <a:bodyPr wrap="square" lIns="0" tIns="0" rIns="0" bIns="0" rtlCol="0" anchor="t">
            <a:normAutofit/>
          </a:bodyPr>
          <a:lstStyle/>
          <a:p>
            <a:pPr algn="l" indent="0" marL="0">
              <a:lnSpc>
                <a:spcPts val="4620"/>
              </a:lnSpc>
              <a:buNone/>
            </a:pPr>
            <a:r>
              <a:rPr lang="en-US" sz="4400" b="0" i="0" dirty="0">
                <a:solidFill>
                  <a:srgbClr val="191919"/>
                </a:solidFill>
                <a:latin typeface="Anton" pitchFamily="34" charset="0"/>
                <a:ea typeface="Anton" pitchFamily="34" charset="-122"/>
                <a:cs typeface="Anton" pitchFamily="34" charset="-120"/>
              </a:rPr>
              <a:t>TEST RESULTS</a:t>
            </a:r>
            <a:endParaRPr lang="en-US" sz="4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3953" y="2239774"/>
          <a:ext cx="10656047" cy="2151529"/>
        </p:xfrm>
        <a:graphic>
          <a:graphicData uri="http://schemas.openxmlformats.org/drawingml/2006/table">
            <a:tbl>
              <a:tblPr/>
              <a:tblGrid>
                <a:gridCol w="1704968"/>
                <a:gridCol w="4049298"/>
                <a:gridCol w="3196814"/>
                <a:gridCol w="1704968"/>
              </a:tblGrid>
              <a:tr h="358588">
                <a:tc>
                  <a:txBody>
                    <a:bodyPr/>
                    <a:lstStyle/>
                    <a:p>
                      <a:pPr indent="0" marL="0">
                        <a:lnSpc>
                          <a:spcPts val="1820"/>
                        </a:lnSpc>
                        <a:buNone/>
                      </a:pPr>
                      <a:r>
                        <a:rPr lang="en-US" sz="1300" b="1" dirty="0">
                          <a:solidFill>
                            <a:srgbClr val="F1EBDF"/>
                          </a:solidFill>
                          <a:latin typeface="Courier Prime" pitchFamily="49" charset="0"/>
                          <a:ea typeface="Courier Prime" pitchFamily="49" charset="-122"/>
                          <a:cs typeface="Courier Prime" pitchFamily="49" charset="-120"/>
                        </a:rPr>
                        <a:t>TEST ID</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F3EEE4"/>
                      </a:solidFill>
                      <a:prstDash val="solid"/>
                      <a:round/>
                      <a:headEnd type="none" w="med" len="med"/>
                      <a:tailEnd type="none" w="med" len="med"/>
                    </a:lnL>
                    <a:lnR w="12700" cap="flat" cmpd="sng" algn="ctr">
                      <a:solidFill>
                        <a:srgbClr val="4B4A49"/>
                      </a:solidFill>
                      <a:prstDash val="solid"/>
                      <a:round/>
                      <a:headEnd type="none" w="med" len="med"/>
                      <a:tailEnd type="none" w="med" len="med"/>
                    </a:lnR>
                    <a:lnT w="12700" cap="flat" cmpd="sng" algn="ctr">
                      <a:solidFill>
                        <a:srgbClr val="F3EEE4"/>
                      </a:solidFill>
                      <a:prstDash val="solid"/>
                      <a:round/>
                      <a:headEnd type="none" w="med" len="med"/>
                      <a:tailEnd type="none" w="med" len="med"/>
                    </a:lnT>
                    <a:lnB w="12700" cap="flat" cmpd="sng" algn="ctr">
                      <a:solidFill>
                        <a:srgbClr val="4B4A49"/>
                      </a:solidFill>
                      <a:prstDash val="solid"/>
                      <a:round/>
                      <a:headEnd type="none" w="med" len="med"/>
                      <a:tailEnd type="none" w="med" len="med"/>
                    </a:lnB>
                    <a:solidFill>
                      <a:srgbClr val="191919"/>
                    </a:solidFill>
                  </a:tcPr>
                </a:tc>
                <a:tc>
                  <a:txBody>
                    <a:bodyPr/>
                    <a:lstStyle/>
                    <a:p>
                      <a:pPr indent="0" marL="0">
                        <a:lnSpc>
                          <a:spcPts val="1820"/>
                        </a:lnSpc>
                        <a:buNone/>
                      </a:pPr>
                      <a:r>
                        <a:rPr lang="en-US" sz="1300" b="1" dirty="0">
                          <a:solidFill>
                            <a:srgbClr val="F1EBDF"/>
                          </a:solidFill>
                          <a:latin typeface="Courier Prime" pitchFamily="49" charset="0"/>
                          <a:ea typeface="Courier Prime" pitchFamily="49" charset="-122"/>
                          <a:cs typeface="Courier Prime" pitchFamily="49" charset="-120"/>
                        </a:rPr>
                        <a:t>WHAT IT PROVES</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4B4A49"/>
                      </a:solidFill>
                      <a:prstDash val="solid"/>
                      <a:round/>
                      <a:headEnd type="none" w="med" len="med"/>
                      <a:tailEnd type="none" w="med" len="med"/>
                    </a:lnL>
                    <a:lnR w="12700" cap="flat" cmpd="sng" algn="ctr">
                      <a:solidFill>
                        <a:srgbClr val="4B4A49"/>
                      </a:solidFill>
                      <a:prstDash val="solid"/>
                      <a:round/>
                      <a:headEnd type="none" w="med" len="med"/>
                      <a:tailEnd type="none" w="med" len="med"/>
                    </a:lnR>
                    <a:lnT w="12700" cap="flat" cmpd="sng" algn="ctr">
                      <a:solidFill>
                        <a:srgbClr val="F3EEE4"/>
                      </a:solidFill>
                      <a:prstDash val="solid"/>
                      <a:round/>
                      <a:headEnd type="none" w="med" len="med"/>
                      <a:tailEnd type="none" w="med" len="med"/>
                    </a:lnT>
                    <a:lnB w="12700" cap="flat" cmpd="sng" algn="ctr">
                      <a:solidFill>
                        <a:srgbClr val="4B4A49"/>
                      </a:solidFill>
                      <a:prstDash val="solid"/>
                      <a:round/>
                      <a:headEnd type="none" w="med" len="med"/>
                      <a:tailEnd type="none" w="med" len="med"/>
                    </a:lnB>
                    <a:solidFill>
                      <a:srgbClr val="191919"/>
                    </a:solidFill>
                  </a:tcPr>
                </a:tc>
                <a:tc>
                  <a:txBody>
                    <a:bodyPr/>
                    <a:lstStyle/>
                    <a:p>
                      <a:pPr indent="0" marL="0">
                        <a:lnSpc>
                          <a:spcPts val="1820"/>
                        </a:lnSpc>
                        <a:buNone/>
                      </a:pPr>
                      <a:r>
                        <a:rPr lang="en-US" sz="1300" b="1" dirty="0">
                          <a:solidFill>
                            <a:srgbClr val="F1EBDF"/>
                          </a:solidFill>
                          <a:latin typeface="Courier Prime" pitchFamily="49" charset="0"/>
                          <a:ea typeface="Courier Prime" pitchFamily="49" charset="-122"/>
                          <a:cs typeface="Courier Prime" pitchFamily="49" charset="-120"/>
                        </a:rPr>
                        <a:t>COMMAND / REF</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4B4A49"/>
                      </a:solidFill>
                      <a:prstDash val="solid"/>
                      <a:round/>
                      <a:headEnd type="none" w="med" len="med"/>
                      <a:tailEnd type="none" w="med" len="med"/>
                    </a:lnL>
                    <a:lnR w="12700" cap="flat" cmpd="sng" algn="ctr">
                      <a:solidFill>
                        <a:srgbClr val="4B4A49"/>
                      </a:solidFill>
                      <a:prstDash val="solid"/>
                      <a:round/>
                      <a:headEnd type="none" w="med" len="med"/>
                      <a:tailEnd type="none" w="med" len="med"/>
                    </a:lnR>
                    <a:lnT w="12700" cap="flat" cmpd="sng" algn="ctr">
                      <a:solidFill>
                        <a:srgbClr val="F3EEE4"/>
                      </a:solidFill>
                      <a:prstDash val="solid"/>
                      <a:round/>
                      <a:headEnd type="none" w="med" len="med"/>
                      <a:tailEnd type="none" w="med" len="med"/>
                    </a:lnT>
                    <a:lnB w="12700" cap="flat" cmpd="sng" algn="ctr">
                      <a:solidFill>
                        <a:srgbClr val="4B4A49"/>
                      </a:solidFill>
                      <a:prstDash val="solid"/>
                      <a:round/>
                      <a:headEnd type="none" w="med" len="med"/>
                      <a:tailEnd type="none" w="med" len="med"/>
                    </a:lnB>
                    <a:solidFill>
                      <a:srgbClr val="191919"/>
                    </a:solidFill>
                  </a:tcPr>
                </a:tc>
                <a:tc>
                  <a:txBody>
                    <a:bodyPr/>
                    <a:lstStyle/>
                    <a:p>
                      <a:pPr indent="0" marL="0">
                        <a:lnSpc>
                          <a:spcPts val="1820"/>
                        </a:lnSpc>
                        <a:buNone/>
                      </a:pPr>
                      <a:r>
                        <a:rPr lang="en-US" sz="1300" b="1" dirty="0">
                          <a:solidFill>
                            <a:srgbClr val="F1EBDF"/>
                          </a:solidFill>
                          <a:latin typeface="Courier Prime" pitchFamily="49" charset="0"/>
                          <a:ea typeface="Courier Prime" pitchFamily="49" charset="-122"/>
                          <a:cs typeface="Courier Prime" pitchFamily="49" charset="-120"/>
                        </a:rPr>
                        <a:t>RESULT</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4B4A49"/>
                      </a:solidFill>
                      <a:prstDash val="solid"/>
                      <a:round/>
                      <a:headEnd type="none" w="med" len="med"/>
                      <a:tailEnd type="none" w="med" len="med"/>
                    </a:lnL>
                    <a:lnR w="12700" cap="flat" cmpd="sng" algn="ctr">
                      <a:solidFill>
                        <a:srgbClr val="4B4A49"/>
                      </a:solidFill>
                      <a:prstDash val="solid"/>
                      <a:round/>
                      <a:headEnd type="none" w="med" len="med"/>
                      <a:tailEnd type="none" w="med" len="med"/>
                    </a:lnR>
                    <a:lnT w="12700" cap="flat" cmpd="sng" algn="ctr">
                      <a:solidFill>
                        <a:srgbClr val="F3EEE4"/>
                      </a:solidFill>
                      <a:prstDash val="solid"/>
                      <a:round/>
                      <a:headEnd type="none" w="med" len="med"/>
                      <a:tailEnd type="none" w="med" len="med"/>
                    </a:lnT>
                    <a:lnB w="12700" cap="flat" cmpd="sng" algn="ctr">
                      <a:solidFill>
                        <a:srgbClr val="4B4A49"/>
                      </a:solidFill>
                      <a:prstDash val="solid"/>
                      <a:round/>
                      <a:headEnd type="none" w="med" len="med"/>
                      <a:tailEnd type="none" w="med" len="med"/>
                    </a:lnB>
                    <a:solidFill>
                      <a:srgbClr val="191919"/>
                    </a:solidFill>
                  </a:tcPr>
                </a:tc>
              </a:tr>
              <a:tr h="358588">
                <a:tc>
                  <a:txBody>
                    <a:bodyPr/>
                    <a:lstStyle/>
                    <a:p>
                      <a:pPr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[TEST-01]</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F3EEE4"/>
                      </a:solidFill>
                      <a:prstDash val="solid"/>
                      <a:round/>
                      <a:headEnd type="none" w="med" len="med"/>
                      <a:tailEnd type="none" w="med" len="med"/>
                    </a:lnL>
                    <a:lnR w="12700" cap="flat" cmpd="sng" algn="ctr">
                      <a:solidFill>
                        <a:srgbClr val="ECE6DA"/>
                      </a:solidFill>
                      <a:prstDash val="solid"/>
                      <a:round/>
                      <a:headEnd type="none" w="med" len="med"/>
                      <a:tailEnd type="none" w="med" len="med"/>
                    </a:lnR>
                    <a:lnT w="12700" cap="flat" cmpd="sng" algn="ctr">
                      <a:solidFill>
                        <a:srgbClr val="4B4A49"/>
                      </a:solidFill>
                      <a:prstDash val="solid"/>
                      <a:round/>
                      <a:headEnd type="none" w="med" len="med"/>
                      <a:tailEnd type="none" w="med" len="med"/>
                    </a:lnT>
                    <a:lnB w="12700" cap="flat" cmpd="sng" algn="ctr">
                      <a:solidFill>
                        <a:srgbClr val="ECE6DA"/>
                      </a:solidFill>
                      <a:prstDash val="solid"/>
                      <a:round/>
                      <a:headEnd type="none" w="med" len="med"/>
                      <a:tailEnd type="none" w="med" len="med"/>
                    </a:lnB>
                    <a:solidFill>
                      <a:srgbClr val="E8E0D3"/>
                    </a:solidFill>
                  </a:tcPr>
                </a:tc>
                <a:tc>
                  <a:txBody>
                    <a:bodyPr/>
                    <a:lstStyle/>
                    <a:p>
                      <a:pPr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[Behavior verified]</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ECE6DA"/>
                      </a:solidFill>
                      <a:prstDash val="solid"/>
                      <a:round/>
                      <a:headEnd type="none" w="med" len="med"/>
                      <a:tailEnd type="none" w="med" len="med"/>
                    </a:lnL>
                    <a:lnR w="12700" cap="flat" cmpd="sng" algn="ctr">
                      <a:solidFill>
                        <a:srgbClr val="ECE6DA"/>
                      </a:solidFill>
                      <a:prstDash val="solid"/>
                      <a:round/>
                      <a:headEnd type="none" w="med" len="med"/>
                      <a:tailEnd type="none" w="med" len="med"/>
                    </a:lnR>
                    <a:lnT w="12700" cap="flat" cmpd="sng" algn="ctr">
                      <a:solidFill>
                        <a:srgbClr val="4B4A49"/>
                      </a:solidFill>
                      <a:prstDash val="solid"/>
                      <a:round/>
                      <a:headEnd type="none" w="med" len="med"/>
                      <a:tailEnd type="none" w="med" len="med"/>
                    </a:lnT>
                    <a:lnB w="12700" cap="flat" cmpd="sng" algn="ctr">
                      <a:solidFill>
                        <a:srgbClr val="ECE6DA"/>
                      </a:solidFill>
                      <a:prstDash val="solid"/>
                      <a:round/>
                      <a:headEnd type="none" w="med" len="med"/>
                      <a:tailEnd type="none" w="med" len="med"/>
                    </a:lnB>
                    <a:solidFill>
                      <a:srgbClr val="E8E0D3"/>
                    </a:solidFill>
                  </a:tcPr>
                </a:tc>
                <a:tc>
                  <a:txBody>
                    <a:bodyPr/>
                    <a:lstStyle/>
                    <a:p>
                      <a:pPr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[command / file]</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ECE6DA"/>
                      </a:solidFill>
                      <a:prstDash val="solid"/>
                      <a:round/>
                      <a:headEnd type="none" w="med" len="med"/>
                      <a:tailEnd type="none" w="med" len="med"/>
                    </a:lnL>
                    <a:lnR w="12700" cap="flat" cmpd="sng" algn="ctr">
                      <a:solidFill>
                        <a:srgbClr val="ECE6DA"/>
                      </a:solidFill>
                      <a:prstDash val="solid"/>
                      <a:round/>
                      <a:headEnd type="none" w="med" len="med"/>
                      <a:tailEnd type="none" w="med" len="med"/>
                    </a:lnR>
                    <a:lnT w="12700" cap="flat" cmpd="sng" algn="ctr">
                      <a:solidFill>
                        <a:srgbClr val="4B4A49"/>
                      </a:solidFill>
                      <a:prstDash val="solid"/>
                      <a:round/>
                      <a:headEnd type="none" w="med" len="med"/>
                      <a:tailEnd type="none" w="med" len="med"/>
                    </a:lnT>
                    <a:lnB w="12700" cap="flat" cmpd="sng" algn="ctr">
                      <a:solidFill>
                        <a:srgbClr val="ECE6DA"/>
                      </a:solidFill>
                      <a:prstDash val="solid"/>
                      <a:round/>
                      <a:headEnd type="none" w="med" len="med"/>
                      <a:tailEnd type="none" w="med" len="med"/>
                    </a:lnB>
                    <a:solidFill>
                      <a:srgbClr val="E8E0D3"/>
                    </a:solidFill>
                  </a:tcPr>
                </a:tc>
                <a:tc>
                  <a:txBody>
                    <a:bodyPr/>
                    <a:lstStyle/>
                    <a:p>
                      <a:pPr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[PASS / FAIL]</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ECE6DA"/>
                      </a:solidFill>
                      <a:prstDash val="solid"/>
                      <a:round/>
                      <a:headEnd type="none" w="med" len="med"/>
                      <a:tailEnd type="none" w="med" len="med"/>
                    </a:lnL>
                    <a:lnR w="12700" cap="flat" cmpd="sng" algn="ctr">
                      <a:solidFill>
                        <a:srgbClr val="ECE6DA"/>
                      </a:solidFill>
                      <a:prstDash val="solid"/>
                      <a:round/>
                      <a:headEnd type="none" w="med" len="med"/>
                      <a:tailEnd type="none" w="med" len="med"/>
                    </a:lnR>
                    <a:lnT w="12700" cap="flat" cmpd="sng" algn="ctr">
                      <a:solidFill>
                        <a:srgbClr val="4B4A49"/>
                      </a:solidFill>
                      <a:prstDash val="solid"/>
                      <a:round/>
                      <a:headEnd type="none" w="med" len="med"/>
                      <a:tailEnd type="none" w="med" len="med"/>
                    </a:lnT>
                    <a:lnB w="12700" cap="flat" cmpd="sng" algn="ctr">
                      <a:solidFill>
                        <a:srgbClr val="ECE6DA"/>
                      </a:solidFill>
                      <a:prstDash val="solid"/>
                      <a:round/>
                      <a:headEnd type="none" w="med" len="med"/>
                      <a:tailEnd type="none" w="med" len="med"/>
                    </a:lnB>
                    <a:solidFill>
                      <a:srgbClr val="E8E0D3"/>
                    </a:solidFill>
                  </a:tcPr>
                </a:tc>
              </a:tr>
              <a:tr h="358588">
                <a:tc>
                  <a:txBody>
                    <a:bodyPr/>
                    <a:lstStyle/>
                    <a:p>
                      <a:pPr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[TEST-02]</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F3EEE4"/>
                      </a:solidFill>
                      <a:prstDash val="solid"/>
                      <a:round/>
                      <a:headEnd type="none" w="med" len="med"/>
                      <a:tailEnd type="none" w="med" len="med"/>
                    </a:lnL>
                    <a:lnR w="12700" cap="flat" cmpd="sng" algn="ctr">
                      <a:solidFill>
                        <a:srgbClr val="F3EEE4"/>
                      </a:solidFill>
                      <a:prstDash val="solid"/>
                      <a:round/>
                      <a:headEnd type="none" w="med" len="med"/>
                      <a:tailEnd type="none" w="med" len="med"/>
                    </a:lnR>
                    <a:lnT w="12700" cap="flat" cmpd="sng" algn="ctr">
                      <a:solidFill>
                        <a:srgbClr val="ECE6DA"/>
                      </a:solidFill>
                      <a:prstDash val="solid"/>
                      <a:round/>
                      <a:headEnd type="none" w="med" len="med"/>
                      <a:tailEnd type="none" w="med" len="med"/>
                    </a:lnT>
                    <a:lnB w="12700" cap="flat" cmpd="sng" algn="ctr">
                      <a:solidFill>
                        <a:srgbClr val="F3EEE4"/>
                      </a:solidFill>
                      <a:prstDash val="solid"/>
                      <a:round/>
                      <a:headEnd type="none" w="med" len="med"/>
                      <a:tailEnd type="none" w="med" len="med"/>
                    </a:lnB>
                  </a:tcPr>
                </a:tc>
                <a:tc>
                  <a:txBody>
                    <a:bodyPr/>
                    <a:lstStyle/>
                    <a:p>
                      <a:pPr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[Behavior verified]</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F3EEE4"/>
                      </a:solidFill>
                      <a:prstDash val="solid"/>
                      <a:round/>
                      <a:headEnd type="none" w="med" len="med"/>
                      <a:tailEnd type="none" w="med" len="med"/>
                    </a:lnL>
                    <a:lnR w="12700" cap="flat" cmpd="sng" algn="ctr">
                      <a:solidFill>
                        <a:srgbClr val="F3EEE4"/>
                      </a:solidFill>
                      <a:prstDash val="solid"/>
                      <a:round/>
                      <a:headEnd type="none" w="med" len="med"/>
                      <a:tailEnd type="none" w="med" len="med"/>
                    </a:lnR>
                    <a:lnT w="12700" cap="flat" cmpd="sng" algn="ctr">
                      <a:solidFill>
                        <a:srgbClr val="ECE6DA"/>
                      </a:solidFill>
                      <a:prstDash val="solid"/>
                      <a:round/>
                      <a:headEnd type="none" w="med" len="med"/>
                      <a:tailEnd type="none" w="med" len="med"/>
                    </a:lnT>
                    <a:lnB w="12700" cap="flat" cmpd="sng" algn="ctr">
                      <a:solidFill>
                        <a:srgbClr val="F3EEE4"/>
                      </a:solidFill>
                      <a:prstDash val="solid"/>
                      <a:round/>
                      <a:headEnd type="none" w="med" len="med"/>
                      <a:tailEnd type="none" w="med" len="med"/>
                    </a:lnB>
                  </a:tcPr>
                </a:tc>
                <a:tc>
                  <a:txBody>
                    <a:bodyPr/>
                    <a:lstStyle/>
                    <a:p>
                      <a:pPr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[command / file]</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F3EEE4"/>
                      </a:solidFill>
                      <a:prstDash val="solid"/>
                      <a:round/>
                      <a:headEnd type="none" w="med" len="med"/>
                      <a:tailEnd type="none" w="med" len="med"/>
                    </a:lnL>
                    <a:lnR w="12700" cap="flat" cmpd="sng" algn="ctr">
                      <a:solidFill>
                        <a:srgbClr val="F3EEE4"/>
                      </a:solidFill>
                      <a:prstDash val="solid"/>
                      <a:round/>
                      <a:headEnd type="none" w="med" len="med"/>
                      <a:tailEnd type="none" w="med" len="med"/>
                    </a:lnR>
                    <a:lnT w="12700" cap="flat" cmpd="sng" algn="ctr">
                      <a:solidFill>
                        <a:srgbClr val="ECE6DA"/>
                      </a:solidFill>
                      <a:prstDash val="solid"/>
                      <a:round/>
                      <a:headEnd type="none" w="med" len="med"/>
                      <a:tailEnd type="none" w="med" len="med"/>
                    </a:lnT>
                    <a:lnB w="12700" cap="flat" cmpd="sng" algn="ctr">
                      <a:solidFill>
                        <a:srgbClr val="F3EEE4"/>
                      </a:solidFill>
                      <a:prstDash val="solid"/>
                      <a:round/>
                      <a:headEnd type="none" w="med" len="med"/>
                      <a:tailEnd type="none" w="med" len="med"/>
                    </a:lnB>
                  </a:tcPr>
                </a:tc>
                <a:tc>
                  <a:txBody>
                    <a:bodyPr/>
                    <a:lstStyle/>
                    <a:p>
                      <a:pPr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[PASS / FAIL]</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F3EEE4"/>
                      </a:solidFill>
                      <a:prstDash val="solid"/>
                      <a:round/>
                      <a:headEnd type="none" w="med" len="med"/>
                      <a:tailEnd type="none" w="med" len="med"/>
                    </a:lnL>
                    <a:lnR w="12700" cap="flat" cmpd="sng" algn="ctr">
                      <a:solidFill>
                        <a:srgbClr val="F3EEE4"/>
                      </a:solidFill>
                      <a:prstDash val="solid"/>
                      <a:round/>
                      <a:headEnd type="none" w="med" len="med"/>
                      <a:tailEnd type="none" w="med" len="med"/>
                    </a:lnR>
                    <a:lnT w="12700" cap="flat" cmpd="sng" algn="ctr">
                      <a:solidFill>
                        <a:srgbClr val="ECE6DA"/>
                      </a:solidFill>
                      <a:prstDash val="solid"/>
                      <a:round/>
                      <a:headEnd type="none" w="med" len="med"/>
                      <a:tailEnd type="none" w="med" len="med"/>
                    </a:lnT>
                    <a:lnB w="12700" cap="flat" cmpd="sng" algn="ctr">
                      <a:solidFill>
                        <a:srgbClr val="F3EEE4"/>
                      </a:solidFill>
                      <a:prstDash val="solid"/>
                      <a:round/>
                      <a:headEnd type="none" w="med" len="med"/>
                      <a:tailEnd type="none" w="med" len="med"/>
                    </a:lnB>
                  </a:tcPr>
                </a:tc>
              </a:tr>
              <a:tr h="358588">
                <a:tc>
                  <a:txBody>
                    <a:bodyPr/>
                    <a:lstStyle/>
                    <a:p>
                      <a:pPr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[TEST-03]</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F3EEE4"/>
                      </a:solidFill>
                      <a:prstDash val="solid"/>
                      <a:round/>
                      <a:headEnd type="none" w="med" len="med"/>
                      <a:tailEnd type="none" w="med" len="med"/>
                    </a:lnL>
                    <a:lnR w="12700" cap="flat" cmpd="sng" algn="ctr">
                      <a:solidFill>
                        <a:srgbClr val="ECE6DA"/>
                      </a:solidFill>
                      <a:prstDash val="solid"/>
                      <a:round/>
                      <a:headEnd type="none" w="med" len="med"/>
                      <a:tailEnd type="none" w="med" len="med"/>
                    </a:lnR>
                    <a:lnT w="12700" cap="flat" cmpd="sng" algn="ctr">
                      <a:solidFill>
                        <a:srgbClr val="F3EEE4"/>
                      </a:solidFill>
                      <a:prstDash val="solid"/>
                      <a:round/>
                      <a:headEnd type="none" w="med" len="med"/>
                      <a:tailEnd type="none" w="med" len="med"/>
                    </a:lnT>
                    <a:lnB w="12700" cap="flat" cmpd="sng" algn="ctr">
                      <a:solidFill>
                        <a:srgbClr val="ECE6DA"/>
                      </a:solidFill>
                      <a:prstDash val="solid"/>
                      <a:round/>
                      <a:headEnd type="none" w="med" len="med"/>
                      <a:tailEnd type="none" w="med" len="med"/>
                    </a:lnB>
                    <a:solidFill>
                      <a:srgbClr val="E8E0D3"/>
                    </a:solidFill>
                  </a:tcPr>
                </a:tc>
                <a:tc>
                  <a:txBody>
                    <a:bodyPr/>
                    <a:lstStyle/>
                    <a:p>
                      <a:pPr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[Behavior verified]</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ECE6DA"/>
                      </a:solidFill>
                      <a:prstDash val="solid"/>
                      <a:round/>
                      <a:headEnd type="none" w="med" len="med"/>
                      <a:tailEnd type="none" w="med" len="med"/>
                    </a:lnL>
                    <a:lnR w="12700" cap="flat" cmpd="sng" algn="ctr">
                      <a:solidFill>
                        <a:srgbClr val="ECE6DA"/>
                      </a:solidFill>
                      <a:prstDash val="solid"/>
                      <a:round/>
                      <a:headEnd type="none" w="med" len="med"/>
                      <a:tailEnd type="none" w="med" len="med"/>
                    </a:lnR>
                    <a:lnT w="12700" cap="flat" cmpd="sng" algn="ctr">
                      <a:solidFill>
                        <a:srgbClr val="F3EEE4"/>
                      </a:solidFill>
                      <a:prstDash val="solid"/>
                      <a:round/>
                      <a:headEnd type="none" w="med" len="med"/>
                      <a:tailEnd type="none" w="med" len="med"/>
                    </a:lnT>
                    <a:lnB w="12700" cap="flat" cmpd="sng" algn="ctr">
                      <a:solidFill>
                        <a:srgbClr val="ECE6DA"/>
                      </a:solidFill>
                      <a:prstDash val="solid"/>
                      <a:round/>
                      <a:headEnd type="none" w="med" len="med"/>
                      <a:tailEnd type="none" w="med" len="med"/>
                    </a:lnB>
                    <a:solidFill>
                      <a:srgbClr val="E8E0D3"/>
                    </a:solidFill>
                  </a:tcPr>
                </a:tc>
                <a:tc>
                  <a:txBody>
                    <a:bodyPr/>
                    <a:lstStyle/>
                    <a:p>
                      <a:pPr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[command / file]</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ECE6DA"/>
                      </a:solidFill>
                      <a:prstDash val="solid"/>
                      <a:round/>
                      <a:headEnd type="none" w="med" len="med"/>
                      <a:tailEnd type="none" w="med" len="med"/>
                    </a:lnL>
                    <a:lnR w="12700" cap="flat" cmpd="sng" algn="ctr">
                      <a:solidFill>
                        <a:srgbClr val="ECE6DA"/>
                      </a:solidFill>
                      <a:prstDash val="solid"/>
                      <a:round/>
                      <a:headEnd type="none" w="med" len="med"/>
                      <a:tailEnd type="none" w="med" len="med"/>
                    </a:lnR>
                    <a:lnT w="12700" cap="flat" cmpd="sng" algn="ctr">
                      <a:solidFill>
                        <a:srgbClr val="F3EEE4"/>
                      </a:solidFill>
                      <a:prstDash val="solid"/>
                      <a:round/>
                      <a:headEnd type="none" w="med" len="med"/>
                      <a:tailEnd type="none" w="med" len="med"/>
                    </a:lnT>
                    <a:lnB w="12700" cap="flat" cmpd="sng" algn="ctr">
                      <a:solidFill>
                        <a:srgbClr val="ECE6DA"/>
                      </a:solidFill>
                      <a:prstDash val="solid"/>
                      <a:round/>
                      <a:headEnd type="none" w="med" len="med"/>
                      <a:tailEnd type="none" w="med" len="med"/>
                    </a:lnB>
                    <a:solidFill>
                      <a:srgbClr val="E8E0D3"/>
                    </a:solidFill>
                  </a:tcPr>
                </a:tc>
                <a:tc>
                  <a:txBody>
                    <a:bodyPr/>
                    <a:lstStyle/>
                    <a:p>
                      <a:pPr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[PASS / FAIL]</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ECE6DA"/>
                      </a:solidFill>
                      <a:prstDash val="solid"/>
                      <a:round/>
                      <a:headEnd type="none" w="med" len="med"/>
                      <a:tailEnd type="none" w="med" len="med"/>
                    </a:lnL>
                    <a:lnR w="12700" cap="flat" cmpd="sng" algn="ctr">
                      <a:solidFill>
                        <a:srgbClr val="ECE6DA"/>
                      </a:solidFill>
                      <a:prstDash val="solid"/>
                      <a:round/>
                      <a:headEnd type="none" w="med" len="med"/>
                      <a:tailEnd type="none" w="med" len="med"/>
                    </a:lnR>
                    <a:lnT w="12700" cap="flat" cmpd="sng" algn="ctr">
                      <a:solidFill>
                        <a:srgbClr val="F3EEE4"/>
                      </a:solidFill>
                      <a:prstDash val="solid"/>
                      <a:round/>
                      <a:headEnd type="none" w="med" len="med"/>
                      <a:tailEnd type="none" w="med" len="med"/>
                    </a:lnT>
                    <a:lnB w="12700" cap="flat" cmpd="sng" algn="ctr">
                      <a:solidFill>
                        <a:srgbClr val="ECE6DA"/>
                      </a:solidFill>
                      <a:prstDash val="solid"/>
                      <a:round/>
                      <a:headEnd type="none" w="med" len="med"/>
                      <a:tailEnd type="none" w="med" len="med"/>
                    </a:lnB>
                    <a:solidFill>
                      <a:srgbClr val="E8E0D3"/>
                    </a:solidFill>
                  </a:tcPr>
                </a:tc>
              </a:tr>
              <a:tr h="358588">
                <a:tc>
                  <a:txBody>
                    <a:bodyPr/>
                    <a:lstStyle/>
                    <a:p>
                      <a:pPr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[TEST-04]</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F3EEE4"/>
                      </a:solidFill>
                      <a:prstDash val="solid"/>
                      <a:round/>
                      <a:headEnd type="none" w="med" len="med"/>
                      <a:tailEnd type="none" w="med" len="med"/>
                    </a:lnL>
                    <a:lnR w="12700" cap="flat" cmpd="sng" algn="ctr">
                      <a:solidFill>
                        <a:srgbClr val="F3EEE4"/>
                      </a:solidFill>
                      <a:prstDash val="solid"/>
                      <a:round/>
                      <a:headEnd type="none" w="med" len="med"/>
                      <a:tailEnd type="none" w="med" len="med"/>
                    </a:lnR>
                    <a:lnT w="12700" cap="flat" cmpd="sng" algn="ctr">
                      <a:solidFill>
                        <a:srgbClr val="ECE6DA"/>
                      </a:solidFill>
                      <a:prstDash val="solid"/>
                      <a:round/>
                      <a:headEnd type="none" w="med" len="med"/>
                      <a:tailEnd type="none" w="med" len="med"/>
                    </a:lnT>
                    <a:lnB w="12700" cap="flat" cmpd="sng" algn="ctr">
                      <a:solidFill>
                        <a:srgbClr val="F3EEE4"/>
                      </a:solidFill>
                      <a:prstDash val="solid"/>
                      <a:round/>
                      <a:headEnd type="none" w="med" len="med"/>
                      <a:tailEnd type="none" w="med" len="med"/>
                    </a:lnB>
                  </a:tcPr>
                </a:tc>
                <a:tc>
                  <a:txBody>
                    <a:bodyPr/>
                    <a:lstStyle/>
                    <a:p>
                      <a:pPr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[Behavior verified]</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F3EEE4"/>
                      </a:solidFill>
                      <a:prstDash val="solid"/>
                      <a:round/>
                      <a:headEnd type="none" w="med" len="med"/>
                      <a:tailEnd type="none" w="med" len="med"/>
                    </a:lnL>
                    <a:lnR w="12700" cap="flat" cmpd="sng" algn="ctr">
                      <a:solidFill>
                        <a:srgbClr val="F3EEE4"/>
                      </a:solidFill>
                      <a:prstDash val="solid"/>
                      <a:round/>
                      <a:headEnd type="none" w="med" len="med"/>
                      <a:tailEnd type="none" w="med" len="med"/>
                    </a:lnR>
                    <a:lnT w="12700" cap="flat" cmpd="sng" algn="ctr">
                      <a:solidFill>
                        <a:srgbClr val="ECE6DA"/>
                      </a:solidFill>
                      <a:prstDash val="solid"/>
                      <a:round/>
                      <a:headEnd type="none" w="med" len="med"/>
                      <a:tailEnd type="none" w="med" len="med"/>
                    </a:lnT>
                    <a:lnB w="12700" cap="flat" cmpd="sng" algn="ctr">
                      <a:solidFill>
                        <a:srgbClr val="F3EEE4"/>
                      </a:solidFill>
                      <a:prstDash val="solid"/>
                      <a:round/>
                      <a:headEnd type="none" w="med" len="med"/>
                      <a:tailEnd type="none" w="med" len="med"/>
                    </a:lnB>
                  </a:tcPr>
                </a:tc>
                <a:tc>
                  <a:txBody>
                    <a:bodyPr/>
                    <a:lstStyle/>
                    <a:p>
                      <a:pPr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[command / file]</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F3EEE4"/>
                      </a:solidFill>
                      <a:prstDash val="solid"/>
                      <a:round/>
                      <a:headEnd type="none" w="med" len="med"/>
                      <a:tailEnd type="none" w="med" len="med"/>
                    </a:lnL>
                    <a:lnR w="12700" cap="flat" cmpd="sng" algn="ctr">
                      <a:solidFill>
                        <a:srgbClr val="F3EEE4"/>
                      </a:solidFill>
                      <a:prstDash val="solid"/>
                      <a:round/>
                      <a:headEnd type="none" w="med" len="med"/>
                      <a:tailEnd type="none" w="med" len="med"/>
                    </a:lnR>
                    <a:lnT w="12700" cap="flat" cmpd="sng" algn="ctr">
                      <a:solidFill>
                        <a:srgbClr val="ECE6DA"/>
                      </a:solidFill>
                      <a:prstDash val="solid"/>
                      <a:round/>
                      <a:headEnd type="none" w="med" len="med"/>
                      <a:tailEnd type="none" w="med" len="med"/>
                    </a:lnT>
                    <a:lnB w="12700" cap="flat" cmpd="sng" algn="ctr">
                      <a:solidFill>
                        <a:srgbClr val="F3EEE4"/>
                      </a:solidFill>
                      <a:prstDash val="solid"/>
                      <a:round/>
                      <a:headEnd type="none" w="med" len="med"/>
                      <a:tailEnd type="none" w="med" len="med"/>
                    </a:lnB>
                  </a:tcPr>
                </a:tc>
                <a:tc>
                  <a:txBody>
                    <a:bodyPr/>
                    <a:lstStyle/>
                    <a:p>
                      <a:pPr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[PASS / FAIL]</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F3EEE4"/>
                      </a:solidFill>
                      <a:prstDash val="solid"/>
                      <a:round/>
                      <a:headEnd type="none" w="med" len="med"/>
                      <a:tailEnd type="none" w="med" len="med"/>
                    </a:lnL>
                    <a:lnR w="12700" cap="flat" cmpd="sng" algn="ctr">
                      <a:solidFill>
                        <a:srgbClr val="F3EEE4"/>
                      </a:solidFill>
                      <a:prstDash val="solid"/>
                      <a:round/>
                      <a:headEnd type="none" w="med" len="med"/>
                      <a:tailEnd type="none" w="med" len="med"/>
                    </a:lnR>
                    <a:lnT w="12700" cap="flat" cmpd="sng" algn="ctr">
                      <a:solidFill>
                        <a:srgbClr val="ECE6DA"/>
                      </a:solidFill>
                      <a:prstDash val="solid"/>
                      <a:round/>
                      <a:headEnd type="none" w="med" len="med"/>
                      <a:tailEnd type="none" w="med" len="med"/>
                    </a:lnT>
                    <a:lnB w="12700" cap="flat" cmpd="sng" algn="ctr">
                      <a:solidFill>
                        <a:srgbClr val="F3EEE4"/>
                      </a:solidFill>
                      <a:prstDash val="solid"/>
                      <a:round/>
                      <a:headEnd type="none" w="med" len="med"/>
                      <a:tailEnd type="none" w="med" len="med"/>
                    </a:lnB>
                  </a:tcPr>
                </a:tc>
              </a:tr>
              <a:tr h="358588">
                <a:tc>
                  <a:txBody>
                    <a:bodyPr/>
                    <a:lstStyle/>
                    <a:p>
                      <a:pPr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[TEST-05]</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F3EEE4"/>
                      </a:solidFill>
                      <a:prstDash val="solid"/>
                      <a:round/>
                      <a:headEnd type="none" w="med" len="med"/>
                      <a:tailEnd type="none" w="med" len="med"/>
                    </a:lnL>
                    <a:lnR w="12700" cap="flat" cmpd="sng" algn="ctr">
                      <a:solidFill>
                        <a:srgbClr val="ECE6DA"/>
                      </a:solidFill>
                      <a:prstDash val="solid"/>
                      <a:round/>
                      <a:headEnd type="none" w="med" len="med"/>
                      <a:tailEnd type="none" w="med" len="med"/>
                    </a:lnR>
                    <a:lnT w="12700" cap="flat" cmpd="sng" algn="ctr">
                      <a:solidFill>
                        <a:srgbClr val="F3EEE4"/>
                      </a:solidFill>
                      <a:prstDash val="solid"/>
                      <a:round/>
                      <a:headEnd type="none" w="med" len="med"/>
                      <a:tailEnd type="none" w="med" len="med"/>
                    </a:lnT>
                    <a:lnB w="12700" cap="flat" cmpd="sng" algn="ctr">
                      <a:solidFill>
                        <a:srgbClr val="ECE6DA"/>
                      </a:solidFill>
                      <a:prstDash val="solid"/>
                      <a:round/>
                      <a:headEnd type="none" w="med" len="med"/>
                      <a:tailEnd type="none" w="med" len="med"/>
                    </a:lnB>
                    <a:solidFill>
                      <a:srgbClr val="E8E0D3"/>
                    </a:solidFill>
                  </a:tcPr>
                </a:tc>
                <a:tc>
                  <a:txBody>
                    <a:bodyPr/>
                    <a:lstStyle/>
                    <a:p>
                      <a:pPr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[Behavior verified]</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ECE6DA"/>
                      </a:solidFill>
                      <a:prstDash val="solid"/>
                      <a:round/>
                      <a:headEnd type="none" w="med" len="med"/>
                      <a:tailEnd type="none" w="med" len="med"/>
                    </a:lnL>
                    <a:lnR w="12700" cap="flat" cmpd="sng" algn="ctr">
                      <a:solidFill>
                        <a:srgbClr val="ECE6DA"/>
                      </a:solidFill>
                      <a:prstDash val="solid"/>
                      <a:round/>
                      <a:headEnd type="none" w="med" len="med"/>
                      <a:tailEnd type="none" w="med" len="med"/>
                    </a:lnR>
                    <a:lnT w="12700" cap="flat" cmpd="sng" algn="ctr">
                      <a:solidFill>
                        <a:srgbClr val="F3EEE4"/>
                      </a:solidFill>
                      <a:prstDash val="solid"/>
                      <a:round/>
                      <a:headEnd type="none" w="med" len="med"/>
                      <a:tailEnd type="none" w="med" len="med"/>
                    </a:lnT>
                    <a:lnB w="12700" cap="flat" cmpd="sng" algn="ctr">
                      <a:solidFill>
                        <a:srgbClr val="ECE6DA"/>
                      </a:solidFill>
                      <a:prstDash val="solid"/>
                      <a:round/>
                      <a:headEnd type="none" w="med" len="med"/>
                      <a:tailEnd type="none" w="med" len="med"/>
                    </a:lnB>
                    <a:solidFill>
                      <a:srgbClr val="E8E0D3"/>
                    </a:solidFill>
                  </a:tcPr>
                </a:tc>
                <a:tc>
                  <a:txBody>
                    <a:bodyPr/>
                    <a:lstStyle/>
                    <a:p>
                      <a:pPr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[command / file]</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ECE6DA"/>
                      </a:solidFill>
                      <a:prstDash val="solid"/>
                      <a:round/>
                      <a:headEnd type="none" w="med" len="med"/>
                      <a:tailEnd type="none" w="med" len="med"/>
                    </a:lnL>
                    <a:lnR w="12700" cap="flat" cmpd="sng" algn="ctr">
                      <a:solidFill>
                        <a:srgbClr val="ECE6DA"/>
                      </a:solidFill>
                      <a:prstDash val="solid"/>
                      <a:round/>
                      <a:headEnd type="none" w="med" len="med"/>
                      <a:tailEnd type="none" w="med" len="med"/>
                    </a:lnR>
                    <a:lnT w="12700" cap="flat" cmpd="sng" algn="ctr">
                      <a:solidFill>
                        <a:srgbClr val="F3EEE4"/>
                      </a:solidFill>
                      <a:prstDash val="solid"/>
                      <a:round/>
                      <a:headEnd type="none" w="med" len="med"/>
                      <a:tailEnd type="none" w="med" len="med"/>
                    </a:lnT>
                    <a:lnB w="12700" cap="flat" cmpd="sng" algn="ctr">
                      <a:solidFill>
                        <a:srgbClr val="ECE6DA"/>
                      </a:solidFill>
                      <a:prstDash val="solid"/>
                      <a:round/>
                      <a:headEnd type="none" w="med" len="med"/>
                      <a:tailEnd type="none" w="med" len="med"/>
                    </a:lnB>
                    <a:solidFill>
                      <a:srgbClr val="E8E0D3"/>
                    </a:solidFill>
                  </a:tcPr>
                </a:tc>
                <a:tc>
                  <a:txBody>
                    <a:bodyPr/>
                    <a:lstStyle/>
                    <a:p>
                      <a:pPr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[PASS / FAIL]</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ECE6DA"/>
                      </a:solidFill>
                      <a:prstDash val="solid"/>
                      <a:round/>
                      <a:headEnd type="none" w="med" len="med"/>
                      <a:tailEnd type="none" w="med" len="med"/>
                    </a:lnL>
                    <a:lnR w="12700" cap="flat" cmpd="sng" algn="ctr">
                      <a:solidFill>
                        <a:srgbClr val="ECE6DA"/>
                      </a:solidFill>
                      <a:prstDash val="solid"/>
                      <a:round/>
                      <a:headEnd type="none" w="med" len="med"/>
                      <a:tailEnd type="none" w="med" len="med"/>
                    </a:lnR>
                    <a:lnT w="12700" cap="flat" cmpd="sng" algn="ctr">
                      <a:solidFill>
                        <a:srgbClr val="F3EEE4"/>
                      </a:solidFill>
                      <a:prstDash val="solid"/>
                      <a:round/>
                      <a:headEnd type="none" w="med" len="med"/>
                      <a:tailEnd type="none" w="med" len="med"/>
                    </a:lnT>
                    <a:lnB w="12700" cap="flat" cmpd="sng" algn="ctr">
                      <a:solidFill>
                        <a:srgbClr val="ECE6DA"/>
                      </a:solidFill>
                      <a:prstDash val="solid"/>
                      <a:round/>
                      <a:headEnd type="none" w="med" len="med"/>
                      <a:tailEnd type="none" w="med" len="med"/>
                    </a:lnB>
                    <a:solidFill>
                      <a:srgbClr val="E8E0D3"/>
                    </a:solidFill>
                  </a:tcPr>
                </a:tc>
              </a:tr>
            </a:tbl>
          </a:graphicData>
        </a:graphic>
      </p:graphicFrame>
      <p:sp>
        <p:nvSpPr>
          <p:cNvPr id="10" name="Shape 7"/>
          <p:cNvSpPr/>
          <p:nvPr/>
        </p:nvSpPr>
        <p:spPr>
          <a:xfrm>
            <a:off x="762000" y="4578629"/>
            <a:ext cx="10668000" cy="0"/>
          </a:xfrm>
          <a:prstGeom prst="line">
            <a:avLst/>
          </a:prstGeom>
          <a:noFill/>
          <a:ln w="19050">
            <a:solidFill>
              <a:srgbClr val="191919"/>
            </a:solidFill>
            <a:prstDash val="solid"/>
          </a:ln>
        </p:spPr>
      </p:sp>
      <p:sp>
        <p:nvSpPr>
          <p:cNvPr id="11" name="Text 8"/>
          <p:cNvSpPr/>
          <p:nvPr/>
        </p:nvSpPr>
        <p:spPr>
          <a:xfrm>
            <a:off x="762000" y="4675933"/>
            <a:ext cx="10988040" cy="25652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SOURCE OF TRUTH: [CI RUN / LOG LINK / DATE]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304800" y="304800"/>
            <a:ext cx="11582400" cy="6248400"/>
          </a:xfrm>
          <a:prstGeom prst="rect">
            <a:avLst/>
          </a:prstGeom>
          <a:solidFill>
            <a:srgbClr val="F1EBDF"/>
          </a:solidFill>
          <a:ln/>
          <a:effectLst>
            <a:outerShdw sx="100000" sy="100000" kx="0" ky="0" algn="bl" rotWithShape="0" blurRad="381000" dist="127000" dir="5400000">
              <a:srgbClr val="000000">
                <a:alpha val="60000"/>
              </a:srgbClr>
            </a:outerShdw>
          </a:effectLst>
        </p:spPr>
      </p:sp>
      <p:sp>
        <p:nvSpPr>
          <p:cNvPr id="3" name="Shape 1"/>
          <p:cNvSpPr/>
          <p:nvPr/>
        </p:nvSpPr>
        <p:spPr>
          <a:xfrm>
            <a:off x="762000" y="1001666"/>
            <a:ext cx="10668000" cy="0"/>
          </a:xfrm>
          <a:prstGeom prst="line">
            <a:avLst/>
          </a:prstGeom>
          <a:noFill/>
          <a:ln w="19050">
            <a:solidFill>
              <a:srgbClr val="191919"/>
            </a:solidFill>
            <a:prstDash val="solid"/>
          </a:ln>
        </p:spPr>
      </p:sp>
      <p:sp>
        <p:nvSpPr>
          <p:cNvPr id="4" name="Text 2"/>
          <p:cNvSpPr/>
          <p:nvPr/>
        </p:nvSpPr>
        <p:spPr>
          <a:xfrm>
            <a:off x="762000" y="584200"/>
            <a:ext cx="1012218" cy="304800"/>
          </a:xfrm>
          <a:prstGeom prst="rect">
            <a:avLst/>
          </a:prstGeom>
          <a:noFill/>
          <a:ln/>
        </p:spPr>
        <p:txBody>
          <a:bodyPr wrap="square" lIns="0" tIns="0" rIns="0" bIns="0" rtlCol="0" anchor="t">
            <a:normAutofit/>
          </a:bodyPr>
          <a:lstStyle/>
          <a:p>
            <a:pPr algn="l" indent="0" marL="0">
              <a:lnSpc>
                <a:spcPts val="2200"/>
              </a:lnSpc>
              <a:buNone/>
            </a:pPr>
            <a:r>
              <a:rPr lang="en-US" sz="2200" spc="100" kern="0" dirty="0">
                <a:solidFill>
                  <a:srgbClr val="191919"/>
                </a:solidFill>
                <a:latin typeface="Anton" pitchFamily="34" charset="0"/>
                <a:ea typeface="Anton" pitchFamily="34" charset="-122"/>
                <a:cs typeface="Anton" pitchFamily="34" charset="-120"/>
              </a:rPr>
              <a:t>FILSPAY</a:t>
            </a:r>
            <a:endParaRPr lang="en-US" sz="2200" dirty="0"/>
          </a:p>
        </p:txBody>
      </p:sp>
      <p:sp>
        <p:nvSpPr>
          <p:cNvPr id="5" name="Text 3"/>
          <p:cNvSpPr/>
          <p:nvPr/>
        </p:nvSpPr>
        <p:spPr>
          <a:xfrm>
            <a:off x="1774218" y="703728"/>
            <a:ext cx="2631758"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919"/>
                </a:solidFill>
                <a:latin typeface="Courier Prime" pitchFamily="49" charset="0"/>
                <a:ea typeface="Courier Prime" pitchFamily="49" charset="-122"/>
                <a:cs typeface="Courier Prime" pitchFamily="49" charset="-120"/>
              </a:rPr>
              <a:t>THE HANDOVER / CASE FILE</a:t>
            </a:r>
            <a:endParaRPr lang="en-US" sz="1200" dirty="0"/>
          </a:p>
        </p:txBody>
      </p:sp>
      <p:sp>
        <p:nvSpPr>
          <p:cNvPr id="6" name="Text 4"/>
          <p:cNvSpPr/>
          <p:nvPr/>
        </p:nvSpPr>
        <p:spPr>
          <a:xfrm>
            <a:off x="6714733" y="703728"/>
            <a:ext cx="4715267" cy="238732"/>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A72626"/>
                </a:solidFill>
                <a:latin typeface="Courier Prime" pitchFamily="49" charset="0"/>
                <a:ea typeface="Courier Prime" pitchFamily="49" charset="-122"/>
                <a:cs typeface="Courier Prime" pitchFamily="49" charset="-120"/>
              </a:rPr>
              <a:t>CASE NO. FP-2026 · APPENDIX A2 · 30.10.2026</a:t>
            </a:r>
            <a:endParaRPr lang="en-US" sz="1200" dirty="0"/>
          </a:p>
        </p:txBody>
      </p:sp>
      <p:sp>
        <p:nvSpPr>
          <p:cNvPr id="7" name="Text 5"/>
          <p:cNvSpPr/>
          <p:nvPr/>
        </p:nvSpPr>
        <p:spPr>
          <a:xfrm>
            <a:off x="762000" y="1188994"/>
            <a:ext cx="10988040" cy="27431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72626"/>
                </a:solidFill>
                <a:latin typeface="Courier Prime" pitchFamily="49" charset="0"/>
                <a:ea typeface="Courier Prime" pitchFamily="49" charset="-122"/>
                <a:cs typeface="Courier Prime" pitchFamily="49" charset="-120"/>
              </a:rPr>
              <a:t>APPENDIX A2</a:t>
            </a:r>
            <a:endParaRPr lang="en-US" sz="1400" dirty="0"/>
          </a:p>
        </p:txBody>
      </p:sp>
      <p:sp>
        <p:nvSpPr>
          <p:cNvPr id="8" name="Text 6"/>
          <p:cNvSpPr/>
          <p:nvPr>
            <p:ph type="title"/>
          </p:nvPr>
        </p:nvSpPr>
        <p:spPr>
          <a:xfrm>
            <a:off x="762000" y="1463303"/>
            <a:ext cx="10988040" cy="612121"/>
          </a:xfrm>
          <a:prstGeom prst="rect">
            <a:avLst/>
          </a:prstGeom>
          <a:noFill/>
          <a:ln/>
        </p:spPr>
        <p:txBody>
          <a:bodyPr wrap="square" lIns="0" tIns="0" rIns="0" bIns="0" rtlCol="0" anchor="t">
            <a:normAutofit/>
          </a:bodyPr>
          <a:lstStyle/>
          <a:p>
            <a:pPr algn="l" indent="0" marL="0">
              <a:lnSpc>
                <a:spcPts val="4620"/>
              </a:lnSpc>
              <a:buNone/>
            </a:pPr>
            <a:r>
              <a:rPr lang="en-US" sz="4400" b="0" i="0" dirty="0">
                <a:solidFill>
                  <a:srgbClr val="191919"/>
                </a:solidFill>
                <a:latin typeface="Anton" pitchFamily="34" charset="0"/>
                <a:ea typeface="Anton" pitchFamily="34" charset="-122"/>
                <a:cs typeface="Anton" pitchFamily="34" charset="-120"/>
              </a:rPr>
              <a:t>ARCHITECTURE AND LOAD-TEST GRAPH</a:t>
            </a:r>
            <a:endParaRPr lang="en-US" sz="4400" dirty="0"/>
          </a:p>
        </p:txBody>
      </p:sp>
      <p:sp>
        <p:nvSpPr>
          <p:cNvPr id="9" name="Text 7"/>
          <p:cNvSpPr/>
          <p:nvPr/>
        </p:nvSpPr>
        <p:spPr>
          <a:xfrm>
            <a:off x="771525" y="2237346"/>
            <a:ext cx="5187950" cy="3610395"/>
          </a:xfrm>
          <a:prstGeom prst="rect">
            <a:avLst/>
          </a:prstGeom>
          <a:solidFill>
            <a:srgbClr val="E3DACB"/>
          </a:solidFill>
          <a:ln w="19050">
            <a:solidFill>
              <a:srgbClr val="8A8173"/>
            </a:solidFill>
            <a:prstDash val="dash"/>
          </a:ln>
        </p:spPr>
        <p:txBody>
          <a:bodyPr wrap="square" lIns="135404" tIns="135404" rIns="135404" bIns="135404" rtlCol="0" anchor="ctr">
            <a:normAutofit/>
          </a:bodyPr>
          <a:lstStyle/>
          <a:p>
            <a:pPr algn="ctr" indent="0" marL="0">
              <a:lnSpc>
                <a:spcPts val="1960"/>
              </a:lnSpc>
              <a:buNone/>
            </a:pPr>
            <a:r>
              <a:rPr lang="en-US" sz="1400" dirty="0">
                <a:solidFill>
                  <a:srgbClr val="191919"/>
                </a:solidFill>
                <a:latin typeface="Courier Prime" pitchFamily="49" charset="0"/>
                <a:ea typeface="Courier Prime" pitchFamily="49" charset="-122"/>
                <a:cs typeface="Courier Prime" pitchFamily="49" charset="-120"/>
              </a:rPr>
              <a:t>[INSERT ARCHITECTURE DIAGRAM]</a:t>
            </a:r>
            <a:endParaRPr lang="en-US" sz="1400" dirty="0"/>
          </a:p>
        </p:txBody>
      </p:sp>
      <p:sp>
        <p:nvSpPr>
          <p:cNvPr id="10" name="Text 8"/>
          <p:cNvSpPr/>
          <p:nvPr/>
        </p:nvSpPr>
        <p:spPr>
          <a:xfrm>
            <a:off x="762000" y="5933467"/>
            <a:ext cx="5363210"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919"/>
                </a:solidFill>
                <a:latin typeface="Courier Prime" pitchFamily="49" charset="0"/>
                <a:ea typeface="Courier Prime" pitchFamily="49" charset="-122"/>
                <a:cs typeface="Courier Prime" pitchFamily="49" charset="-120"/>
              </a:rPr>
              <a:t>FIG. A2-A / ARCHITECTURE: [SOURCE FILE / REF]</a:t>
            </a:r>
            <a:endParaRPr lang="en-US" sz="1200" dirty="0"/>
          </a:p>
        </p:txBody>
      </p:sp>
      <p:sp>
        <p:nvSpPr>
          <p:cNvPr id="11" name="Text 9"/>
          <p:cNvSpPr/>
          <p:nvPr/>
        </p:nvSpPr>
        <p:spPr>
          <a:xfrm>
            <a:off x="6232525" y="2237346"/>
            <a:ext cx="5187950" cy="3610395"/>
          </a:xfrm>
          <a:prstGeom prst="rect">
            <a:avLst/>
          </a:prstGeom>
          <a:solidFill>
            <a:srgbClr val="E3DACB"/>
          </a:solidFill>
          <a:ln w="19050">
            <a:solidFill>
              <a:srgbClr val="8A8173"/>
            </a:solidFill>
            <a:prstDash val="dash"/>
          </a:ln>
        </p:spPr>
        <p:txBody>
          <a:bodyPr wrap="square" lIns="135404" tIns="135404" rIns="135404" bIns="135404" rtlCol="0" anchor="ctr">
            <a:normAutofit/>
          </a:bodyPr>
          <a:lstStyle/>
          <a:p>
            <a:pPr algn="ctr" indent="0" marL="0">
              <a:lnSpc>
                <a:spcPts val="1960"/>
              </a:lnSpc>
              <a:buNone/>
            </a:pPr>
            <a:r>
              <a:rPr lang="en-US" sz="1400" dirty="0">
                <a:solidFill>
                  <a:srgbClr val="191919"/>
                </a:solidFill>
                <a:latin typeface="Courier Prime" pitchFamily="49" charset="0"/>
                <a:ea typeface="Courier Prime" pitchFamily="49" charset="-122"/>
                <a:cs typeface="Courier Prime" pitchFamily="49" charset="-120"/>
              </a:rPr>
              <a:t>[INSERT LOAD-TEST GRAPH]</a:t>
            </a:r>
            <a:endParaRPr lang="en-US" sz="1400" dirty="0"/>
          </a:p>
        </p:txBody>
      </p:sp>
      <p:sp>
        <p:nvSpPr>
          <p:cNvPr id="12" name="Text 10"/>
          <p:cNvSpPr/>
          <p:nvPr/>
        </p:nvSpPr>
        <p:spPr>
          <a:xfrm>
            <a:off x="6223000" y="5933467"/>
            <a:ext cx="5363210"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919"/>
                </a:solidFill>
                <a:latin typeface="Courier Prime" pitchFamily="49" charset="0"/>
                <a:ea typeface="Courier Prime" pitchFamily="49" charset="-122"/>
                <a:cs typeface="Courier Prime" pitchFamily="49" charset="-120"/>
              </a:rPr>
              <a:t>FIG. A2-B / LOAD TEST: [TOOL, DATE, RUN ID]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304800" y="304800"/>
            <a:ext cx="11582400" cy="6248400"/>
          </a:xfrm>
          <a:prstGeom prst="rect">
            <a:avLst/>
          </a:prstGeom>
          <a:solidFill>
            <a:srgbClr val="F1EBDF"/>
          </a:solidFill>
          <a:ln/>
          <a:effectLst>
            <a:outerShdw sx="100000" sy="100000" kx="0" ky="0" algn="bl" rotWithShape="0" blurRad="381000" dist="127000" dir="5400000">
              <a:srgbClr val="000000">
                <a:alpha val="60000"/>
              </a:srgbClr>
            </a:outerShdw>
          </a:effectLst>
        </p:spPr>
      </p:sp>
      <p:sp>
        <p:nvSpPr>
          <p:cNvPr id="3" name="Shape 1"/>
          <p:cNvSpPr/>
          <p:nvPr/>
        </p:nvSpPr>
        <p:spPr>
          <a:xfrm>
            <a:off x="762000" y="1001666"/>
            <a:ext cx="10668000" cy="0"/>
          </a:xfrm>
          <a:prstGeom prst="line">
            <a:avLst/>
          </a:prstGeom>
          <a:noFill/>
          <a:ln w="19050">
            <a:solidFill>
              <a:srgbClr val="191919"/>
            </a:solidFill>
            <a:prstDash val="solid"/>
          </a:ln>
        </p:spPr>
      </p:sp>
      <p:sp>
        <p:nvSpPr>
          <p:cNvPr id="4" name="Text 2"/>
          <p:cNvSpPr/>
          <p:nvPr/>
        </p:nvSpPr>
        <p:spPr>
          <a:xfrm>
            <a:off x="762000" y="584200"/>
            <a:ext cx="1012218" cy="304800"/>
          </a:xfrm>
          <a:prstGeom prst="rect">
            <a:avLst/>
          </a:prstGeom>
          <a:noFill/>
          <a:ln/>
        </p:spPr>
        <p:txBody>
          <a:bodyPr wrap="square" lIns="0" tIns="0" rIns="0" bIns="0" rtlCol="0" anchor="t">
            <a:normAutofit/>
          </a:bodyPr>
          <a:lstStyle/>
          <a:p>
            <a:pPr algn="l" indent="0" marL="0">
              <a:lnSpc>
                <a:spcPts val="2200"/>
              </a:lnSpc>
              <a:buNone/>
            </a:pPr>
            <a:r>
              <a:rPr lang="en-US" sz="2200" spc="100" kern="0" dirty="0">
                <a:solidFill>
                  <a:srgbClr val="191919"/>
                </a:solidFill>
                <a:latin typeface="Anton" pitchFamily="34" charset="0"/>
                <a:ea typeface="Anton" pitchFamily="34" charset="-122"/>
                <a:cs typeface="Anton" pitchFamily="34" charset="-120"/>
              </a:rPr>
              <a:t>FILSPAY</a:t>
            </a:r>
            <a:endParaRPr lang="en-US" sz="2200" dirty="0"/>
          </a:p>
        </p:txBody>
      </p:sp>
      <p:sp>
        <p:nvSpPr>
          <p:cNvPr id="5" name="Text 3"/>
          <p:cNvSpPr/>
          <p:nvPr/>
        </p:nvSpPr>
        <p:spPr>
          <a:xfrm>
            <a:off x="1774218" y="703728"/>
            <a:ext cx="2631758"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919"/>
                </a:solidFill>
                <a:latin typeface="Courier Prime" pitchFamily="49" charset="0"/>
                <a:ea typeface="Courier Prime" pitchFamily="49" charset="-122"/>
                <a:cs typeface="Courier Prime" pitchFamily="49" charset="-120"/>
              </a:rPr>
              <a:t>THE HANDOVER / CASE FILE</a:t>
            </a:r>
            <a:endParaRPr lang="en-US" sz="1200" dirty="0"/>
          </a:p>
        </p:txBody>
      </p:sp>
      <p:sp>
        <p:nvSpPr>
          <p:cNvPr id="6" name="Text 4"/>
          <p:cNvSpPr/>
          <p:nvPr/>
        </p:nvSpPr>
        <p:spPr>
          <a:xfrm>
            <a:off x="6714733" y="703728"/>
            <a:ext cx="4715267" cy="238732"/>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A72626"/>
                </a:solidFill>
                <a:latin typeface="Courier Prime" pitchFamily="49" charset="0"/>
                <a:ea typeface="Courier Prime" pitchFamily="49" charset="-122"/>
                <a:cs typeface="Courier Prime" pitchFamily="49" charset="-120"/>
              </a:rPr>
              <a:t>CASE NO. FP-2026 · APPENDIX A3 · 30.10.2026</a:t>
            </a:r>
            <a:endParaRPr lang="en-US" sz="1200" dirty="0"/>
          </a:p>
        </p:txBody>
      </p:sp>
      <p:sp>
        <p:nvSpPr>
          <p:cNvPr id="7" name="Text 5"/>
          <p:cNvSpPr/>
          <p:nvPr/>
        </p:nvSpPr>
        <p:spPr>
          <a:xfrm>
            <a:off x="762000" y="1188994"/>
            <a:ext cx="10988040" cy="27431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72626"/>
                </a:solidFill>
                <a:latin typeface="Courier Prime" pitchFamily="49" charset="0"/>
                <a:ea typeface="Courier Prime" pitchFamily="49" charset="-122"/>
                <a:cs typeface="Courier Prime" pitchFamily="49" charset="-120"/>
              </a:rPr>
              <a:t>APPENDIX A3</a:t>
            </a:r>
            <a:endParaRPr lang="en-US" sz="1400" dirty="0"/>
          </a:p>
        </p:txBody>
      </p:sp>
      <p:sp>
        <p:nvSpPr>
          <p:cNvPr id="8" name="Text 6"/>
          <p:cNvSpPr/>
          <p:nvPr>
            <p:ph type="title"/>
          </p:nvPr>
        </p:nvSpPr>
        <p:spPr>
          <a:xfrm>
            <a:off x="762000" y="1463303"/>
            <a:ext cx="10988040" cy="612121"/>
          </a:xfrm>
          <a:prstGeom prst="rect">
            <a:avLst/>
          </a:prstGeom>
          <a:noFill/>
          <a:ln/>
        </p:spPr>
        <p:txBody>
          <a:bodyPr wrap="square" lIns="0" tIns="0" rIns="0" bIns="0" rtlCol="0" anchor="t">
            <a:normAutofit/>
          </a:bodyPr>
          <a:lstStyle/>
          <a:p>
            <a:pPr algn="l" indent="0" marL="0">
              <a:lnSpc>
                <a:spcPts val="4620"/>
              </a:lnSpc>
              <a:buNone/>
            </a:pPr>
            <a:r>
              <a:rPr lang="en-US" sz="4400" b="0" i="0" dirty="0">
                <a:solidFill>
                  <a:srgbClr val="191919"/>
                </a:solidFill>
                <a:latin typeface="Anton" pitchFamily="34" charset="0"/>
                <a:ea typeface="Anton" pitchFamily="34" charset="-122"/>
                <a:cs typeface="Anton" pitchFamily="34" charset="-120"/>
              </a:rPr>
              <a:t>SQL QUERIES AND LOGS</a:t>
            </a:r>
            <a:endParaRPr lang="en-US" sz="4400" dirty="0"/>
          </a:p>
        </p:txBody>
      </p:sp>
      <p:sp>
        <p:nvSpPr>
          <p:cNvPr id="9" name="Text 7"/>
          <p:cNvSpPr/>
          <p:nvPr/>
        </p:nvSpPr>
        <p:spPr>
          <a:xfrm>
            <a:off x="762000" y="2227821"/>
            <a:ext cx="5363210"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919"/>
                </a:solidFill>
                <a:latin typeface="Courier Prime" pitchFamily="49" charset="0"/>
                <a:ea typeface="Courier Prime" pitchFamily="49" charset="-122"/>
                <a:cs typeface="Courier Prime" pitchFamily="49" charset="-120"/>
              </a:rPr>
              <a:t>PRINTOUT A3-A / SQL QUERY</a:t>
            </a:r>
            <a:endParaRPr lang="en-US" sz="1200" dirty="0"/>
          </a:p>
        </p:txBody>
      </p:sp>
      <p:sp>
        <p:nvSpPr>
          <p:cNvPr id="10" name="Shape 8"/>
          <p:cNvSpPr/>
          <p:nvPr/>
        </p:nvSpPr>
        <p:spPr>
          <a:xfrm>
            <a:off x="762000" y="2517353"/>
            <a:ext cx="5207000" cy="3629445"/>
          </a:xfrm>
          <a:prstGeom prst="rect">
            <a:avLst/>
          </a:prstGeom>
          <a:solidFill>
            <a:srgbClr val="191919"/>
          </a:solidFill>
          <a:ln/>
        </p:spPr>
      </p:sp>
      <p:sp>
        <p:nvSpPr>
          <p:cNvPr id="11" name="Text 9"/>
          <p:cNvSpPr/>
          <p:nvPr/>
        </p:nvSpPr>
        <p:spPr>
          <a:xfrm>
            <a:off x="939800" y="2695153"/>
            <a:ext cx="4996942" cy="25652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1EBDF"/>
                </a:solidFill>
                <a:latin typeface="Courier Prime" pitchFamily="49" charset="0"/>
                <a:ea typeface="Courier Prime" pitchFamily="49" charset="-122"/>
                <a:cs typeface="Courier Prime" pitchFamily="49" charset="-120"/>
              </a:rPr>
              <a:t>-- [PASTE THE QUERY USED AS EVIDENCE]</a:t>
            </a:r>
            <a:endParaRPr lang="en-US" sz="1300" dirty="0"/>
          </a:p>
        </p:txBody>
      </p:sp>
      <p:sp>
        <p:nvSpPr>
          <p:cNvPr id="12" name="Text 10"/>
          <p:cNvSpPr/>
          <p:nvPr/>
        </p:nvSpPr>
        <p:spPr>
          <a:xfrm>
            <a:off x="939800" y="2977077"/>
            <a:ext cx="4996942" cy="25652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1EBDF"/>
                </a:solidFill>
                <a:latin typeface="Courier Prime" pitchFamily="49" charset="0"/>
                <a:ea typeface="Courier Prime" pitchFamily="49" charset="-122"/>
                <a:cs typeface="Courier Prime" pitchFamily="49" charset="-120"/>
              </a:rPr>
              <a:t>SELECT [columns]</a:t>
            </a:r>
            <a:endParaRPr lang="en-US" sz="1300" dirty="0"/>
          </a:p>
        </p:txBody>
      </p:sp>
      <p:sp>
        <p:nvSpPr>
          <p:cNvPr id="13" name="Text 11"/>
          <p:cNvSpPr/>
          <p:nvPr/>
        </p:nvSpPr>
        <p:spPr>
          <a:xfrm>
            <a:off x="939800" y="3258995"/>
            <a:ext cx="4996942" cy="25652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1EBDF"/>
                </a:solidFill>
                <a:latin typeface="Courier Prime" pitchFamily="49" charset="0"/>
                <a:ea typeface="Courier Prime" pitchFamily="49" charset="-122"/>
                <a:cs typeface="Courier Prime" pitchFamily="49" charset="-120"/>
              </a:rPr>
              <a:t>FROM [table]</a:t>
            </a:r>
            <a:endParaRPr lang="en-US" sz="1300" dirty="0"/>
          </a:p>
        </p:txBody>
      </p:sp>
      <p:sp>
        <p:nvSpPr>
          <p:cNvPr id="14" name="Text 12"/>
          <p:cNvSpPr/>
          <p:nvPr/>
        </p:nvSpPr>
        <p:spPr>
          <a:xfrm>
            <a:off x="939800" y="3540919"/>
            <a:ext cx="4996942" cy="25652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1EBDF"/>
                </a:solidFill>
                <a:latin typeface="Courier Prime" pitchFamily="49" charset="0"/>
                <a:ea typeface="Courier Prime" pitchFamily="49" charset="-122"/>
                <a:cs typeface="Courier Prime" pitchFamily="49" charset="-120"/>
              </a:rPr>
              <a:t>WHERE [condition];</a:t>
            </a:r>
            <a:endParaRPr lang="en-US" sz="1300" dirty="0"/>
          </a:p>
        </p:txBody>
      </p:sp>
      <p:sp>
        <p:nvSpPr>
          <p:cNvPr id="15" name="Text 13"/>
          <p:cNvSpPr/>
          <p:nvPr/>
        </p:nvSpPr>
        <p:spPr>
          <a:xfrm>
            <a:off x="939800" y="3822843"/>
            <a:ext cx="4851400" cy="281921"/>
          </a:xfrm>
          <a:prstGeom prst="rect">
            <a:avLst/>
          </a:prstGeom>
          <a:solidFill>
            <a:srgbClr val="A72626"/>
          </a:solidFill>
          <a:ln/>
        </p:spPr>
        <p:txBody>
          <a:bodyPr wrap="square" lIns="63500" tIns="25400" rIns="0" bIns="0" rtlCol="0" anchor="t">
            <a:normAutofit/>
          </a:bodyPr>
          <a:lstStyle/>
          <a:p>
            <a:pPr algn="l" indent="0" marL="0">
              <a:lnSpc>
                <a:spcPts val="1820"/>
              </a:lnSpc>
              <a:buNone/>
            </a:pPr>
            <a:r>
              <a:rPr lang="en-US" sz="1300" dirty="0">
                <a:solidFill>
                  <a:srgbClr val="F1EBDF"/>
                </a:solidFill>
                <a:latin typeface="Courier Prime" pitchFamily="49" charset="0"/>
                <a:ea typeface="Courier Prime" pitchFamily="49" charset="-122"/>
                <a:cs typeface="Courier Prime" pitchFamily="49" charset="-120"/>
              </a:rPr>
              <a:t>-- RESULT: [ROWS / VALUE]</a:t>
            </a:r>
            <a:endParaRPr lang="en-US" sz="1300" dirty="0"/>
          </a:p>
        </p:txBody>
      </p:sp>
      <p:sp>
        <p:nvSpPr>
          <p:cNvPr id="16" name="Text 14"/>
          <p:cNvSpPr/>
          <p:nvPr/>
        </p:nvSpPr>
        <p:spPr>
          <a:xfrm>
            <a:off x="6223000" y="2227821"/>
            <a:ext cx="5363210"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919"/>
                </a:solidFill>
                <a:latin typeface="Courier Prime" pitchFamily="49" charset="0"/>
                <a:ea typeface="Courier Prime" pitchFamily="49" charset="-122"/>
                <a:cs typeface="Courier Prime" pitchFamily="49" charset="-120"/>
              </a:rPr>
              <a:t>PRINTOUT A3-B / LOG EXCERPT</a:t>
            </a:r>
            <a:endParaRPr lang="en-US" sz="1200" dirty="0"/>
          </a:p>
        </p:txBody>
      </p:sp>
      <p:sp>
        <p:nvSpPr>
          <p:cNvPr id="17" name="Shape 15"/>
          <p:cNvSpPr/>
          <p:nvPr/>
        </p:nvSpPr>
        <p:spPr>
          <a:xfrm>
            <a:off x="6223000" y="2517353"/>
            <a:ext cx="5207000" cy="3629445"/>
          </a:xfrm>
          <a:prstGeom prst="rect">
            <a:avLst/>
          </a:prstGeom>
          <a:solidFill>
            <a:srgbClr val="191919"/>
          </a:solidFill>
          <a:ln/>
        </p:spPr>
      </p:sp>
      <p:sp>
        <p:nvSpPr>
          <p:cNvPr id="18" name="Text 16"/>
          <p:cNvSpPr/>
          <p:nvPr/>
        </p:nvSpPr>
        <p:spPr>
          <a:xfrm>
            <a:off x="6400800" y="2695153"/>
            <a:ext cx="4996942" cy="25652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1EBDF"/>
                </a:solidFill>
                <a:latin typeface="Courier Prime" pitchFamily="49" charset="0"/>
                <a:ea typeface="Courier Prime" pitchFamily="49" charset="-122"/>
                <a:cs typeface="Courier Prime" pitchFamily="49" charset="-120"/>
              </a:rPr>
              <a:t>[TIME] [LEVEL] [MESSAGE]</a:t>
            </a:r>
            <a:endParaRPr lang="en-US" sz="1300" dirty="0"/>
          </a:p>
        </p:txBody>
      </p:sp>
      <p:sp>
        <p:nvSpPr>
          <p:cNvPr id="19" name="Text 17"/>
          <p:cNvSpPr/>
          <p:nvPr/>
        </p:nvSpPr>
        <p:spPr>
          <a:xfrm>
            <a:off x="6400800" y="2977077"/>
            <a:ext cx="4996942" cy="25652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1EBDF"/>
                </a:solidFill>
                <a:latin typeface="Courier Prime" pitchFamily="49" charset="0"/>
                <a:ea typeface="Courier Prime" pitchFamily="49" charset="-122"/>
                <a:cs typeface="Courier Prime" pitchFamily="49" charset="-120"/>
              </a:rPr>
              <a:t>[TIME] [LEVEL] [MESSAGE]</a:t>
            </a:r>
            <a:endParaRPr lang="en-US" sz="1300" dirty="0"/>
          </a:p>
        </p:txBody>
      </p:sp>
      <p:sp>
        <p:nvSpPr>
          <p:cNvPr id="20" name="Text 18"/>
          <p:cNvSpPr/>
          <p:nvPr/>
        </p:nvSpPr>
        <p:spPr>
          <a:xfrm>
            <a:off x="6400800" y="3258995"/>
            <a:ext cx="4851400" cy="281921"/>
          </a:xfrm>
          <a:prstGeom prst="rect">
            <a:avLst/>
          </a:prstGeom>
          <a:solidFill>
            <a:srgbClr val="A72626"/>
          </a:solidFill>
          <a:ln/>
        </p:spPr>
        <p:txBody>
          <a:bodyPr wrap="square" lIns="63500" tIns="25400" rIns="0" bIns="0" rtlCol="0" anchor="t">
            <a:normAutofit/>
          </a:bodyPr>
          <a:lstStyle/>
          <a:p>
            <a:pPr algn="l" indent="0" marL="0">
              <a:lnSpc>
                <a:spcPts val="1820"/>
              </a:lnSpc>
              <a:buNone/>
            </a:pPr>
            <a:r>
              <a:rPr lang="en-US" sz="1300" dirty="0">
                <a:solidFill>
                  <a:srgbClr val="F1EBDF"/>
                </a:solidFill>
                <a:latin typeface="Courier Prime" pitchFamily="49" charset="0"/>
                <a:ea typeface="Courier Prime" pitchFamily="49" charset="-122"/>
                <a:cs typeface="Courier Prime" pitchFamily="49" charset="-120"/>
              </a:rPr>
              <a:t>[TIME] [LEVEL] [KEY EVIDENCE LINE]</a:t>
            </a:r>
            <a:endParaRPr lang="en-US" sz="1300" dirty="0"/>
          </a:p>
        </p:txBody>
      </p:sp>
      <p:sp>
        <p:nvSpPr>
          <p:cNvPr id="21" name="Text 19"/>
          <p:cNvSpPr/>
          <p:nvPr/>
        </p:nvSpPr>
        <p:spPr>
          <a:xfrm>
            <a:off x="6400800" y="3591719"/>
            <a:ext cx="4996942" cy="25652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1EBDF"/>
                </a:solidFill>
                <a:latin typeface="Courier Prime" pitchFamily="49" charset="0"/>
                <a:ea typeface="Courier Prime" pitchFamily="49" charset="-122"/>
                <a:cs typeface="Courier Prime" pitchFamily="49" charset="-120"/>
              </a:rPr>
              <a:t>[TIME] [LEVEL] [MESSAGE]</a:t>
            </a:r>
            <a:endParaRPr lang="en-US" sz="1300" dirty="0"/>
          </a:p>
        </p:txBody>
      </p:sp>
      <p:sp>
        <p:nvSpPr>
          <p:cNvPr id="22" name="Text 20"/>
          <p:cNvSpPr/>
          <p:nvPr/>
        </p:nvSpPr>
        <p:spPr>
          <a:xfrm>
            <a:off x="6400800" y="3873643"/>
            <a:ext cx="4996942" cy="25652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1EBDF"/>
                </a:solidFill>
                <a:latin typeface="Courier Prime" pitchFamily="49" charset="0"/>
                <a:ea typeface="Courier Prime" pitchFamily="49" charset="-122"/>
                <a:cs typeface="Courier Prime" pitchFamily="49" charset="-120"/>
              </a:rPr>
              <a:t>[TIME] [LEVEL] [MESSAGE]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304800" y="304800"/>
            <a:ext cx="11582400" cy="6248400"/>
          </a:xfrm>
          <a:prstGeom prst="rect">
            <a:avLst/>
          </a:prstGeom>
          <a:solidFill>
            <a:srgbClr val="F1EBDF"/>
          </a:solidFill>
          <a:ln/>
          <a:effectLst>
            <a:outerShdw sx="100000" sy="100000" kx="0" ky="0" algn="bl" rotWithShape="0" blurRad="381000" dist="127000" dir="5400000">
              <a:srgbClr val="000000">
                <a:alpha val="60000"/>
              </a:srgbClr>
            </a:outerShdw>
          </a:effectLst>
        </p:spPr>
      </p:sp>
      <p:sp>
        <p:nvSpPr>
          <p:cNvPr id="3" name="Shape 1"/>
          <p:cNvSpPr/>
          <p:nvPr/>
        </p:nvSpPr>
        <p:spPr>
          <a:xfrm>
            <a:off x="762000" y="1001666"/>
            <a:ext cx="10668000" cy="0"/>
          </a:xfrm>
          <a:prstGeom prst="line">
            <a:avLst/>
          </a:prstGeom>
          <a:noFill/>
          <a:ln w="19050">
            <a:solidFill>
              <a:srgbClr val="191919"/>
            </a:solidFill>
            <a:prstDash val="solid"/>
          </a:ln>
        </p:spPr>
      </p:sp>
      <p:sp>
        <p:nvSpPr>
          <p:cNvPr id="4" name="Text 2"/>
          <p:cNvSpPr/>
          <p:nvPr/>
        </p:nvSpPr>
        <p:spPr>
          <a:xfrm>
            <a:off x="762000" y="584200"/>
            <a:ext cx="1012218" cy="304800"/>
          </a:xfrm>
          <a:prstGeom prst="rect">
            <a:avLst/>
          </a:prstGeom>
          <a:noFill/>
          <a:ln/>
        </p:spPr>
        <p:txBody>
          <a:bodyPr wrap="square" lIns="0" tIns="0" rIns="0" bIns="0" rtlCol="0" anchor="t">
            <a:normAutofit/>
          </a:bodyPr>
          <a:lstStyle/>
          <a:p>
            <a:pPr algn="l" indent="0" marL="0">
              <a:lnSpc>
                <a:spcPts val="2200"/>
              </a:lnSpc>
              <a:buNone/>
            </a:pPr>
            <a:r>
              <a:rPr lang="en-US" sz="2200" spc="100" kern="0" dirty="0">
                <a:solidFill>
                  <a:srgbClr val="191919"/>
                </a:solidFill>
                <a:latin typeface="Anton" pitchFamily="34" charset="0"/>
                <a:ea typeface="Anton" pitchFamily="34" charset="-122"/>
                <a:cs typeface="Anton" pitchFamily="34" charset="-120"/>
              </a:rPr>
              <a:t>FILSPAY</a:t>
            </a:r>
            <a:endParaRPr lang="en-US" sz="2200" dirty="0"/>
          </a:p>
        </p:txBody>
      </p:sp>
      <p:sp>
        <p:nvSpPr>
          <p:cNvPr id="5" name="Text 3"/>
          <p:cNvSpPr/>
          <p:nvPr/>
        </p:nvSpPr>
        <p:spPr>
          <a:xfrm>
            <a:off x="1774218" y="703728"/>
            <a:ext cx="2631758"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919"/>
                </a:solidFill>
                <a:latin typeface="Courier Prime" pitchFamily="49" charset="0"/>
                <a:ea typeface="Courier Prime" pitchFamily="49" charset="-122"/>
                <a:cs typeface="Courier Prime" pitchFamily="49" charset="-120"/>
              </a:rPr>
              <a:t>THE HANDOVER / CASE FILE</a:t>
            </a:r>
            <a:endParaRPr lang="en-US" sz="1200" dirty="0"/>
          </a:p>
        </p:txBody>
      </p:sp>
      <p:sp>
        <p:nvSpPr>
          <p:cNvPr id="6" name="Text 4"/>
          <p:cNvSpPr/>
          <p:nvPr/>
        </p:nvSpPr>
        <p:spPr>
          <a:xfrm>
            <a:off x="6714733" y="703728"/>
            <a:ext cx="4715267" cy="238732"/>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A72626"/>
                </a:solidFill>
                <a:latin typeface="Courier Prime" pitchFamily="49" charset="0"/>
                <a:ea typeface="Courier Prime" pitchFamily="49" charset="-122"/>
                <a:cs typeface="Courier Prime" pitchFamily="49" charset="-120"/>
              </a:rPr>
              <a:t>CASE NO. FP-2026 · APPENDIX A4 · 30.10.2026</a:t>
            </a:r>
            <a:endParaRPr lang="en-US" sz="1200" dirty="0"/>
          </a:p>
        </p:txBody>
      </p:sp>
      <p:sp>
        <p:nvSpPr>
          <p:cNvPr id="7" name="Text 5"/>
          <p:cNvSpPr/>
          <p:nvPr/>
        </p:nvSpPr>
        <p:spPr>
          <a:xfrm>
            <a:off x="762000" y="1188994"/>
            <a:ext cx="10988040" cy="27431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72626"/>
                </a:solidFill>
                <a:latin typeface="Courier Prime" pitchFamily="49" charset="0"/>
                <a:ea typeface="Courier Prime" pitchFamily="49" charset="-122"/>
                <a:cs typeface="Courier Prime" pitchFamily="49" charset="-120"/>
              </a:rPr>
              <a:t>APPENDIX A4</a:t>
            </a:r>
            <a:endParaRPr lang="en-US" sz="1400" dirty="0"/>
          </a:p>
        </p:txBody>
      </p:sp>
      <p:sp>
        <p:nvSpPr>
          <p:cNvPr id="8" name="Text 6"/>
          <p:cNvSpPr/>
          <p:nvPr>
            <p:ph type="title"/>
          </p:nvPr>
        </p:nvSpPr>
        <p:spPr>
          <a:xfrm>
            <a:off x="762000" y="1463303"/>
            <a:ext cx="10988040" cy="612121"/>
          </a:xfrm>
          <a:prstGeom prst="rect">
            <a:avLst/>
          </a:prstGeom>
          <a:noFill/>
          <a:ln/>
        </p:spPr>
        <p:txBody>
          <a:bodyPr wrap="square" lIns="0" tIns="0" rIns="0" bIns="0" rtlCol="0" anchor="t">
            <a:normAutofit/>
          </a:bodyPr>
          <a:lstStyle/>
          <a:p>
            <a:pPr algn="l" indent="0" marL="0">
              <a:lnSpc>
                <a:spcPts val="4620"/>
              </a:lnSpc>
              <a:buNone/>
            </a:pPr>
            <a:r>
              <a:rPr lang="en-US" sz="4400" b="0" i="0" dirty="0">
                <a:solidFill>
                  <a:srgbClr val="191919"/>
                </a:solidFill>
                <a:latin typeface="Anton" pitchFamily="34" charset="0"/>
                <a:ea typeface="Anton" pitchFamily="34" charset="-122"/>
                <a:cs typeface="Anton" pitchFamily="34" charset="-120"/>
              </a:rPr>
              <a:t>GIT EVIDENCE AND SECURITY FINDINGS</a:t>
            </a:r>
            <a:endParaRPr lang="en-US" sz="4400" dirty="0"/>
          </a:p>
        </p:txBody>
      </p:sp>
      <p:sp>
        <p:nvSpPr>
          <p:cNvPr id="9" name="Text 7"/>
          <p:cNvSpPr/>
          <p:nvPr/>
        </p:nvSpPr>
        <p:spPr>
          <a:xfrm>
            <a:off x="762000" y="2227821"/>
            <a:ext cx="4578350"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919"/>
                </a:solidFill>
                <a:latin typeface="Courier Prime" pitchFamily="49" charset="0"/>
                <a:ea typeface="Courier Prime" pitchFamily="49" charset="-122"/>
                <a:cs typeface="Courier Prime" pitchFamily="49" charset="-120"/>
              </a:rPr>
              <a:t>PRINTOUT A4-A / GIT</a:t>
            </a:r>
            <a:endParaRPr lang="en-US" sz="1200" dirty="0"/>
          </a:p>
        </p:txBody>
      </p:sp>
      <p:sp>
        <p:nvSpPr>
          <p:cNvPr id="10" name="Shape 8"/>
          <p:cNvSpPr/>
          <p:nvPr/>
        </p:nvSpPr>
        <p:spPr>
          <a:xfrm>
            <a:off x="768350" y="2523703"/>
            <a:ext cx="4432300" cy="3616745"/>
          </a:xfrm>
          <a:prstGeom prst="rect">
            <a:avLst/>
          </a:prstGeom>
          <a:solidFill>
            <a:srgbClr val="FBF7EE"/>
          </a:solidFill>
          <a:ln w="12700">
            <a:solidFill>
              <a:srgbClr val="191919"/>
            </a:solidFill>
            <a:prstDash val="solid"/>
          </a:ln>
        </p:spPr>
      </p:sp>
      <p:sp>
        <p:nvSpPr>
          <p:cNvPr id="11" name="Text 9"/>
          <p:cNvSpPr/>
          <p:nvPr/>
        </p:nvSpPr>
        <p:spPr>
          <a:xfrm>
            <a:off x="951753" y="3479943"/>
            <a:ext cx="4187459" cy="25652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COMMIT: [HASH]</a:t>
            </a:r>
            <a:endParaRPr lang="en-US" sz="1300" dirty="0"/>
          </a:p>
        </p:txBody>
      </p:sp>
      <p:sp>
        <p:nvSpPr>
          <p:cNvPr id="12" name="Text 10"/>
          <p:cNvSpPr/>
          <p:nvPr/>
        </p:nvSpPr>
        <p:spPr>
          <a:xfrm>
            <a:off x="951753" y="3774560"/>
            <a:ext cx="4187459" cy="25652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AUTHOR: [NAME]</a:t>
            </a:r>
            <a:endParaRPr lang="en-US" sz="1300" dirty="0"/>
          </a:p>
        </p:txBody>
      </p:sp>
      <p:sp>
        <p:nvSpPr>
          <p:cNvPr id="13" name="Text 11"/>
          <p:cNvSpPr/>
          <p:nvPr/>
        </p:nvSpPr>
        <p:spPr>
          <a:xfrm>
            <a:off x="951753" y="4069184"/>
            <a:ext cx="4187459" cy="25652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DATE: [DATE]</a:t>
            </a:r>
            <a:endParaRPr lang="en-US" sz="1300" dirty="0"/>
          </a:p>
        </p:txBody>
      </p:sp>
      <p:sp>
        <p:nvSpPr>
          <p:cNvPr id="14" name="Text 12"/>
          <p:cNvSpPr/>
          <p:nvPr/>
        </p:nvSpPr>
        <p:spPr>
          <a:xfrm>
            <a:off x="951753" y="4363802"/>
            <a:ext cx="4187459" cy="25652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MESSAGE: [COMMIT MESSAGE]</a:t>
            </a:r>
            <a:endParaRPr lang="en-US" sz="1300" dirty="0"/>
          </a:p>
        </p:txBody>
      </p:sp>
      <p:sp>
        <p:nvSpPr>
          <p:cNvPr id="15" name="Text 13"/>
          <p:cNvSpPr/>
          <p:nvPr/>
        </p:nvSpPr>
        <p:spPr>
          <a:xfrm>
            <a:off x="951753" y="4658426"/>
            <a:ext cx="4187459" cy="25652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FILES CHANGED: [N]</a:t>
            </a:r>
            <a:endParaRPr lang="en-US" sz="1300" dirty="0"/>
          </a:p>
        </p:txBody>
      </p:sp>
      <p:sp>
        <p:nvSpPr>
          <p:cNvPr id="16" name="Text 14"/>
          <p:cNvSpPr/>
          <p:nvPr/>
        </p:nvSpPr>
        <p:spPr>
          <a:xfrm>
            <a:off x="951753" y="4953050"/>
            <a:ext cx="4187459" cy="25652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72626"/>
                </a:solidFill>
                <a:latin typeface="Courier Prime" pitchFamily="49" charset="0"/>
                <a:ea typeface="Courier Prime" pitchFamily="49" charset="-122"/>
                <a:cs typeface="Courier Prime" pitchFamily="49" charset="-120"/>
              </a:rPr>
              <a:t>DIFF: [LINK / SCREENSHOT]</a:t>
            </a:r>
            <a:endParaRPr lang="en-US" sz="1300" dirty="0"/>
          </a:p>
        </p:txBody>
      </p:sp>
      <p:sp>
        <p:nvSpPr>
          <p:cNvPr id="17" name="Text 15"/>
          <p:cNvSpPr/>
          <p:nvPr/>
        </p:nvSpPr>
        <p:spPr>
          <a:xfrm>
            <a:off x="5461000" y="2227821"/>
            <a:ext cx="6148070"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919"/>
                </a:solidFill>
                <a:latin typeface="Courier Prime" pitchFamily="49" charset="0"/>
                <a:ea typeface="Courier Prime" pitchFamily="49" charset="-122"/>
                <a:cs typeface="Courier Prime" pitchFamily="49" charset="-120"/>
              </a:rPr>
              <a:t>PRINTOUT A4-B / SECURITY FINDINGS</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72953" y="2529306"/>
          <a:ext cx="5957047" cy="1434353"/>
        </p:xfrm>
        <a:graphic>
          <a:graphicData uri="http://schemas.openxmlformats.org/drawingml/2006/table">
            <a:tbl>
              <a:tblPr/>
              <a:tblGrid>
                <a:gridCol w="1072268"/>
                <a:gridCol w="2025396"/>
                <a:gridCol w="1548832"/>
                <a:gridCol w="1310550"/>
              </a:tblGrid>
              <a:tr h="358588">
                <a:tc>
                  <a:txBody>
                    <a:bodyPr/>
                    <a:lstStyle/>
                    <a:p>
                      <a:pPr indent="0" marL="0">
                        <a:lnSpc>
                          <a:spcPts val="1820"/>
                        </a:lnSpc>
                        <a:buNone/>
                      </a:pPr>
                      <a:r>
                        <a:rPr lang="en-US" sz="1300" b="1" dirty="0">
                          <a:solidFill>
                            <a:srgbClr val="F1EBDF"/>
                          </a:solidFill>
                          <a:latin typeface="Courier Prime" pitchFamily="49" charset="0"/>
                          <a:ea typeface="Courier Prime" pitchFamily="49" charset="-122"/>
                          <a:cs typeface="Courier Prime" pitchFamily="49" charset="-120"/>
                        </a:rPr>
                        <a:t>ID</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F3EEE4"/>
                      </a:solidFill>
                      <a:prstDash val="solid"/>
                      <a:round/>
                      <a:headEnd type="none" w="med" len="med"/>
                      <a:tailEnd type="none" w="med" len="med"/>
                    </a:lnL>
                    <a:lnR w="12700" cap="flat" cmpd="sng" algn="ctr">
                      <a:solidFill>
                        <a:srgbClr val="4B4A49"/>
                      </a:solidFill>
                      <a:prstDash val="solid"/>
                      <a:round/>
                      <a:headEnd type="none" w="med" len="med"/>
                      <a:tailEnd type="none" w="med" len="med"/>
                    </a:lnR>
                    <a:lnT w="12700" cap="flat" cmpd="sng" algn="ctr">
                      <a:solidFill>
                        <a:srgbClr val="F3EEE4"/>
                      </a:solidFill>
                      <a:prstDash val="solid"/>
                      <a:round/>
                      <a:headEnd type="none" w="med" len="med"/>
                      <a:tailEnd type="none" w="med" len="med"/>
                    </a:lnT>
                    <a:lnB w="12700" cap="flat" cmpd="sng" algn="ctr">
                      <a:solidFill>
                        <a:srgbClr val="4B4A49"/>
                      </a:solidFill>
                      <a:prstDash val="solid"/>
                      <a:round/>
                      <a:headEnd type="none" w="med" len="med"/>
                      <a:tailEnd type="none" w="med" len="med"/>
                    </a:lnB>
                    <a:solidFill>
                      <a:srgbClr val="191919"/>
                    </a:solidFill>
                  </a:tcPr>
                </a:tc>
                <a:tc>
                  <a:txBody>
                    <a:bodyPr/>
                    <a:lstStyle/>
                    <a:p>
                      <a:pPr indent="0" marL="0">
                        <a:lnSpc>
                          <a:spcPts val="1820"/>
                        </a:lnSpc>
                        <a:buNone/>
                      </a:pPr>
                      <a:r>
                        <a:rPr lang="en-US" sz="1300" b="1" dirty="0">
                          <a:solidFill>
                            <a:srgbClr val="F1EBDF"/>
                          </a:solidFill>
                          <a:latin typeface="Courier Prime" pitchFamily="49" charset="0"/>
                          <a:ea typeface="Courier Prime" pitchFamily="49" charset="-122"/>
                          <a:cs typeface="Courier Prime" pitchFamily="49" charset="-120"/>
                        </a:rPr>
                        <a:t>FINDING</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4B4A49"/>
                      </a:solidFill>
                      <a:prstDash val="solid"/>
                      <a:round/>
                      <a:headEnd type="none" w="med" len="med"/>
                      <a:tailEnd type="none" w="med" len="med"/>
                    </a:lnL>
                    <a:lnR w="12700" cap="flat" cmpd="sng" algn="ctr">
                      <a:solidFill>
                        <a:srgbClr val="4B4A49"/>
                      </a:solidFill>
                      <a:prstDash val="solid"/>
                      <a:round/>
                      <a:headEnd type="none" w="med" len="med"/>
                      <a:tailEnd type="none" w="med" len="med"/>
                    </a:lnR>
                    <a:lnT w="12700" cap="flat" cmpd="sng" algn="ctr">
                      <a:solidFill>
                        <a:srgbClr val="F3EEE4"/>
                      </a:solidFill>
                      <a:prstDash val="solid"/>
                      <a:round/>
                      <a:headEnd type="none" w="med" len="med"/>
                      <a:tailEnd type="none" w="med" len="med"/>
                    </a:lnT>
                    <a:lnB w="12700" cap="flat" cmpd="sng" algn="ctr">
                      <a:solidFill>
                        <a:srgbClr val="4B4A49"/>
                      </a:solidFill>
                      <a:prstDash val="solid"/>
                      <a:round/>
                      <a:headEnd type="none" w="med" len="med"/>
                      <a:tailEnd type="none" w="med" len="med"/>
                    </a:lnB>
                    <a:solidFill>
                      <a:srgbClr val="191919"/>
                    </a:solidFill>
                  </a:tcPr>
                </a:tc>
                <a:tc>
                  <a:txBody>
                    <a:bodyPr/>
                    <a:lstStyle/>
                    <a:p>
                      <a:pPr indent="0" marL="0">
                        <a:lnSpc>
                          <a:spcPts val="1820"/>
                        </a:lnSpc>
                        <a:buNone/>
                      </a:pPr>
                      <a:r>
                        <a:rPr lang="en-US" sz="1300" b="1" dirty="0">
                          <a:solidFill>
                            <a:srgbClr val="F1EBDF"/>
                          </a:solidFill>
                          <a:latin typeface="Courier Prime" pitchFamily="49" charset="0"/>
                          <a:ea typeface="Courier Prime" pitchFamily="49" charset="-122"/>
                          <a:cs typeface="Courier Prime" pitchFamily="49" charset="-120"/>
                        </a:rPr>
                        <a:t>SEVERITY</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4B4A49"/>
                      </a:solidFill>
                      <a:prstDash val="solid"/>
                      <a:round/>
                      <a:headEnd type="none" w="med" len="med"/>
                      <a:tailEnd type="none" w="med" len="med"/>
                    </a:lnL>
                    <a:lnR w="12700" cap="flat" cmpd="sng" algn="ctr">
                      <a:solidFill>
                        <a:srgbClr val="4B4A49"/>
                      </a:solidFill>
                      <a:prstDash val="solid"/>
                      <a:round/>
                      <a:headEnd type="none" w="med" len="med"/>
                      <a:tailEnd type="none" w="med" len="med"/>
                    </a:lnR>
                    <a:lnT w="12700" cap="flat" cmpd="sng" algn="ctr">
                      <a:solidFill>
                        <a:srgbClr val="F3EEE4"/>
                      </a:solidFill>
                      <a:prstDash val="solid"/>
                      <a:round/>
                      <a:headEnd type="none" w="med" len="med"/>
                      <a:tailEnd type="none" w="med" len="med"/>
                    </a:lnT>
                    <a:lnB w="12700" cap="flat" cmpd="sng" algn="ctr">
                      <a:solidFill>
                        <a:srgbClr val="4B4A49"/>
                      </a:solidFill>
                      <a:prstDash val="solid"/>
                      <a:round/>
                      <a:headEnd type="none" w="med" len="med"/>
                      <a:tailEnd type="none" w="med" len="med"/>
                    </a:lnB>
                    <a:solidFill>
                      <a:srgbClr val="191919"/>
                    </a:solidFill>
                  </a:tcPr>
                </a:tc>
                <a:tc>
                  <a:txBody>
                    <a:bodyPr/>
                    <a:lstStyle/>
                    <a:p>
                      <a:pPr indent="0" marL="0">
                        <a:lnSpc>
                          <a:spcPts val="1820"/>
                        </a:lnSpc>
                        <a:buNone/>
                      </a:pPr>
                      <a:r>
                        <a:rPr lang="en-US" sz="1300" b="1" dirty="0">
                          <a:solidFill>
                            <a:srgbClr val="F1EBDF"/>
                          </a:solidFill>
                          <a:latin typeface="Courier Prime" pitchFamily="49" charset="0"/>
                          <a:ea typeface="Courier Prime" pitchFamily="49" charset="-122"/>
                          <a:cs typeface="Courier Prime" pitchFamily="49" charset="-120"/>
                        </a:rPr>
                        <a:t>STATUS</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4B4A49"/>
                      </a:solidFill>
                      <a:prstDash val="solid"/>
                      <a:round/>
                      <a:headEnd type="none" w="med" len="med"/>
                      <a:tailEnd type="none" w="med" len="med"/>
                    </a:lnL>
                    <a:lnR w="12700" cap="flat" cmpd="sng" algn="ctr">
                      <a:solidFill>
                        <a:srgbClr val="4B4A49"/>
                      </a:solidFill>
                      <a:prstDash val="solid"/>
                      <a:round/>
                      <a:headEnd type="none" w="med" len="med"/>
                      <a:tailEnd type="none" w="med" len="med"/>
                    </a:lnR>
                    <a:lnT w="12700" cap="flat" cmpd="sng" algn="ctr">
                      <a:solidFill>
                        <a:srgbClr val="F3EEE4"/>
                      </a:solidFill>
                      <a:prstDash val="solid"/>
                      <a:round/>
                      <a:headEnd type="none" w="med" len="med"/>
                      <a:tailEnd type="none" w="med" len="med"/>
                    </a:lnT>
                    <a:lnB w="12700" cap="flat" cmpd="sng" algn="ctr">
                      <a:solidFill>
                        <a:srgbClr val="4B4A49"/>
                      </a:solidFill>
                      <a:prstDash val="solid"/>
                      <a:round/>
                      <a:headEnd type="none" w="med" len="med"/>
                      <a:tailEnd type="none" w="med" len="med"/>
                    </a:lnB>
                    <a:solidFill>
                      <a:srgbClr val="191919"/>
                    </a:solidFill>
                  </a:tcPr>
                </a:tc>
              </a:tr>
              <a:tr h="358588">
                <a:tc>
                  <a:txBody>
                    <a:bodyPr/>
                    <a:lstStyle/>
                    <a:p>
                      <a:pPr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[SEC-01]</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F3EEE4"/>
                      </a:solidFill>
                      <a:prstDash val="solid"/>
                      <a:round/>
                      <a:headEnd type="none" w="med" len="med"/>
                      <a:tailEnd type="none" w="med" len="med"/>
                    </a:lnL>
                    <a:lnR w="12700" cap="flat" cmpd="sng" algn="ctr">
                      <a:solidFill>
                        <a:srgbClr val="ECE6DA"/>
                      </a:solidFill>
                      <a:prstDash val="solid"/>
                      <a:round/>
                      <a:headEnd type="none" w="med" len="med"/>
                      <a:tailEnd type="none" w="med" len="med"/>
                    </a:lnR>
                    <a:lnT w="12700" cap="flat" cmpd="sng" algn="ctr">
                      <a:solidFill>
                        <a:srgbClr val="4B4A49"/>
                      </a:solidFill>
                      <a:prstDash val="solid"/>
                      <a:round/>
                      <a:headEnd type="none" w="med" len="med"/>
                      <a:tailEnd type="none" w="med" len="med"/>
                    </a:lnT>
                    <a:lnB w="12700" cap="flat" cmpd="sng" algn="ctr">
                      <a:solidFill>
                        <a:srgbClr val="ECE6DA"/>
                      </a:solidFill>
                      <a:prstDash val="solid"/>
                      <a:round/>
                      <a:headEnd type="none" w="med" len="med"/>
                      <a:tailEnd type="none" w="med" len="med"/>
                    </a:lnB>
                    <a:solidFill>
                      <a:srgbClr val="E8E0D3"/>
                    </a:solidFill>
                  </a:tcPr>
                </a:tc>
                <a:tc>
                  <a:txBody>
                    <a:bodyPr/>
                    <a:lstStyle/>
                    <a:p>
                      <a:pPr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[Finding]</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ECE6DA"/>
                      </a:solidFill>
                      <a:prstDash val="solid"/>
                      <a:round/>
                      <a:headEnd type="none" w="med" len="med"/>
                      <a:tailEnd type="none" w="med" len="med"/>
                    </a:lnL>
                    <a:lnR w="12700" cap="flat" cmpd="sng" algn="ctr">
                      <a:solidFill>
                        <a:srgbClr val="ECE6DA"/>
                      </a:solidFill>
                      <a:prstDash val="solid"/>
                      <a:round/>
                      <a:headEnd type="none" w="med" len="med"/>
                      <a:tailEnd type="none" w="med" len="med"/>
                    </a:lnR>
                    <a:lnT w="12700" cap="flat" cmpd="sng" algn="ctr">
                      <a:solidFill>
                        <a:srgbClr val="4B4A49"/>
                      </a:solidFill>
                      <a:prstDash val="solid"/>
                      <a:round/>
                      <a:headEnd type="none" w="med" len="med"/>
                      <a:tailEnd type="none" w="med" len="med"/>
                    </a:lnT>
                    <a:lnB w="12700" cap="flat" cmpd="sng" algn="ctr">
                      <a:solidFill>
                        <a:srgbClr val="ECE6DA"/>
                      </a:solidFill>
                      <a:prstDash val="solid"/>
                      <a:round/>
                      <a:headEnd type="none" w="med" len="med"/>
                      <a:tailEnd type="none" w="med" len="med"/>
                    </a:lnB>
                    <a:solidFill>
                      <a:srgbClr val="E8E0D3"/>
                    </a:solidFill>
                  </a:tcPr>
                </a:tc>
                <a:tc>
                  <a:txBody>
                    <a:bodyPr/>
                    <a:lstStyle/>
                    <a:p>
                      <a:pPr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[LEVEL]</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ECE6DA"/>
                      </a:solidFill>
                      <a:prstDash val="solid"/>
                      <a:round/>
                      <a:headEnd type="none" w="med" len="med"/>
                      <a:tailEnd type="none" w="med" len="med"/>
                    </a:lnL>
                    <a:lnR w="12700" cap="flat" cmpd="sng" algn="ctr">
                      <a:solidFill>
                        <a:srgbClr val="ECE6DA"/>
                      </a:solidFill>
                      <a:prstDash val="solid"/>
                      <a:round/>
                      <a:headEnd type="none" w="med" len="med"/>
                      <a:tailEnd type="none" w="med" len="med"/>
                    </a:lnR>
                    <a:lnT w="12700" cap="flat" cmpd="sng" algn="ctr">
                      <a:solidFill>
                        <a:srgbClr val="4B4A49"/>
                      </a:solidFill>
                      <a:prstDash val="solid"/>
                      <a:round/>
                      <a:headEnd type="none" w="med" len="med"/>
                      <a:tailEnd type="none" w="med" len="med"/>
                    </a:lnT>
                    <a:lnB w="12700" cap="flat" cmpd="sng" algn="ctr">
                      <a:solidFill>
                        <a:srgbClr val="ECE6DA"/>
                      </a:solidFill>
                      <a:prstDash val="solid"/>
                      <a:round/>
                      <a:headEnd type="none" w="med" len="med"/>
                      <a:tailEnd type="none" w="med" len="med"/>
                    </a:lnB>
                    <a:solidFill>
                      <a:srgbClr val="E8E0D3"/>
                    </a:solidFill>
                  </a:tcPr>
                </a:tc>
                <a:tc>
                  <a:txBody>
                    <a:bodyPr/>
                    <a:lstStyle/>
                    <a:p>
                      <a:pPr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[STATUS]</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ECE6DA"/>
                      </a:solidFill>
                      <a:prstDash val="solid"/>
                      <a:round/>
                      <a:headEnd type="none" w="med" len="med"/>
                      <a:tailEnd type="none" w="med" len="med"/>
                    </a:lnL>
                    <a:lnR w="12700" cap="flat" cmpd="sng" algn="ctr">
                      <a:solidFill>
                        <a:srgbClr val="ECE6DA"/>
                      </a:solidFill>
                      <a:prstDash val="solid"/>
                      <a:round/>
                      <a:headEnd type="none" w="med" len="med"/>
                      <a:tailEnd type="none" w="med" len="med"/>
                    </a:lnR>
                    <a:lnT w="12700" cap="flat" cmpd="sng" algn="ctr">
                      <a:solidFill>
                        <a:srgbClr val="4B4A49"/>
                      </a:solidFill>
                      <a:prstDash val="solid"/>
                      <a:round/>
                      <a:headEnd type="none" w="med" len="med"/>
                      <a:tailEnd type="none" w="med" len="med"/>
                    </a:lnT>
                    <a:lnB w="12700" cap="flat" cmpd="sng" algn="ctr">
                      <a:solidFill>
                        <a:srgbClr val="ECE6DA"/>
                      </a:solidFill>
                      <a:prstDash val="solid"/>
                      <a:round/>
                      <a:headEnd type="none" w="med" len="med"/>
                      <a:tailEnd type="none" w="med" len="med"/>
                    </a:lnB>
                    <a:solidFill>
                      <a:srgbClr val="E8E0D3"/>
                    </a:solidFill>
                  </a:tcPr>
                </a:tc>
              </a:tr>
              <a:tr h="358588">
                <a:tc>
                  <a:txBody>
                    <a:bodyPr/>
                    <a:lstStyle/>
                    <a:p>
                      <a:pPr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[SEC-02]</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F3EEE4"/>
                      </a:solidFill>
                      <a:prstDash val="solid"/>
                      <a:round/>
                      <a:headEnd type="none" w="med" len="med"/>
                      <a:tailEnd type="none" w="med" len="med"/>
                    </a:lnL>
                    <a:lnR w="12700" cap="flat" cmpd="sng" algn="ctr">
                      <a:solidFill>
                        <a:srgbClr val="F3EEE4"/>
                      </a:solidFill>
                      <a:prstDash val="solid"/>
                      <a:round/>
                      <a:headEnd type="none" w="med" len="med"/>
                      <a:tailEnd type="none" w="med" len="med"/>
                    </a:lnR>
                    <a:lnT w="12700" cap="flat" cmpd="sng" algn="ctr">
                      <a:solidFill>
                        <a:srgbClr val="ECE6DA"/>
                      </a:solidFill>
                      <a:prstDash val="solid"/>
                      <a:round/>
                      <a:headEnd type="none" w="med" len="med"/>
                      <a:tailEnd type="none" w="med" len="med"/>
                    </a:lnT>
                    <a:lnB w="12700" cap="flat" cmpd="sng" algn="ctr">
                      <a:solidFill>
                        <a:srgbClr val="F3EEE4"/>
                      </a:solidFill>
                      <a:prstDash val="solid"/>
                      <a:round/>
                      <a:headEnd type="none" w="med" len="med"/>
                      <a:tailEnd type="none" w="med" len="med"/>
                    </a:lnB>
                  </a:tcPr>
                </a:tc>
                <a:tc>
                  <a:txBody>
                    <a:bodyPr/>
                    <a:lstStyle/>
                    <a:p>
                      <a:pPr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[Finding]</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F3EEE4"/>
                      </a:solidFill>
                      <a:prstDash val="solid"/>
                      <a:round/>
                      <a:headEnd type="none" w="med" len="med"/>
                      <a:tailEnd type="none" w="med" len="med"/>
                    </a:lnL>
                    <a:lnR w="12700" cap="flat" cmpd="sng" algn="ctr">
                      <a:solidFill>
                        <a:srgbClr val="F3EEE4"/>
                      </a:solidFill>
                      <a:prstDash val="solid"/>
                      <a:round/>
                      <a:headEnd type="none" w="med" len="med"/>
                      <a:tailEnd type="none" w="med" len="med"/>
                    </a:lnR>
                    <a:lnT w="12700" cap="flat" cmpd="sng" algn="ctr">
                      <a:solidFill>
                        <a:srgbClr val="ECE6DA"/>
                      </a:solidFill>
                      <a:prstDash val="solid"/>
                      <a:round/>
                      <a:headEnd type="none" w="med" len="med"/>
                      <a:tailEnd type="none" w="med" len="med"/>
                    </a:lnT>
                    <a:lnB w="12700" cap="flat" cmpd="sng" algn="ctr">
                      <a:solidFill>
                        <a:srgbClr val="F3EEE4"/>
                      </a:solidFill>
                      <a:prstDash val="solid"/>
                      <a:round/>
                      <a:headEnd type="none" w="med" len="med"/>
                      <a:tailEnd type="none" w="med" len="med"/>
                    </a:lnB>
                  </a:tcPr>
                </a:tc>
                <a:tc>
                  <a:txBody>
                    <a:bodyPr/>
                    <a:lstStyle/>
                    <a:p>
                      <a:pPr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[LEVEL]</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F3EEE4"/>
                      </a:solidFill>
                      <a:prstDash val="solid"/>
                      <a:round/>
                      <a:headEnd type="none" w="med" len="med"/>
                      <a:tailEnd type="none" w="med" len="med"/>
                    </a:lnL>
                    <a:lnR w="12700" cap="flat" cmpd="sng" algn="ctr">
                      <a:solidFill>
                        <a:srgbClr val="F3EEE4"/>
                      </a:solidFill>
                      <a:prstDash val="solid"/>
                      <a:round/>
                      <a:headEnd type="none" w="med" len="med"/>
                      <a:tailEnd type="none" w="med" len="med"/>
                    </a:lnR>
                    <a:lnT w="12700" cap="flat" cmpd="sng" algn="ctr">
                      <a:solidFill>
                        <a:srgbClr val="ECE6DA"/>
                      </a:solidFill>
                      <a:prstDash val="solid"/>
                      <a:round/>
                      <a:headEnd type="none" w="med" len="med"/>
                      <a:tailEnd type="none" w="med" len="med"/>
                    </a:lnT>
                    <a:lnB w="12700" cap="flat" cmpd="sng" algn="ctr">
                      <a:solidFill>
                        <a:srgbClr val="F3EEE4"/>
                      </a:solidFill>
                      <a:prstDash val="solid"/>
                      <a:round/>
                      <a:headEnd type="none" w="med" len="med"/>
                      <a:tailEnd type="none" w="med" len="med"/>
                    </a:lnB>
                  </a:tcPr>
                </a:tc>
                <a:tc>
                  <a:txBody>
                    <a:bodyPr/>
                    <a:lstStyle/>
                    <a:p>
                      <a:pPr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[STATUS]</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F3EEE4"/>
                      </a:solidFill>
                      <a:prstDash val="solid"/>
                      <a:round/>
                      <a:headEnd type="none" w="med" len="med"/>
                      <a:tailEnd type="none" w="med" len="med"/>
                    </a:lnL>
                    <a:lnR w="12700" cap="flat" cmpd="sng" algn="ctr">
                      <a:solidFill>
                        <a:srgbClr val="F3EEE4"/>
                      </a:solidFill>
                      <a:prstDash val="solid"/>
                      <a:round/>
                      <a:headEnd type="none" w="med" len="med"/>
                      <a:tailEnd type="none" w="med" len="med"/>
                    </a:lnR>
                    <a:lnT w="12700" cap="flat" cmpd="sng" algn="ctr">
                      <a:solidFill>
                        <a:srgbClr val="ECE6DA"/>
                      </a:solidFill>
                      <a:prstDash val="solid"/>
                      <a:round/>
                      <a:headEnd type="none" w="med" len="med"/>
                      <a:tailEnd type="none" w="med" len="med"/>
                    </a:lnT>
                    <a:lnB w="12700" cap="flat" cmpd="sng" algn="ctr">
                      <a:solidFill>
                        <a:srgbClr val="F3EEE4"/>
                      </a:solidFill>
                      <a:prstDash val="solid"/>
                      <a:round/>
                      <a:headEnd type="none" w="med" len="med"/>
                      <a:tailEnd type="none" w="med" len="med"/>
                    </a:lnB>
                  </a:tcPr>
                </a:tc>
              </a:tr>
              <a:tr h="358588">
                <a:tc>
                  <a:txBody>
                    <a:bodyPr/>
                    <a:lstStyle/>
                    <a:p>
                      <a:pPr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[SEC-03]</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F3EEE4"/>
                      </a:solidFill>
                      <a:prstDash val="solid"/>
                      <a:round/>
                      <a:headEnd type="none" w="med" len="med"/>
                      <a:tailEnd type="none" w="med" len="med"/>
                    </a:lnL>
                    <a:lnR w="12700" cap="flat" cmpd="sng" algn="ctr">
                      <a:solidFill>
                        <a:srgbClr val="ECE6DA"/>
                      </a:solidFill>
                      <a:prstDash val="solid"/>
                      <a:round/>
                      <a:headEnd type="none" w="med" len="med"/>
                      <a:tailEnd type="none" w="med" len="med"/>
                    </a:lnR>
                    <a:lnT w="12700" cap="flat" cmpd="sng" algn="ctr">
                      <a:solidFill>
                        <a:srgbClr val="F3EEE4"/>
                      </a:solidFill>
                      <a:prstDash val="solid"/>
                      <a:round/>
                      <a:headEnd type="none" w="med" len="med"/>
                      <a:tailEnd type="none" w="med" len="med"/>
                    </a:lnT>
                    <a:lnB w="12700" cap="flat" cmpd="sng" algn="ctr">
                      <a:solidFill>
                        <a:srgbClr val="ECE6DA"/>
                      </a:solidFill>
                      <a:prstDash val="solid"/>
                      <a:round/>
                      <a:headEnd type="none" w="med" len="med"/>
                      <a:tailEnd type="none" w="med" len="med"/>
                    </a:lnB>
                    <a:solidFill>
                      <a:srgbClr val="E8E0D3"/>
                    </a:solidFill>
                  </a:tcPr>
                </a:tc>
                <a:tc>
                  <a:txBody>
                    <a:bodyPr/>
                    <a:lstStyle/>
                    <a:p>
                      <a:pPr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[Finding]</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ECE6DA"/>
                      </a:solidFill>
                      <a:prstDash val="solid"/>
                      <a:round/>
                      <a:headEnd type="none" w="med" len="med"/>
                      <a:tailEnd type="none" w="med" len="med"/>
                    </a:lnL>
                    <a:lnR w="12700" cap="flat" cmpd="sng" algn="ctr">
                      <a:solidFill>
                        <a:srgbClr val="ECE6DA"/>
                      </a:solidFill>
                      <a:prstDash val="solid"/>
                      <a:round/>
                      <a:headEnd type="none" w="med" len="med"/>
                      <a:tailEnd type="none" w="med" len="med"/>
                    </a:lnR>
                    <a:lnT w="12700" cap="flat" cmpd="sng" algn="ctr">
                      <a:solidFill>
                        <a:srgbClr val="F3EEE4"/>
                      </a:solidFill>
                      <a:prstDash val="solid"/>
                      <a:round/>
                      <a:headEnd type="none" w="med" len="med"/>
                      <a:tailEnd type="none" w="med" len="med"/>
                    </a:lnT>
                    <a:lnB w="12700" cap="flat" cmpd="sng" algn="ctr">
                      <a:solidFill>
                        <a:srgbClr val="ECE6DA"/>
                      </a:solidFill>
                      <a:prstDash val="solid"/>
                      <a:round/>
                      <a:headEnd type="none" w="med" len="med"/>
                      <a:tailEnd type="none" w="med" len="med"/>
                    </a:lnB>
                    <a:solidFill>
                      <a:srgbClr val="E8E0D3"/>
                    </a:solidFill>
                  </a:tcPr>
                </a:tc>
                <a:tc>
                  <a:txBody>
                    <a:bodyPr/>
                    <a:lstStyle/>
                    <a:p>
                      <a:pPr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[LEVEL]</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ECE6DA"/>
                      </a:solidFill>
                      <a:prstDash val="solid"/>
                      <a:round/>
                      <a:headEnd type="none" w="med" len="med"/>
                      <a:tailEnd type="none" w="med" len="med"/>
                    </a:lnL>
                    <a:lnR w="12700" cap="flat" cmpd="sng" algn="ctr">
                      <a:solidFill>
                        <a:srgbClr val="ECE6DA"/>
                      </a:solidFill>
                      <a:prstDash val="solid"/>
                      <a:round/>
                      <a:headEnd type="none" w="med" len="med"/>
                      <a:tailEnd type="none" w="med" len="med"/>
                    </a:lnR>
                    <a:lnT w="12700" cap="flat" cmpd="sng" algn="ctr">
                      <a:solidFill>
                        <a:srgbClr val="F3EEE4"/>
                      </a:solidFill>
                      <a:prstDash val="solid"/>
                      <a:round/>
                      <a:headEnd type="none" w="med" len="med"/>
                      <a:tailEnd type="none" w="med" len="med"/>
                    </a:lnT>
                    <a:lnB w="12700" cap="flat" cmpd="sng" algn="ctr">
                      <a:solidFill>
                        <a:srgbClr val="ECE6DA"/>
                      </a:solidFill>
                      <a:prstDash val="solid"/>
                      <a:round/>
                      <a:headEnd type="none" w="med" len="med"/>
                      <a:tailEnd type="none" w="med" len="med"/>
                    </a:lnB>
                    <a:solidFill>
                      <a:srgbClr val="E8E0D3"/>
                    </a:solidFill>
                  </a:tcPr>
                </a:tc>
                <a:tc>
                  <a:txBody>
                    <a:bodyPr/>
                    <a:lstStyle/>
                    <a:p>
                      <a:pPr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[STATUS]</a:t>
                      </a:r>
                      <a:endParaRPr lang="en-US" sz="1300" dirty="0">
                        <a:latin typeface="Courier Prime" charset="0"/>
                        <a:ea typeface="Courier Prime" charset="0"/>
                        <a:cs typeface="Courier Prime" charset="0"/>
                      </a:endParaRPr>
                    </a:p>
                  </a:txBody>
                  <a:tcPr marL="57785" marR="57785" marT="57785" marB="57785" anchor="t">
                    <a:lnL w="12700" cap="flat" cmpd="sng" algn="ctr">
                      <a:solidFill>
                        <a:srgbClr val="ECE6DA"/>
                      </a:solidFill>
                      <a:prstDash val="solid"/>
                      <a:round/>
                      <a:headEnd type="none" w="med" len="med"/>
                      <a:tailEnd type="none" w="med" len="med"/>
                    </a:lnL>
                    <a:lnR w="12700" cap="flat" cmpd="sng" algn="ctr">
                      <a:solidFill>
                        <a:srgbClr val="ECE6DA"/>
                      </a:solidFill>
                      <a:prstDash val="solid"/>
                      <a:round/>
                      <a:headEnd type="none" w="med" len="med"/>
                      <a:tailEnd type="none" w="med" len="med"/>
                    </a:lnR>
                    <a:lnT w="12700" cap="flat" cmpd="sng" algn="ctr">
                      <a:solidFill>
                        <a:srgbClr val="F3EEE4"/>
                      </a:solidFill>
                      <a:prstDash val="solid"/>
                      <a:round/>
                      <a:headEnd type="none" w="med" len="med"/>
                      <a:tailEnd type="none" w="med" len="med"/>
                    </a:lnT>
                    <a:lnB w="12700" cap="flat" cmpd="sng" algn="ctr">
                      <a:solidFill>
                        <a:srgbClr val="ECE6DA"/>
                      </a:solidFill>
                      <a:prstDash val="solid"/>
                      <a:round/>
                      <a:headEnd type="none" w="med" len="med"/>
                      <a:tailEnd type="none" w="med" len="med"/>
                    </a:lnB>
                    <a:solidFill>
                      <a:srgbClr val="E8E0D3"/>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304800" y="304800"/>
            <a:ext cx="11582400" cy="6248400"/>
          </a:xfrm>
          <a:prstGeom prst="rect">
            <a:avLst/>
          </a:prstGeom>
          <a:solidFill>
            <a:srgbClr val="F1EBDF"/>
          </a:solidFill>
          <a:ln/>
          <a:effectLst>
            <a:outerShdw sx="100000" sy="100000" kx="0" ky="0" algn="bl" rotWithShape="0" blurRad="381000" dist="127000" dir="5400000">
              <a:srgbClr val="000000">
                <a:alpha val="60000"/>
              </a:srgbClr>
            </a:outerShdw>
          </a:effectLst>
        </p:spPr>
      </p:sp>
      <p:sp>
        <p:nvSpPr>
          <p:cNvPr id="3" name="Shape 1"/>
          <p:cNvSpPr/>
          <p:nvPr/>
        </p:nvSpPr>
        <p:spPr>
          <a:xfrm>
            <a:off x="762000" y="1001666"/>
            <a:ext cx="10668000" cy="0"/>
          </a:xfrm>
          <a:prstGeom prst="line">
            <a:avLst/>
          </a:prstGeom>
          <a:noFill/>
          <a:ln w="19050">
            <a:solidFill>
              <a:srgbClr val="191919"/>
            </a:solidFill>
            <a:prstDash val="solid"/>
          </a:ln>
        </p:spPr>
      </p:sp>
      <p:sp>
        <p:nvSpPr>
          <p:cNvPr id="4" name="Text 2"/>
          <p:cNvSpPr/>
          <p:nvPr/>
        </p:nvSpPr>
        <p:spPr>
          <a:xfrm>
            <a:off x="762000" y="584200"/>
            <a:ext cx="1012218" cy="304800"/>
          </a:xfrm>
          <a:prstGeom prst="rect">
            <a:avLst/>
          </a:prstGeom>
          <a:noFill/>
          <a:ln/>
        </p:spPr>
        <p:txBody>
          <a:bodyPr wrap="square" lIns="0" tIns="0" rIns="0" bIns="0" rtlCol="0" anchor="t">
            <a:normAutofit/>
          </a:bodyPr>
          <a:lstStyle/>
          <a:p>
            <a:pPr algn="l" indent="0" marL="0">
              <a:lnSpc>
                <a:spcPts val="2200"/>
              </a:lnSpc>
              <a:buNone/>
            </a:pPr>
            <a:r>
              <a:rPr lang="en-US" sz="2200" spc="100" kern="0" dirty="0">
                <a:solidFill>
                  <a:srgbClr val="191919"/>
                </a:solidFill>
                <a:latin typeface="Anton" pitchFamily="34" charset="0"/>
                <a:ea typeface="Anton" pitchFamily="34" charset="-122"/>
                <a:cs typeface="Anton" pitchFamily="34" charset="-120"/>
              </a:rPr>
              <a:t>FILSPAY</a:t>
            </a:r>
            <a:endParaRPr lang="en-US" sz="2200" dirty="0"/>
          </a:p>
        </p:txBody>
      </p:sp>
      <p:sp>
        <p:nvSpPr>
          <p:cNvPr id="5" name="Text 3"/>
          <p:cNvSpPr/>
          <p:nvPr/>
        </p:nvSpPr>
        <p:spPr>
          <a:xfrm>
            <a:off x="1774218" y="703728"/>
            <a:ext cx="2631758"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919"/>
                </a:solidFill>
                <a:latin typeface="Courier Prime" pitchFamily="49" charset="0"/>
                <a:ea typeface="Courier Prime" pitchFamily="49" charset="-122"/>
                <a:cs typeface="Courier Prime" pitchFamily="49" charset="-120"/>
              </a:rPr>
              <a:t>THE HANDOVER / CASE FILE</a:t>
            </a:r>
            <a:endParaRPr lang="en-US" sz="1200" dirty="0"/>
          </a:p>
        </p:txBody>
      </p:sp>
      <p:sp>
        <p:nvSpPr>
          <p:cNvPr id="6" name="Text 4"/>
          <p:cNvSpPr/>
          <p:nvPr/>
        </p:nvSpPr>
        <p:spPr>
          <a:xfrm>
            <a:off x="6714733" y="703728"/>
            <a:ext cx="4715267" cy="238732"/>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A72626"/>
                </a:solidFill>
                <a:latin typeface="Courier Prime" pitchFamily="49" charset="0"/>
                <a:ea typeface="Courier Prime" pitchFamily="49" charset="-122"/>
                <a:cs typeface="Courier Prime" pitchFamily="49" charset="-120"/>
              </a:rPr>
              <a:t>CASE NO. FP-2026 · APPENDIX A5 · 30.10.2026</a:t>
            </a:r>
            <a:endParaRPr lang="en-US" sz="1200" dirty="0"/>
          </a:p>
        </p:txBody>
      </p:sp>
      <p:sp>
        <p:nvSpPr>
          <p:cNvPr id="7" name="Text 5"/>
          <p:cNvSpPr/>
          <p:nvPr/>
        </p:nvSpPr>
        <p:spPr>
          <a:xfrm>
            <a:off x="762000" y="1188994"/>
            <a:ext cx="10988040" cy="27431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72626"/>
                </a:solidFill>
                <a:latin typeface="Courier Prime" pitchFamily="49" charset="0"/>
                <a:ea typeface="Courier Prime" pitchFamily="49" charset="-122"/>
                <a:cs typeface="Courier Prime" pitchFamily="49" charset="-120"/>
              </a:rPr>
              <a:t>APPENDIX A5</a:t>
            </a:r>
            <a:endParaRPr lang="en-US" sz="1400" dirty="0"/>
          </a:p>
        </p:txBody>
      </p:sp>
      <p:sp>
        <p:nvSpPr>
          <p:cNvPr id="8" name="Text 6"/>
          <p:cNvSpPr/>
          <p:nvPr>
            <p:ph type="title"/>
          </p:nvPr>
        </p:nvSpPr>
        <p:spPr>
          <a:xfrm>
            <a:off x="762000" y="1463303"/>
            <a:ext cx="10988040" cy="612121"/>
          </a:xfrm>
          <a:prstGeom prst="rect">
            <a:avLst/>
          </a:prstGeom>
          <a:noFill/>
          <a:ln/>
        </p:spPr>
        <p:txBody>
          <a:bodyPr wrap="square" lIns="0" tIns="0" rIns="0" bIns="0" rtlCol="0" anchor="t">
            <a:normAutofit/>
          </a:bodyPr>
          <a:lstStyle/>
          <a:p>
            <a:pPr algn="l" indent="0" marL="0">
              <a:lnSpc>
                <a:spcPts val="4620"/>
              </a:lnSpc>
              <a:buNone/>
            </a:pPr>
            <a:r>
              <a:rPr lang="en-US" sz="4400" b="0" i="0" dirty="0">
                <a:solidFill>
                  <a:srgbClr val="191919"/>
                </a:solidFill>
                <a:latin typeface="Anton" pitchFamily="34" charset="0"/>
                <a:ea typeface="Anton" pitchFamily="34" charset="-122"/>
                <a:cs typeface="Anton" pitchFamily="34" charset="-120"/>
              </a:rPr>
              <a:t>BEFORE AND AFTER SCREENSHOTS</a:t>
            </a:r>
            <a:endParaRPr lang="en-US" sz="4400" dirty="0"/>
          </a:p>
        </p:txBody>
      </p:sp>
      <p:sp>
        <p:nvSpPr>
          <p:cNvPr id="9" name="Text 7"/>
          <p:cNvSpPr/>
          <p:nvPr/>
        </p:nvSpPr>
        <p:spPr>
          <a:xfrm>
            <a:off x="762000" y="2227821"/>
            <a:ext cx="797205" cy="307321"/>
          </a:xfrm>
          <a:prstGeom prst="rect">
            <a:avLst/>
          </a:prstGeom>
          <a:solidFill>
            <a:srgbClr val="A72626"/>
          </a:solidFill>
          <a:ln/>
        </p:spPr>
        <p:txBody>
          <a:bodyPr wrap="none" lIns="0" tIns="0" rIns="0" bIns="0" rtlCol="0" anchor="ctr">
            <a:normAutofit/>
          </a:bodyPr>
          <a:lstStyle/>
          <a:p>
            <a:pPr algn="ctr" indent="0" marL="0">
              <a:lnSpc>
                <a:spcPts val="1820"/>
              </a:lnSpc>
              <a:buNone/>
            </a:pPr>
            <a:r>
              <a:rPr lang="en-US" sz="1300" b="1" dirty="0">
                <a:solidFill>
                  <a:srgbClr val="F1EBDF"/>
                </a:solidFill>
                <a:latin typeface="Courier Prime" pitchFamily="49" charset="0"/>
                <a:ea typeface="Courier Prime" pitchFamily="49" charset="-122"/>
                <a:cs typeface="Courier Prime" pitchFamily="49" charset="-120"/>
              </a:rPr>
              <a:t>BEFORE</a:t>
            </a:r>
            <a:endParaRPr lang="en-US" sz="1300" dirty="0"/>
          </a:p>
        </p:txBody>
      </p:sp>
      <p:sp>
        <p:nvSpPr>
          <p:cNvPr id="10" name="Text 8"/>
          <p:cNvSpPr/>
          <p:nvPr/>
        </p:nvSpPr>
        <p:spPr>
          <a:xfrm>
            <a:off x="771525" y="2620869"/>
            <a:ext cx="4984750" cy="3226874"/>
          </a:xfrm>
          <a:prstGeom prst="rect">
            <a:avLst/>
          </a:prstGeom>
          <a:solidFill>
            <a:srgbClr val="E3DACB"/>
          </a:solidFill>
          <a:ln w="19050">
            <a:solidFill>
              <a:srgbClr val="8A8173"/>
            </a:solidFill>
            <a:prstDash val="dash"/>
          </a:ln>
        </p:spPr>
        <p:txBody>
          <a:bodyPr wrap="square" lIns="135404" tIns="135404" rIns="135404" bIns="135404" rtlCol="0" anchor="ctr">
            <a:normAutofit/>
          </a:bodyPr>
          <a:lstStyle/>
          <a:p>
            <a:pPr algn="ctr" indent="0" marL="0">
              <a:lnSpc>
                <a:spcPts val="1960"/>
              </a:lnSpc>
              <a:buNone/>
            </a:pPr>
            <a:r>
              <a:rPr lang="en-US" sz="1400" dirty="0">
                <a:solidFill>
                  <a:srgbClr val="191919"/>
                </a:solidFill>
                <a:latin typeface="Courier Prime" pitchFamily="49" charset="0"/>
                <a:ea typeface="Courier Prime" pitchFamily="49" charset="-122"/>
                <a:cs typeface="Courier Prime" pitchFamily="49" charset="-120"/>
              </a:rPr>
              <a:t>[SCREENSHOT: BEFORE THE FIX]</a:t>
            </a:r>
            <a:endParaRPr lang="en-US" sz="1400" dirty="0"/>
          </a:p>
        </p:txBody>
      </p:sp>
      <p:sp>
        <p:nvSpPr>
          <p:cNvPr id="11" name="Text 9"/>
          <p:cNvSpPr/>
          <p:nvPr/>
        </p:nvSpPr>
        <p:spPr>
          <a:xfrm>
            <a:off x="762000" y="5933467"/>
            <a:ext cx="5153914"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919"/>
                </a:solidFill>
                <a:latin typeface="Courier Prime" pitchFamily="49" charset="0"/>
                <a:ea typeface="Courier Prime" pitchFamily="49" charset="-122"/>
                <a:cs typeface="Courier Prime" pitchFamily="49" charset="-120"/>
              </a:rPr>
              <a:t>REF: [FILE / DATE]</a:t>
            </a:r>
            <a:endParaRPr lang="en-US" sz="1200" dirty="0"/>
          </a:p>
        </p:txBody>
      </p:sp>
      <p:pic>
        <p:nvPicPr>
          <p:cNvPr id="12" name="Image 0" descr="arrow-right">    </p:cNvPr>
          <p:cNvPicPr>
            <a:picLocks noChangeAspect="1"/>
          </p:cNvPicPr>
          <p:nvPr/>
        </p:nvPicPr>
        <p:blipFill>
          <a:blip r:embed="rId1"/>
          <a:srcRect l="0" r="0" t="0" b="0"/>
          <a:stretch/>
        </p:blipFill>
        <p:spPr>
          <a:xfrm>
            <a:off x="5918200" y="4079360"/>
            <a:ext cx="355600" cy="215900"/>
          </a:xfrm>
          <a:prstGeom prst="rect">
            <a:avLst/>
          </a:prstGeom>
        </p:spPr>
      </p:pic>
      <p:sp>
        <p:nvSpPr>
          <p:cNvPr id="13" name="Text 10"/>
          <p:cNvSpPr/>
          <p:nvPr/>
        </p:nvSpPr>
        <p:spPr>
          <a:xfrm>
            <a:off x="6426200" y="2227821"/>
            <a:ext cx="698220" cy="307321"/>
          </a:xfrm>
          <a:prstGeom prst="rect">
            <a:avLst/>
          </a:prstGeom>
          <a:solidFill>
            <a:srgbClr val="191919"/>
          </a:solidFill>
          <a:ln/>
        </p:spPr>
        <p:txBody>
          <a:bodyPr wrap="none" lIns="0" tIns="0" rIns="0" bIns="0" rtlCol="0" anchor="ctr">
            <a:normAutofit/>
          </a:bodyPr>
          <a:lstStyle/>
          <a:p>
            <a:pPr algn="ctr" indent="0" marL="0">
              <a:lnSpc>
                <a:spcPts val="1820"/>
              </a:lnSpc>
              <a:buNone/>
            </a:pPr>
            <a:r>
              <a:rPr lang="en-US" sz="1300" b="1" dirty="0">
                <a:solidFill>
                  <a:srgbClr val="F1EBDF"/>
                </a:solidFill>
                <a:latin typeface="Courier Prime" pitchFamily="49" charset="0"/>
                <a:ea typeface="Courier Prime" pitchFamily="49" charset="-122"/>
                <a:cs typeface="Courier Prime" pitchFamily="49" charset="-120"/>
              </a:rPr>
              <a:t>AFTER</a:t>
            </a:r>
            <a:endParaRPr lang="en-US" sz="1300" dirty="0"/>
          </a:p>
        </p:txBody>
      </p:sp>
      <p:sp>
        <p:nvSpPr>
          <p:cNvPr id="14" name="Text 11"/>
          <p:cNvSpPr/>
          <p:nvPr/>
        </p:nvSpPr>
        <p:spPr>
          <a:xfrm>
            <a:off x="6435725" y="2620869"/>
            <a:ext cx="4984750" cy="3226874"/>
          </a:xfrm>
          <a:prstGeom prst="rect">
            <a:avLst/>
          </a:prstGeom>
          <a:solidFill>
            <a:srgbClr val="E3DACB"/>
          </a:solidFill>
          <a:ln w="19050">
            <a:solidFill>
              <a:srgbClr val="8A8173"/>
            </a:solidFill>
            <a:prstDash val="dash"/>
          </a:ln>
        </p:spPr>
        <p:txBody>
          <a:bodyPr wrap="square" lIns="135404" tIns="135404" rIns="135404" bIns="135404" rtlCol="0" anchor="ctr">
            <a:normAutofit/>
          </a:bodyPr>
          <a:lstStyle/>
          <a:p>
            <a:pPr algn="ctr" indent="0" marL="0">
              <a:lnSpc>
                <a:spcPts val="1960"/>
              </a:lnSpc>
              <a:buNone/>
            </a:pPr>
            <a:r>
              <a:rPr lang="en-US" sz="1400" dirty="0">
                <a:solidFill>
                  <a:srgbClr val="191919"/>
                </a:solidFill>
                <a:latin typeface="Courier Prime" pitchFamily="49" charset="0"/>
                <a:ea typeface="Courier Prime" pitchFamily="49" charset="-122"/>
                <a:cs typeface="Courier Prime" pitchFamily="49" charset="-120"/>
              </a:rPr>
              <a:t>[SCREENSHOT: AFTER THE FIX]</a:t>
            </a:r>
            <a:endParaRPr lang="en-US" sz="1400" dirty="0"/>
          </a:p>
        </p:txBody>
      </p:sp>
      <p:sp>
        <p:nvSpPr>
          <p:cNvPr id="15" name="Text 12"/>
          <p:cNvSpPr/>
          <p:nvPr/>
        </p:nvSpPr>
        <p:spPr>
          <a:xfrm>
            <a:off x="6426200" y="5933467"/>
            <a:ext cx="5153914"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919"/>
                </a:solidFill>
                <a:latin typeface="Courier Prime" pitchFamily="49" charset="0"/>
                <a:ea typeface="Courier Prime" pitchFamily="49" charset="-122"/>
                <a:cs typeface="Courier Prime" pitchFamily="49" charset="-120"/>
              </a:rPr>
              <a:t>REF: [FILE / DATE]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304800" y="304800"/>
            <a:ext cx="11582400" cy="6248400"/>
          </a:xfrm>
          <a:prstGeom prst="rect">
            <a:avLst/>
          </a:prstGeom>
          <a:solidFill>
            <a:srgbClr val="F1EBDF"/>
          </a:solidFill>
          <a:ln/>
          <a:effectLst>
            <a:outerShdw sx="100000" sy="100000" kx="0" ky="0" algn="bl" rotWithShape="0" blurRad="381000" dist="127000" dir="5400000">
              <a:srgbClr val="000000">
                <a:alpha val="60000"/>
              </a:srgbClr>
            </a:outerShdw>
          </a:effectLst>
        </p:spPr>
      </p:sp>
      <p:sp>
        <p:nvSpPr>
          <p:cNvPr id="3" name="Shape 1"/>
          <p:cNvSpPr/>
          <p:nvPr/>
        </p:nvSpPr>
        <p:spPr>
          <a:xfrm>
            <a:off x="762000" y="1001666"/>
            <a:ext cx="10668000" cy="0"/>
          </a:xfrm>
          <a:prstGeom prst="line">
            <a:avLst/>
          </a:prstGeom>
          <a:noFill/>
          <a:ln w="19050">
            <a:solidFill>
              <a:srgbClr val="191919"/>
            </a:solidFill>
            <a:prstDash val="solid"/>
          </a:ln>
        </p:spPr>
      </p:sp>
      <p:sp>
        <p:nvSpPr>
          <p:cNvPr id="4" name="Text 2"/>
          <p:cNvSpPr/>
          <p:nvPr/>
        </p:nvSpPr>
        <p:spPr>
          <a:xfrm>
            <a:off x="762000" y="584200"/>
            <a:ext cx="1012218" cy="304800"/>
          </a:xfrm>
          <a:prstGeom prst="rect">
            <a:avLst/>
          </a:prstGeom>
          <a:noFill/>
          <a:ln/>
        </p:spPr>
        <p:txBody>
          <a:bodyPr wrap="square" lIns="0" tIns="0" rIns="0" bIns="0" rtlCol="0" anchor="t">
            <a:normAutofit/>
          </a:bodyPr>
          <a:lstStyle/>
          <a:p>
            <a:pPr algn="l" indent="0" marL="0">
              <a:lnSpc>
                <a:spcPts val="2200"/>
              </a:lnSpc>
              <a:buNone/>
            </a:pPr>
            <a:r>
              <a:rPr lang="en-US" sz="2200" spc="100" kern="0" dirty="0">
                <a:solidFill>
                  <a:srgbClr val="191919"/>
                </a:solidFill>
                <a:latin typeface="Anton" pitchFamily="34" charset="0"/>
                <a:ea typeface="Anton" pitchFamily="34" charset="-122"/>
                <a:cs typeface="Anton" pitchFamily="34" charset="-120"/>
              </a:rPr>
              <a:t>FILSPAY</a:t>
            </a:r>
            <a:endParaRPr lang="en-US" sz="2200" dirty="0"/>
          </a:p>
        </p:txBody>
      </p:sp>
      <p:sp>
        <p:nvSpPr>
          <p:cNvPr id="5" name="Text 3"/>
          <p:cNvSpPr/>
          <p:nvPr/>
        </p:nvSpPr>
        <p:spPr>
          <a:xfrm>
            <a:off x="1774218" y="703728"/>
            <a:ext cx="2631758"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919"/>
                </a:solidFill>
                <a:latin typeface="Courier Prime" pitchFamily="49" charset="0"/>
                <a:ea typeface="Courier Prime" pitchFamily="49" charset="-122"/>
                <a:cs typeface="Courier Prime" pitchFamily="49" charset="-120"/>
              </a:rPr>
              <a:t>THE HANDOVER / CASE FILE</a:t>
            </a:r>
            <a:endParaRPr lang="en-US" sz="1200" dirty="0"/>
          </a:p>
        </p:txBody>
      </p:sp>
      <p:sp>
        <p:nvSpPr>
          <p:cNvPr id="6" name="Text 4"/>
          <p:cNvSpPr/>
          <p:nvPr/>
        </p:nvSpPr>
        <p:spPr>
          <a:xfrm>
            <a:off x="6714733" y="703728"/>
            <a:ext cx="4715267" cy="238732"/>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A72626"/>
                </a:solidFill>
                <a:latin typeface="Courier Prime" pitchFamily="49" charset="0"/>
                <a:ea typeface="Courier Prime" pitchFamily="49" charset="-122"/>
                <a:cs typeface="Courier Prime" pitchFamily="49" charset="-120"/>
              </a:rPr>
              <a:t>CASE NO. FP-2026 · APPENDIX A6 · 30.10.2026</a:t>
            </a:r>
            <a:endParaRPr lang="en-US" sz="1200" dirty="0"/>
          </a:p>
        </p:txBody>
      </p:sp>
      <p:sp>
        <p:nvSpPr>
          <p:cNvPr id="7" name="Text 5"/>
          <p:cNvSpPr/>
          <p:nvPr/>
        </p:nvSpPr>
        <p:spPr>
          <a:xfrm>
            <a:off x="762000" y="1188994"/>
            <a:ext cx="10988040" cy="27431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72626"/>
                </a:solidFill>
                <a:latin typeface="Courier Prime" pitchFamily="49" charset="0"/>
                <a:ea typeface="Courier Prime" pitchFamily="49" charset="-122"/>
                <a:cs typeface="Courier Prime" pitchFamily="49" charset="-120"/>
              </a:rPr>
              <a:t>APPENDIX A6</a:t>
            </a:r>
            <a:endParaRPr lang="en-US" sz="1400" dirty="0"/>
          </a:p>
        </p:txBody>
      </p:sp>
      <p:sp>
        <p:nvSpPr>
          <p:cNvPr id="8" name="Text 6"/>
          <p:cNvSpPr/>
          <p:nvPr>
            <p:ph type="title"/>
          </p:nvPr>
        </p:nvSpPr>
        <p:spPr>
          <a:xfrm>
            <a:off x="762000" y="1463303"/>
            <a:ext cx="10988040" cy="612121"/>
          </a:xfrm>
          <a:prstGeom prst="rect">
            <a:avLst/>
          </a:prstGeom>
          <a:noFill/>
          <a:ln/>
        </p:spPr>
        <p:txBody>
          <a:bodyPr wrap="square" lIns="0" tIns="0" rIns="0" bIns="0" rtlCol="0" anchor="t">
            <a:normAutofit/>
          </a:bodyPr>
          <a:lstStyle/>
          <a:p>
            <a:pPr algn="l" indent="0" marL="0">
              <a:lnSpc>
                <a:spcPts val="4620"/>
              </a:lnSpc>
              <a:buNone/>
            </a:pPr>
            <a:r>
              <a:rPr lang="en-US" sz="4400" b="0" i="0" dirty="0">
                <a:solidFill>
                  <a:srgbClr val="191919"/>
                </a:solidFill>
                <a:latin typeface="Anton" pitchFamily="34" charset="0"/>
                <a:ea typeface="Anton" pitchFamily="34" charset="-122"/>
                <a:cs typeface="Anton" pitchFamily="34" charset="-120"/>
              </a:rPr>
              <a:t>AI TRANSCRIPT EVIDENCE</a:t>
            </a:r>
            <a:endParaRPr lang="en-US" sz="4400" dirty="0"/>
          </a:p>
        </p:txBody>
      </p:sp>
      <p:sp>
        <p:nvSpPr>
          <p:cNvPr id="9" name="Shape 7"/>
          <p:cNvSpPr/>
          <p:nvPr/>
        </p:nvSpPr>
        <p:spPr>
          <a:xfrm>
            <a:off x="768350" y="2234171"/>
            <a:ext cx="6972300" cy="3906277"/>
          </a:xfrm>
          <a:prstGeom prst="rect">
            <a:avLst/>
          </a:prstGeom>
          <a:solidFill>
            <a:srgbClr val="FBF7EE"/>
          </a:solidFill>
          <a:ln w="12700">
            <a:solidFill>
              <a:srgbClr val="191919"/>
            </a:solidFill>
            <a:prstDash val="solid"/>
          </a:ln>
          <a:effectLst>
            <a:outerShdw sx="100000" sy="100000" kx="0" ky="0" algn="bl" rotWithShape="0" blurRad="127000" dist="50800" dir="5400000">
              <a:srgbClr val="000000">
                <a:alpha val="25000"/>
              </a:srgbClr>
            </a:outerShdw>
          </a:effectLst>
        </p:spPr>
      </p:sp>
      <p:sp>
        <p:nvSpPr>
          <p:cNvPr id="10" name="Text 8"/>
          <p:cNvSpPr/>
          <p:nvPr/>
        </p:nvSpPr>
        <p:spPr>
          <a:xfrm>
            <a:off x="977153" y="2417576"/>
            <a:ext cx="6751335"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72626"/>
                </a:solidFill>
                <a:latin typeface="Courier Prime" pitchFamily="49" charset="0"/>
                <a:ea typeface="Courier Prime" pitchFamily="49" charset="-122"/>
                <a:cs typeface="Courier Prime" pitchFamily="49" charset="-120"/>
              </a:rPr>
              <a:t>PROMPT &gt;</a:t>
            </a:r>
            <a:endParaRPr lang="en-US" sz="1200" dirty="0"/>
          </a:p>
        </p:txBody>
      </p:sp>
      <p:sp>
        <p:nvSpPr>
          <p:cNvPr id="11" name="Text 9"/>
          <p:cNvSpPr/>
          <p:nvPr/>
        </p:nvSpPr>
        <p:spPr>
          <a:xfrm>
            <a:off x="977153" y="2707109"/>
            <a:ext cx="6751335" cy="25652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[Paste the prompt given to the AI.]</a:t>
            </a:r>
            <a:endParaRPr lang="en-US" sz="1300" dirty="0"/>
          </a:p>
        </p:txBody>
      </p:sp>
      <p:sp>
        <p:nvSpPr>
          <p:cNvPr id="12" name="Text 10"/>
          <p:cNvSpPr/>
          <p:nvPr/>
        </p:nvSpPr>
        <p:spPr>
          <a:xfrm>
            <a:off x="977153" y="3014427"/>
            <a:ext cx="6751335"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72626"/>
                </a:solidFill>
                <a:latin typeface="Courier Prime" pitchFamily="49" charset="0"/>
                <a:ea typeface="Courier Prime" pitchFamily="49" charset="-122"/>
                <a:cs typeface="Courier Prime" pitchFamily="49" charset="-120"/>
              </a:rPr>
              <a:t>AI RESPONSE &gt;</a:t>
            </a:r>
            <a:endParaRPr lang="en-US" sz="1200" dirty="0"/>
          </a:p>
        </p:txBody>
      </p:sp>
      <p:sp>
        <p:nvSpPr>
          <p:cNvPr id="13" name="Text 11"/>
          <p:cNvSpPr/>
          <p:nvPr/>
        </p:nvSpPr>
        <p:spPr>
          <a:xfrm>
            <a:off x="977153" y="3303960"/>
            <a:ext cx="6751335" cy="25652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[Paste the AI response. Underline the incorrect claim in red.]</a:t>
            </a:r>
            <a:endParaRPr lang="en-US" sz="1300" dirty="0"/>
          </a:p>
        </p:txBody>
      </p:sp>
      <p:sp>
        <p:nvSpPr>
          <p:cNvPr id="14" name="Text 12"/>
          <p:cNvSpPr/>
          <p:nvPr/>
        </p:nvSpPr>
        <p:spPr>
          <a:xfrm>
            <a:off x="977153" y="3611283"/>
            <a:ext cx="6554694" cy="307321"/>
          </a:xfrm>
          <a:prstGeom prst="rect">
            <a:avLst/>
          </a:prstGeom>
          <a:solidFill>
            <a:srgbClr val="F3D9D6"/>
          </a:solidFill>
          <a:ln/>
        </p:spPr>
        <p:txBody>
          <a:bodyPr wrap="square" lIns="76200" tIns="38100" rIns="0" bIns="12700" rtlCol="0" anchor="t">
            <a:normAutofit/>
          </a:bodyPr>
          <a:lstStyle/>
          <a:p>
            <a:pPr algn="l" indent="0" marL="0">
              <a:lnSpc>
                <a:spcPts val="1820"/>
              </a:lnSpc>
              <a:buNone/>
            </a:pPr>
            <a:r>
              <a:rPr lang="en-US" sz="1300" u="sng" dirty="0">
                <a:solidFill>
                  <a:srgbClr val="191919"/>
                </a:solidFill>
                <a:uFill>
                  <a:solidFill>
                    <a:srgbClr val="A72626"/>
                  </a:solidFill>
                </a:uFill>
                <a:latin typeface="Courier Prime" pitchFamily="49" charset="0"/>
                <a:ea typeface="Courier Prime" pitchFamily="49" charset="-122"/>
                <a:cs typeface="Courier Prime" pitchFamily="49" charset="-120"/>
              </a:rPr>
              <a:t>[THE INCORRECT CLAIM]</a:t>
            </a:r>
            <a:endParaRPr lang="en-US" sz="1300" dirty="0"/>
          </a:p>
        </p:txBody>
      </p:sp>
      <p:sp>
        <p:nvSpPr>
          <p:cNvPr id="15" name="Text 13"/>
          <p:cNvSpPr/>
          <p:nvPr/>
        </p:nvSpPr>
        <p:spPr>
          <a:xfrm>
            <a:off x="977153" y="3994801"/>
            <a:ext cx="6751335"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919"/>
                </a:solidFill>
                <a:latin typeface="Courier Prime" pitchFamily="49" charset="0"/>
                <a:ea typeface="Courier Prime" pitchFamily="49" charset="-122"/>
                <a:cs typeface="Courier Prime" pitchFamily="49" charset="-120"/>
              </a:rPr>
              <a:t>HUMAN CORRECTION &gt;</a:t>
            </a:r>
            <a:endParaRPr lang="en-US" sz="1200" dirty="0"/>
          </a:p>
        </p:txBody>
      </p:sp>
      <p:sp>
        <p:nvSpPr>
          <p:cNvPr id="16" name="Text 14"/>
          <p:cNvSpPr/>
          <p:nvPr/>
        </p:nvSpPr>
        <p:spPr>
          <a:xfrm>
            <a:off x="977153" y="4284334"/>
            <a:ext cx="6751335" cy="25652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[What the team found instead, with evidence ref.]</a:t>
            </a:r>
            <a:endParaRPr lang="en-US" sz="1300" dirty="0"/>
          </a:p>
        </p:txBody>
      </p:sp>
      <p:sp>
        <p:nvSpPr>
          <p:cNvPr id="17" name="Text 15"/>
          <p:cNvSpPr/>
          <p:nvPr/>
        </p:nvSpPr>
        <p:spPr>
          <a:xfrm>
            <a:off x="8001000" y="3351678"/>
            <a:ext cx="3531870" cy="25652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SESSION: [DATE / TOOL]</a:t>
            </a:r>
            <a:endParaRPr lang="en-US" sz="1300" dirty="0"/>
          </a:p>
        </p:txBody>
      </p:sp>
      <p:sp>
        <p:nvSpPr>
          <p:cNvPr id="18" name="Text 16"/>
          <p:cNvSpPr/>
          <p:nvPr/>
        </p:nvSpPr>
        <p:spPr>
          <a:xfrm>
            <a:off x="8001000" y="3671701"/>
            <a:ext cx="3531870" cy="25652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CHECKED BY: [NAME]</a:t>
            </a:r>
            <a:endParaRPr lang="en-US" sz="1300" dirty="0"/>
          </a:p>
        </p:txBody>
      </p:sp>
      <p:sp>
        <p:nvSpPr>
          <p:cNvPr id="19" name="Text 17"/>
          <p:cNvSpPr/>
          <p:nvPr/>
        </p:nvSpPr>
        <p:spPr>
          <a:xfrm>
            <a:off x="8001000" y="3991725"/>
            <a:ext cx="3531870" cy="25652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919"/>
                </a:solidFill>
                <a:latin typeface="Courier Prime" pitchFamily="49" charset="0"/>
                <a:ea typeface="Courier Prime" pitchFamily="49" charset="-122"/>
                <a:cs typeface="Courier Prime" pitchFamily="49" charset="-120"/>
              </a:rPr>
              <a:t>EVIDENCE REF: [LOG / TEST]</a:t>
            </a:r>
            <a:endParaRPr lang="en-US" sz="1300" dirty="0"/>
          </a:p>
        </p:txBody>
      </p:sp>
      <p:sp>
        <p:nvSpPr>
          <p:cNvPr id="20" name="Text 18"/>
          <p:cNvSpPr/>
          <p:nvPr/>
        </p:nvSpPr>
        <p:spPr>
          <a:xfrm rot="21360000">
            <a:off x="8001760" y="4308126"/>
            <a:ext cx="3531870" cy="7366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A72626"/>
                </a:solidFill>
                <a:latin typeface="Caveat" pitchFamily="18" charset="0"/>
                <a:ea typeface="Caveat" pitchFamily="18" charset="-122"/>
                <a:cs typeface="Caveat" pitchFamily="18" charset="-120"/>
              </a:rPr>
              <a:t>REJECTED. See Evidence 07.</a:t>
            </a:r>
            <a:endParaRPr lang="en-US" sz="2800" dirty="0"/>
          </a:p>
        </p:txBody>
      </p:sp>
    </p:spTree>
  </p:cSld>
  <p:clrMapOvr>
    <a:masterClrMapping/>
  </p:clrMapOvr>
</p:sld>
</file>

<file path=ppt/theme/theme1.xml><?xml version="1.0" encoding="utf-8"?>
<a:theme xmlns:a="http://schemas.openxmlformats.org/drawingml/2006/main" name="FilsPay: The Investigation (Case File FP-2026)">
  <a:themeElements>
    <a:clrScheme name="FilsPay: The Investigation (Case File FP-2026)">
      <a:dk1>
        <a:srgbClr val="2B2825"/>
      </a:dk1>
      <a:lt1>
        <a:srgbClr val="FAF9F5"/>
      </a:lt1>
      <a:dk2>
        <a:srgbClr val="403D3A"/>
      </a:dk2>
      <a:lt2>
        <a:srgbClr val="C6C5C1"/>
      </a:lt2>
      <a:accent1>
        <a:srgbClr val="A72626"/>
      </a:accent1>
      <a:accent2>
        <a:srgbClr val="D9CBA3"/>
      </a:accent2>
      <a:accent3>
        <a:srgbClr val="E5605C"/>
      </a:accent3>
      <a:accent4>
        <a:srgbClr val="671A1A"/>
      </a:accent4>
      <a:accent5>
        <a:srgbClr val="E8E0D3"/>
      </a:accent5>
      <a:accent6>
        <a:srgbClr val="E3DACB"/>
      </a:accent6>
      <a:hlink>
        <a:srgbClr val="0563C1"/>
      </a:hlink>
      <a:folHlink>
        <a:srgbClr val="954F72"/>
      </a:folHlink>
    </a:clrScheme>
    <a:fontScheme name="FilsPay: The Investigation (Case File FP-2026)">
      <a:majorFont>
        <a:latin typeface="Anto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ourier Prim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FilsPay: The Investigation (Case File FP-2026)</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Courier Prime
Copyright 2015 The Courier Prime Project Authors (https://github.com/quoteunquoteapps/CourierPrime).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Public Sans
Copyright 2015 The Public Sans Project Authors (https://github.com/uswds/public-sans)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Anton
Copyright 2020 The Anton Project Authors (https://github.com/googlefonts/AntonFont.git)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Caveat
Copyright 2014 The Caveat Project Authors (https://github.com/googlefonts/caveat)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2026-10-30T19:24:44Z</dcterms:created>
  <dcterms:modified xsi:type="dcterms:W3CDTF">2026-10-30T19:24:44Z</dcterms:modified>
</cp:coreProperties>
</file>